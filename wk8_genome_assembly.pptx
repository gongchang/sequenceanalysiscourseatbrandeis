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7" r:id="rId7"/>
    <p:sldId id="265" r:id="rId8"/>
    <p:sldId id="268" r:id="rId9"/>
    <p:sldId id="269" r:id="rId10"/>
    <p:sldId id="266" r:id="rId11"/>
    <p:sldId id="270" r:id="rId12"/>
    <p:sldId id="271" r:id="rId13"/>
    <p:sldId id="272" r:id="rId14"/>
    <p:sldId id="273" r:id="rId15"/>
    <p:sldId id="262" r:id="rId16"/>
    <p:sldId id="263" r:id="rId17"/>
    <p:sldId id="274" r:id="rId18"/>
    <p:sldId id="275" r:id="rId19"/>
    <p:sldId id="276" r:id="rId20"/>
    <p:sldId id="277" r:id="rId21"/>
    <p:sldId id="279" r:id="rId22"/>
    <p:sldId id="278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5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9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1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9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0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8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8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9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D5112-C4F2-43B0-B3F1-AEEEEF7BEEC7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03767-DBAB-485F-B813-147D1CABA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7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Biological Sequence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Genome assembly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Outline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Coverage analysis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G</a:t>
            </a:r>
            <a:r>
              <a:rPr lang="en-US" dirty="0" smtClean="0"/>
              <a:t>enome assembly algorithms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Assess the quality of a genome </a:t>
            </a:r>
            <a:r>
              <a:rPr lang="en-US" dirty="0" smtClean="0"/>
              <a:t>assembly</a:t>
            </a:r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Challenges in genome assembly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18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Genome assembly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143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Assemble </a:t>
            </a:r>
            <a:r>
              <a:rPr lang="en-US" dirty="0" smtClean="0"/>
              <a:t>all NGS reads into </a:t>
            </a:r>
            <a:r>
              <a:rPr lang="en-US" dirty="0" err="1" smtClean="0"/>
              <a:t>contigs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80160" y="29718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32560" y="32004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760" y="34290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56360" y="36576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80360" y="33528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32760" y="31242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32760" y="28956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27960" y="3657600"/>
            <a:ext cx="6096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4191000"/>
            <a:ext cx="899160" cy="152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4680" y="3276600"/>
            <a:ext cx="11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Reads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27760" y="4191000"/>
            <a:ext cx="899160" cy="152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3810000"/>
            <a:ext cx="172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Assembled </a:t>
            </a:r>
            <a:r>
              <a:rPr lang="en-US" dirty="0" err="1" smtClean="0">
                <a:solidFill>
                  <a:schemeClr val="tx2"/>
                </a:solidFill>
              </a:rPr>
              <a:t>contig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52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We want to assemble a genome from individual NGS reads. The average coverage</a:t>
            </a:r>
            <a:r>
              <a:rPr lang="en-US" dirty="0"/>
              <a:t> </a:t>
            </a:r>
            <a:r>
              <a:rPr lang="en-US" dirty="0" smtClean="0"/>
              <a:t>“C” can be calculated below: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C= NL/G</a:t>
            </a:r>
          </a:p>
          <a:p>
            <a:pPr lvl="2"/>
            <a:r>
              <a:rPr lang="en-US" dirty="0" smtClean="0"/>
              <a:t>N= Number of sequencing reads</a:t>
            </a:r>
          </a:p>
          <a:p>
            <a:pPr lvl="2"/>
            <a:r>
              <a:rPr lang="en-US" dirty="0" smtClean="0"/>
              <a:t>L= Length of each read</a:t>
            </a:r>
          </a:p>
          <a:p>
            <a:pPr lvl="2"/>
            <a:r>
              <a:rPr lang="en-US" dirty="0" smtClean="0"/>
              <a:t>G= Genome size (length of the genome)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For example, for a genome size of 20 Million bps, a sequencing run of 10 Million reads with the read length of 100bp will have a coverage like this: </a:t>
            </a:r>
          </a:p>
          <a:p>
            <a:pPr lvl="2"/>
            <a:r>
              <a:rPr lang="en-US" dirty="0" smtClean="0"/>
              <a:t>C= 10 M * 100/ 20 M =50</a:t>
            </a:r>
          </a:p>
          <a:p>
            <a:pPr lvl="3"/>
            <a:r>
              <a:rPr lang="en-US" dirty="0" smtClean="0"/>
              <a:t>We usually say the coverage is 50X (X stands for fold).</a:t>
            </a:r>
          </a:p>
          <a:p>
            <a:r>
              <a:rPr lang="en-US" dirty="0" smtClean="0"/>
              <a:t>The average coverage gives an estimate about the number of times a genome is covered by the sequencing run.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5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Genome assembly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Overlap-layout-consensus (OLC) algorithm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Find overlaps among all the reads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Carry out a layout of all the reads and overlaps information on a graph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Infer the consensus sequence</a:t>
            </a:r>
            <a:endParaRPr lang="en-US" dirty="0"/>
          </a:p>
          <a:p>
            <a:r>
              <a:rPr lang="en-US" dirty="0" smtClean="0"/>
              <a:t>De </a:t>
            </a:r>
            <a:r>
              <a:rPr lang="en-US" dirty="0" err="1" smtClean="0"/>
              <a:t>bruijin</a:t>
            </a:r>
            <a:r>
              <a:rPr lang="en-US" dirty="0" smtClean="0"/>
              <a:t> graph (DBG) algorithm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Chopping reads into much shorter k-</a:t>
            </a:r>
            <a:r>
              <a:rPr lang="en-US" dirty="0" err="1" smtClean="0"/>
              <a:t>mers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Form a de </a:t>
            </a:r>
            <a:r>
              <a:rPr lang="en-US" dirty="0" err="1" smtClean="0"/>
              <a:t>brujin</a:t>
            </a:r>
            <a:r>
              <a:rPr lang="en-US" dirty="0" smtClean="0"/>
              <a:t> graph using all the k-</a:t>
            </a:r>
            <a:r>
              <a:rPr lang="en-US" dirty="0" err="1" smtClean="0"/>
              <a:t>mers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Infer the genome sequence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There are 6 reads. The read length is </a:t>
            </a:r>
            <a:r>
              <a:rPr lang="en-US" dirty="0" smtClean="0"/>
              <a:t>10bp. Assemble them into a </a:t>
            </a:r>
            <a:r>
              <a:rPr lang="en-US" dirty="0" err="1" smtClean="0"/>
              <a:t>contig</a:t>
            </a:r>
            <a:r>
              <a:rPr lang="en-US" dirty="0" smtClean="0"/>
              <a:t> if possible.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514600" y="3477577"/>
            <a:ext cx="2814638" cy="1856423"/>
            <a:chOff x="1828800" y="3581400"/>
            <a:chExt cx="1838325" cy="12954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8018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Overlap-layout-consensus (OLC)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1371600"/>
          </a:xfrm>
        </p:spPr>
        <p:txBody>
          <a:bodyPr>
            <a:noAutofit/>
          </a:bodyPr>
          <a:lstStyle/>
          <a:p>
            <a:r>
              <a:rPr lang="en-US" sz="2400" dirty="0" smtClean="0"/>
              <a:t>If we let the cutoff of overlap length to be 5bp, it means that when there are &gt;=5bp overlap, an edge will be added to the OLC graph.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107281" y="3300123"/>
            <a:ext cx="2814638" cy="1856423"/>
            <a:chOff x="1828800" y="3581400"/>
            <a:chExt cx="1838325" cy="129540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ight Arrow 12"/>
          <p:cNvSpPr/>
          <p:nvPr/>
        </p:nvSpPr>
        <p:spPr>
          <a:xfrm>
            <a:off x="4267200" y="4050881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267200" y="36692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570" y="3696971"/>
            <a:ext cx="31051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469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Overlap-layout-consensus (OLC)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137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Create the layout according to the OLC graph: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99976" y="2026929"/>
            <a:ext cx="2814638" cy="1856423"/>
            <a:chOff x="1828800" y="3581400"/>
            <a:chExt cx="1838325" cy="1295400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Right Arrow 20"/>
          <p:cNvSpPr/>
          <p:nvPr/>
        </p:nvSpPr>
        <p:spPr>
          <a:xfrm>
            <a:off x="3559895" y="2777687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265" y="2423777"/>
            <a:ext cx="31051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Down Arrow 22"/>
          <p:cNvSpPr/>
          <p:nvPr/>
        </p:nvSpPr>
        <p:spPr>
          <a:xfrm>
            <a:off x="6400800" y="3461561"/>
            <a:ext cx="148040" cy="5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581400" y="2362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486400" y="3505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Layout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4191000"/>
            <a:ext cx="365236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914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Overlap-layout-consensus (OLC)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137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Build the consensus sequence based on the layout: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99976" y="2026929"/>
            <a:ext cx="2814638" cy="1856423"/>
            <a:chOff x="1828800" y="3581400"/>
            <a:chExt cx="1838325" cy="1295400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Right Arrow 20"/>
          <p:cNvSpPr/>
          <p:nvPr/>
        </p:nvSpPr>
        <p:spPr>
          <a:xfrm>
            <a:off x="3559895" y="2777687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265" y="2423777"/>
            <a:ext cx="31051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Down Arrow 22"/>
          <p:cNvSpPr/>
          <p:nvPr/>
        </p:nvSpPr>
        <p:spPr>
          <a:xfrm>
            <a:off x="6400800" y="3461561"/>
            <a:ext cx="148040" cy="5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581400" y="2362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486400" y="3505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Layout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4191000"/>
            <a:ext cx="365236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Arrow 4"/>
          <p:cNvSpPr/>
          <p:nvPr/>
        </p:nvSpPr>
        <p:spPr>
          <a:xfrm>
            <a:off x="3810000" y="4876800"/>
            <a:ext cx="816695" cy="1905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657600" y="45074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Consensus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" y="4776073"/>
            <a:ext cx="3649743" cy="40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64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bruijin</a:t>
            </a:r>
            <a:r>
              <a:rPr lang="en-US" dirty="0"/>
              <a:t> graph (DBG)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/>
          <a:lstStyle/>
          <a:p>
            <a:r>
              <a:rPr lang="en-US" dirty="0" smtClean="0"/>
              <a:t>The reads are chopped into k-</a:t>
            </a:r>
            <a:r>
              <a:rPr lang="en-US" dirty="0" err="1" smtClean="0"/>
              <a:t>mers</a:t>
            </a:r>
            <a:r>
              <a:rPr lang="en-US" dirty="0" smtClean="0"/>
              <a:t> (k=5bp). There are in total 16 different k-</a:t>
            </a:r>
            <a:r>
              <a:rPr lang="en-US" dirty="0" err="1" smtClean="0"/>
              <a:t>mers</a:t>
            </a:r>
            <a:r>
              <a:rPr lang="en-US" dirty="0" smtClean="0"/>
              <a:t>, most of which occur in more than one reads.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85800" y="3401377"/>
            <a:ext cx="2814638" cy="1856423"/>
            <a:chOff x="1828800" y="3581400"/>
            <a:chExt cx="1838325" cy="129540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ight Arrow 12"/>
          <p:cNvSpPr/>
          <p:nvPr/>
        </p:nvSpPr>
        <p:spPr>
          <a:xfrm>
            <a:off x="3864695" y="4241906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886200" y="382641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K-</a:t>
            </a:r>
            <a:r>
              <a:rPr lang="en-US" dirty="0" err="1" smtClean="0"/>
              <a:t>mers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283434"/>
            <a:ext cx="3409041" cy="193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482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bruijin</a:t>
            </a:r>
            <a:r>
              <a:rPr lang="en-US" dirty="0"/>
              <a:t> graph (DBG)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/>
          <a:lstStyle/>
          <a:p>
            <a:r>
              <a:rPr lang="en-US" dirty="0" smtClean="0"/>
              <a:t>Build the DBG graph using the k-</a:t>
            </a:r>
            <a:r>
              <a:rPr lang="en-US" dirty="0" err="1" smtClean="0"/>
              <a:t>mers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85800" y="2410777"/>
            <a:ext cx="2814638" cy="1856423"/>
            <a:chOff x="1828800" y="3581400"/>
            <a:chExt cx="1838325" cy="129540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ight Arrow 12"/>
          <p:cNvSpPr/>
          <p:nvPr/>
        </p:nvSpPr>
        <p:spPr>
          <a:xfrm>
            <a:off x="3864695" y="3251306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886200" y="283581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K-</a:t>
            </a:r>
            <a:r>
              <a:rPr lang="en-US" dirty="0" err="1" smtClean="0"/>
              <a:t>mers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92834"/>
            <a:ext cx="3409041" cy="193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Down Arrow 14"/>
          <p:cNvSpPr/>
          <p:nvPr/>
        </p:nvSpPr>
        <p:spPr>
          <a:xfrm>
            <a:off x="6172200" y="44196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562600" y="4507468"/>
            <a:ext cx="101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DBG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899" y="5238750"/>
            <a:ext cx="3946071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5923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bruijin</a:t>
            </a:r>
            <a:r>
              <a:rPr lang="en-US" dirty="0"/>
              <a:t> graph (DBG)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752600"/>
          </a:xfrm>
        </p:spPr>
        <p:txBody>
          <a:bodyPr/>
          <a:lstStyle/>
          <a:p>
            <a:r>
              <a:rPr lang="en-US" dirty="0" smtClean="0"/>
              <a:t>Infer the assembled sequence from the DBG graph: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85800" y="2410777"/>
            <a:ext cx="2814638" cy="1856423"/>
            <a:chOff x="1828800" y="3581400"/>
            <a:chExt cx="1838325" cy="129540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581400"/>
              <a:ext cx="4572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609975"/>
              <a:ext cx="11525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3175" y="3844290"/>
              <a:ext cx="1114425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510" y="4105274"/>
              <a:ext cx="1085850" cy="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82440"/>
              <a:ext cx="11525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5" y="4501515"/>
              <a:ext cx="1095375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678680"/>
              <a:ext cx="10858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ight Arrow 12"/>
          <p:cNvSpPr/>
          <p:nvPr/>
        </p:nvSpPr>
        <p:spPr>
          <a:xfrm>
            <a:off x="3864695" y="3251306"/>
            <a:ext cx="1066800" cy="253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886200" y="283581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K-</a:t>
            </a:r>
            <a:r>
              <a:rPr lang="en-US" dirty="0" err="1" smtClean="0"/>
              <a:t>mers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92834"/>
            <a:ext cx="3409041" cy="193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Down Arrow 14"/>
          <p:cNvSpPr/>
          <p:nvPr/>
        </p:nvSpPr>
        <p:spPr>
          <a:xfrm>
            <a:off x="6172200" y="44196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562600" y="4507468"/>
            <a:ext cx="101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DBG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899" y="5238750"/>
            <a:ext cx="3946071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Left Arrow 16"/>
          <p:cNvSpPr/>
          <p:nvPr/>
        </p:nvSpPr>
        <p:spPr>
          <a:xfrm>
            <a:off x="3886200" y="5410200"/>
            <a:ext cx="762000" cy="23812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0" y="48006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Assembled sequence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4" y="5348287"/>
            <a:ext cx="3096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893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Genome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toy example in the previous slides is helpful for explaining the two major classes of assembly algorithms. Some other aspects of genome assembly are missing from this toy example:</a:t>
            </a:r>
          </a:p>
          <a:p>
            <a:pPr lvl="1"/>
            <a:r>
              <a:rPr lang="en-US" dirty="0" smtClean="0"/>
              <a:t>There many complications, such as repeat sequences, sequencing errors etc. We will talk about them in the “challenges” section later in the lecture.</a:t>
            </a:r>
          </a:p>
          <a:p>
            <a:pPr lvl="1"/>
            <a:r>
              <a:rPr lang="en-US" dirty="0" smtClean="0"/>
              <a:t>We often can obtain many </a:t>
            </a:r>
            <a:r>
              <a:rPr lang="en-US" dirty="0" err="1" smtClean="0"/>
              <a:t>contigs</a:t>
            </a:r>
            <a:r>
              <a:rPr lang="en-US" dirty="0" smtClean="0"/>
              <a:t> from NGS reads. In order to obtain an even longer assembled sequence, the so-called “scaffold linkage” step orders and orients the </a:t>
            </a:r>
            <a:r>
              <a:rPr lang="en-US" dirty="0" err="1" smtClean="0"/>
              <a:t>contigs</a:t>
            </a:r>
            <a:r>
              <a:rPr lang="en-US" dirty="0" smtClean="0"/>
              <a:t> into scaffolds using paired-end reads.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scaffold linkage step in genome assembly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48000"/>
            <a:ext cx="73152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47244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arc represents a pair of 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of the genome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N50</a:t>
            </a:r>
          </a:p>
          <a:p>
            <a:pPr lvl="1"/>
            <a:r>
              <a:rPr lang="en-US" dirty="0" smtClean="0"/>
              <a:t>A standard metric to evaluate an assembly</a:t>
            </a:r>
          </a:p>
          <a:p>
            <a:pPr lvl="1"/>
            <a:r>
              <a:rPr lang="en-US" dirty="0" smtClean="0"/>
              <a:t>It is the length of the smallest </a:t>
            </a:r>
            <a:r>
              <a:rPr lang="en-US" dirty="0" err="1" smtClean="0"/>
              <a:t>contig</a:t>
            </a:r>
            <a:r>
              <a:rPr lang="en-US" dirty="0" smtClean="0"/>
              <a:t>, after they have been ranked from longest to smallest, such that the sum of </a:t>
            </a:r>
            <a:r>
              <a:rPr lang="en-US" dirty="0" err="1" smtClean="0"/>
              <a:t>contig</a:t>
            </a:r>
            <a:r>
              <a:rPr lang="en-US" dirty="0" smtClean="0"/>
              <a:t> lengths up to it covers 50% of the total size of all </a:t>
            </a:r>
            <a:r>
              <a:rPr lang="en-US" dirty="0" err="1" smtClean="0"/>
              <a:t>contigs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is thus a measure of contiguity, with higher numbers indicating lower levels of fragmentation.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6800" y="61722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Del Angel et al. F1000Research,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19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genome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Sequencing errors</a:t>
            </a:r>
          </a:p>
          <a:p>
            <a:r>
              <a:rPr lang="en-US" dirty="0" smtClean="0"/>
              <a:t>Repeats</a:t>
            </a:r>
          </a:p>
          <a:p>
            <a:r>
              <a:rPr lang="en-US" dirty="0" smtClean="0"/>
              <a:t>Heterozygosity</a:t>
            </a:r>
          </a:p>
          <a:p>
            <a:r>
              <a:rPr lang="en-US" dirty="0" smtClean="0"/>
              <a:t>Ploidy level</a:t>
            </a:r>
          </a:p>
          <a:p>
            <a:r>
              <a:rPr lang="en-US" dirty="0" smtClean="0"/>
              <a:t>GC-content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582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sequencing errors in real data. In Illumina NGS sequencing, it is about 0.1%.</a:t>
            </a:r>
          </a:p>
          <a:p>
            <a:endParaRPr lang="en-US" dirty="0"/>
          </a:p>
          <a:p>
            <a:r>
              <a:rPr lang="en-US" dirty="0" smtClean="0"/>
              <a:t>Genome assembly, like other bioinformatics applications, needs to consider the sequencing errors and to perform error correction if possible.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419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Repeats are genomic regions that occur in multiple copies in the genome.</a:t>
            </a:r>
          </a:p>
          <a:p>
            <a:endParaRPr lang="en-US" dirty="0"/>
          </a:p>
          <a:p>
            <a:r>
              <a:rPr lang="en-US" dirty="0" smtClean="0"/>
              <a:t>Amount and distribution of repeats in a genome hugely influences the genome assembly results, because reads from these different repeats are very similar and the assembly tools cannot distinguish between them. This can lead to </a:t>
            </a:r>
            <a:r>
              <a:rPr lang="en-US" dirty="0" err="1" smtClean="0"/>
              <a:t>mis</a:t>
            </a:r>
            <a:r>
              <a:rPr lang="en-US" dirty="0" smtClean="0"/>
              <a:t>-assemblies, where regions that are distant in the genome are assembled together.</a:t>
            </a:r>
          </a:p>
          <a:p>
            <a:endParaRPr lang="en-US" dirty="0"/>
          </a:p>
          <a:p>
            <a:r>
              <a:rPr lang="en-US" dirty="0" smtClean="0"/>
              <a:t>Real genomes have complex repeat structures including tandem repeats, inverted repeats, imperfect repeats, and repeats inserted within repeats.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576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57600" y="6564868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Miller et al. Genomics, 2010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31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Heterozygosity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Assembly programs in general try to collapse allelic differences into one consensus sequence, so that the final assembly that is reported is haploid.</a:t>
            </a:r>
          </a:p>
          <a:p>
            <a:endParaRPr lang="en-US" dirty="0"/>
          </a:p>
          <a:p>
            <a:r>
              <a:rPr lang="en-US" dirty="0" smtClean="0"/>
              <a:t>If the genome is highly heterozygous, sequence reads from homologous alleles can be too different to be assembled together and these alleles will then be assembled separately.</a:t>
            </a:r>
          </a:p>
          <a:p>
            <a:endParaRPr lang="en-US" dirty="0"/>
          </a:p>
          <a:p>
            <a:r>
              <a:rPr lang="en-US" dirty="0" smtClean="0"/>
              <a:t>Highly heterozygous genomes can lead to more fragmented assemblies, or create doubt about the homology of the </a:t>
            </a:r>
            <a:r>
              <a:rPr lang="en-US" dirty="0" err="1" smtClean="0"/>
              <a:t>contigs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66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Ploidy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If possible, it is better to sequence haploid tissues since this will essentially remove problems caused by heterozygosity.</a:t>
            </a:r>
          </a:p>
          <a:p>
            <a:endParaRPr lang="en-US" dirty="0"/>
          </a:p>
          <a:p>
            <a:r>
              <a:rPr lang="en-US" dirty="0" smtClean="0"/>
              <a:t>Diploid tissues, which will be the case for most animals and plants, is fine and usually manageable, while </a:t>
            </a:r>
            <a:r>
              <a:rPr lang="en-US" dirty="0" err="1" smtClean="0"/>
              <a:t>tetraploidy</a:t>
            </a:r>
            <a:r>
              <a:rPr lang="en-US" dirty="0" smtClean="0"/>
              <a:t> and above has the potential to greatly increase the number of present alleles, which likely will result in a more fragmented assembly.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00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GC-content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Extremely low or high GC-content in a genomic region is known to cause a problem for Illumina sequencing, resulting in low or no coverage in those regions.</a:t>
            </a:r>
          </a:p>
          <a:p>
            <a:endParaRPr lang="en-US" dirty="0"/>
          </a:p>
          <a:p>
            <a:r>
              <a:rPr lang="en-US" dirty="0" smtClean="0"/>
              <a:t>This can be compensated by an increased coverage, or the use of a sequencing technology that does not exhibit that bias (i.e., </a:t>
            </a:r>
            <a:r>
              <a:rPr lang="en-US" dirty="0" err="1" smtClean="0"/>
              <a:t>PacBio</a:t>
            </a:r>
            <a:r>
              <a:rPr lang="en-US" dirty="0" smtClean="0"/>
              <a:t> or </a:t>
            </a:r>
            <a:r>
              <a:rPr lang="en-US" dirty="0" err="1"/>
              <a:t>N</a:t>
            </a:r>
            <a:r>
              <a:rPr lang="en-US" dirty="0" err="1" smtClean="0"/>
              <a:t>anopore</a:t>
            </a:r>
            <a:r>
              <a:rPr lang="en-US" dirty="0" smtClean="0"/>
              <a:t>). However, </a:t>
            </a:r>
            <a:r>
              <a:rPr lang="en-US" dirty="0" err="1" smtClean="0"/>
              <a:t>Pacbio</a:t>
            </a:r>
            <a:r>
              <a:rPr lang="en-US" dirty="0" smtClean="0"/>
              <a:t> and </a:t>
            </a:r>
            <a:r>
              <a:rPr lang="en-US" dirty="0" err="1" smtClean="0"/>
              <a:t>Nanopore</a:t>
            </a:r>
            <a:r>
              <a:rPr lang="en-US" dirty="0" smtClean="0"/>
              <a:t> have much higher sequencing errors </a:t>
            </a:r>
            <a:r>
              <a:rPr lang="en-US" dirty="0" err="1" smtClean="0"/>
              <a:t>thant</a:t>
            </a:r>
            <a:r>
              <a:rPr lang="en-US" dirty="0" smtClean="0"/>
              <a:t> </a:t>
            </a:r>
            <a:r>
              <a:rPr lang="en-US" smtClean="0"/>
              <a:t>Illumina sequencing.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6324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 et al. Briefings in Functional Genomics,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217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Genome assembly </a:t>
            </a:r>
            <a:r>
              <a:rPr lang="en-US" dirty="0" err="1" smtClean="0"/>
              <a:t>softwares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647700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https://en.wikibooks.org/wiki/Next_Generation_Sequencing_(NGS)/De_novo_assembly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1600"/>
            <a:ext cx="2971800" cy="489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0711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There are two major types of algorithms behind genome assembly </a:t>
            </a:r>
            <a:r>
              <a:rPr lang="en-US" dirty="0" err="1" smtClean="0"/>
              <a:t>softwares</a:t>
            </a:r>
            <a:r>
              <a:rPr lang="en-US" dirty="0" smtClean="0"/>
              <a:t>: overlap-layout-consensus algorithm and de </a:t>
            </a:r>
            <a:r>
              <a:rPr lang="en-US" dirty="0" err="1" smtClean="0"/>
              <a:t>bruijin</a:t>
            </a:r>
            <a:r>
              <a:rPr lang="en-US" dirty="0" smtClean="0"/>
              <a:t> graph assembly algorithm.</a:t>
            </a:r>
          </a:p>
          <a:p>
            <a:endParaRPr lang="en-US" dirty="0"/>
          </a:p>
          <a:p>
            <a:r>
              <a:rPr lang="en-US" dirty="0" smtClean="0"/>
              <a:t>Coverage analysis gives a theoretical estimate of the sequencing depth.</a:t>
            </a:r>
          </a:p>
          <a:p>
            <a:endParaRPr lang="en-US" dirty="0"/>
          </a:p>
          <a:p>
            <a:r>
              <a:rPr lang="en-US" dirty="0" smtClean="0"/>
              <a:t>N50 is a measure of genome assembly.</a:t>
            </a:r>
          </a:p>
          <a:p>
            <a:endParaRPr lang="en-US" dirty="0"/>
          </a:p>
          <a:p>
            <a:r>
              <a:rPr lang="en-US" dirty="0" smtClean="0"/>
              <a:t>There are many challenges and complications in genome assembly such as sequencing errors and repeats.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2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1125</Words>
  <Application>Microsoft Office PowerPoint</Application>
  <PresentationFormat>On-screen Show (4:3)</PresentationFormat>
  <Paragraphs>127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Biological Sequence Analysis</vt:lpstr>
      <vt:lpstr>Outline</vt:lpstr>
      <vt:lpstr>Genome assembly</vt:lpstr>
      <vt:lpstr>Coverage analysis</vt:lpstr>
      <vt:lpstr>Genome assembly algorithms</vt:lpstr>
      <vt:lpstr>Sequence assembly</vt:lpstr>
      <vt:lpstr>Overlap-layout-consensus (OLC) algorithm</vt:lpstr>
      <vt:lpstr>Overlap-layout-consensus (OLC) algorithm</vt:lpstr>
      <vt:lpstr>Overlap-layout-consensus (OLC) algorithm</vt:lpstr>
      <vt:lpstr>De bruijin graph (DBG) algorithm </vt:lpstr>
      <vt:lpstr>De bruijin graph (DBG) algorithm </vt:lpstr>
      <vt:lpstr>De bruijin graph (DBG) algorithm </vt:lpstr>
      <vt:lpstr>Genome Assembly</vt:lpstr>
      <vt:lpstr>The scaffold linkage step in genome assembly</vt:lpstr>
      <vt:lpstr>Quality of the genome assembly</vt:lpstr>
      <vt:lpstr>Challenges in genome assembly</vt:lpstr>
      <vt:lpstr>Sequencing errors</vt:lpstr>
      <vt:lpstr>Repeats</vt:lpstr>
      <vt:lpstr>Heterozygosity</vt:lpstr>
      <vt:lpstr>Ploidy level</vt:lpstr>
      <vt:lpstr>GC-content</vt:lpstr>
      <vt:lpstr>Genome assembly softwares</vt:lpstr>
      <vt:lpstr>Summary</vt:lpstr>
    </vt:vector>
  </TitlesOfParts>
  <Company>Eisai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Biological Sequence Analysis</dc:title>
  <dc:creator>Windows User</dc:creator>
  <cp:lastModifiedBy>Windows User</cp:lastModifiedBy>
  <cp:revision>21</cp:revision>
  <dcterms:created xsi:type="dcterms:W3CDTF">2018-11-18T01:57:04Z</dcterms:created>
  <dcterms:modified xsi:type="dcterms:W3CDTF">2018-11-29T02:00:03Z</dcterms:modified>
</cp:coreProperties>
</file>