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61" r:id="rId4"/>
    <p:sldId id="262" r:id="rId5"/>
    <p:sldId id="263" r:id="rId6"/>
    <p:sldId id="264" r:id="rId7"/>
    <p:sldId id="265" r:id="rId8"/>
    <p:sldId id="266" r:id="rId9"/>
    <p:sldId id="268" r:id="rId10"/>
    <p:sldId id="267" r:id="rId11"/>
    <p:sldId id="269" r:id="rId12"/>
    <p:sldId id="270" r:id="rId13"/>
    <p:sldId id="273" r:id="rId14"/>
    <p:sldId id="279" r:id="rId15"/>
    <p:sldId id="278" r:id="rId16"/>
    <p:sldId id="277" r:id="rId17"/>
    <p:sldId id="276" r:id="rId18"/>
    <p:sldId id="274" r:id="rId19"/>
    <p:sldId id="275" r:id="rId20"/>
    <p:sldId id="280" r:id="rId21"/>
    <p:sldId id="281" r:id="rId22"/>
    <p:sldId id="259"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4" d="100"/>
          <a:sy n="64" d="100"/>
        </p:scale>
        <p:origin x="-1008"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3CE432DE-B510-47BE-AC19-30646F7FBF28}" type="datetimeFigureOut">
              <a:rPr lang="en-US" smtClean="0"/>
              <a:t>11/28/2018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741319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E432DE-B510-47BE-AC19-30646F7FBF28}" type="datetimeFigureOut">
              <a:rPr lang="en-US" smtClean="0"/>
              <a:t>11/28/2018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2465468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CE432DE-B510-47BE-AC19-30646F7FBF28}" type="datetimeFigureOut">
              <a:rPr lang="en-US" smtClean="0"/>
              <a:t>11/28/2018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14527507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3CE432DE-B510-47BE-AC19-30646F7FBF28}" type="datetimeFigureOut">
              <a:rPr lang="en-US" smtClean="0"/>
              <a:t>11/28/2018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1516742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3CE432DE-B510-47BE-AC19-30646F7FBF28}" type="datetimeFigureOut">
              <a:rPr lang="en-US" smtClean="0"/>
              <a:t>11/28/2018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36024453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3CE432DE-B510-47BE-AC19-30646F7FBF28}" type="datetimeFigureOut">
              <a:rPr lang="en-US" smtClean="0"/>
              <a:t>11/28/2018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7641552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E432DE-B510-47BE-AC19-30646F7FBF28}" type="datetimeFigureOut">
              <a:rPr lang="en-US" smtClean="0"/>
              <a:t>11/28/2018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22822763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E432DE-B510-47BE-AC19-30646F7FBF28}" type="datetimeFigureOut">
              <a:rPr lang="en-US" smtClean="0"/>
              <a:t>11/28/2018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27661086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CE432DE-B510-47BE-AC19-30646F7FBF28}" type="datetimeFigureOut">
              <a:rPr lang="en-US" smtClean="0"/>
              <a:t>11/28/2018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16114652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E432DE-B510-47BE-AC19-30646F7FBF28}" type="datetimeFigureOut">
              <a:rPr lang="en-US" smtClean="0"/>
              <a:t>11/28/2018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21416178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3CE432DE-B510-47BE-AC19-30646F7FBF28}" type="datetimeFigureOut">
              <a:rPr lang="en-US" smtClean="0"/>
              <a:t>11/28/2018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E5FFCE7-62EC-4DCE-8664-CF980F8A6A51}" type="slidenum">
              <a:rPr lang="en-US" smtClean="0"/>
              <a:t>‹#›</a:t>
            </a:fld>
            <a:endParaRPr lang="en-US"/>
          </a:p>
        </p:txBody>
      </p:sp>
    </p:spTree>
    <p:extLst>
      <p:ext uri="{BB962C8B-B14F-4D97-AF65-F5344CB8AC3E}">
        <p14:creationId xmlns:p14="http://schemas.microsoft.com/office/powerpoint/2010/main" val="26689172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CE432DE-B510-47BE-AC19-30646F7FBF28}" type="datetimeFigureOut">
              <a:rPr lang="en-US" smtClean="0"/>
              <a:t>11/28/2018</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E5FFCE7-62EC-4DCE-8664-CF980F8A6A51}" type="slidenum">
              <a:rPr lang="en-US" smtClean="0"/>
              <a:t>‹#›</a:t>
            </a:fld>
            <a:endParaRPr lang="en-US"/>
          </a:p>
        </p:txBody>
      </p:sp>
    </p:spTree>
    <p:extLst>
      <p:ext uri="{BB962C8B-B14F-4D97-AF65-F5344CB8AC3E}">
        <p14:creationId xmlns:p14="http://schemas.microsoft.com/office/powerpoint/2010/main" val="15382764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Biological Sequence Analysis</a:t>
            </a:r>
            <a:endParaRPr lang="en-US" dirty="0"/>
          </a:p>
        </p:txBody>
      </p:sp>
      <p:sp>
        <p:nvSpPr>
          <p:cNvPr id="3" name="Subtitle 2"/>
          <p:cNvSpPr>
            <a:spLocks noGrp="1"/>
          </p:cNvSpPr>
          <p:nvPr>
            <p:ph type="subTitle" idx="1"/>
          </p:nvPr>
        </p:nvSpPr>
        <p:spPr/>
        <p:txBody>
          <a:bodyPr/>
          <a:lstStyle/>
          <a:p>
            <a:r>
              <a:rPr lang="en-US" dirty="0" smtClean="0"/>
              <a:t>Functional annotations of sequences</a:t>
            </a:r>
            <a:endParaRPr lang="en-US" dirty="0"/>
          </a:p>
        </p:txBody>
      </p:sp>
    </p:spTree>
    <p:extLst>
      <p:ext uri="{BB962C8B-B14F-4D97-AF65-F5344CB8AC3E}">
        <p14:creationId xmlns:p14="http://schemas.microsoft.com/office/powerpoint/2010/main" val="24883009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US" dirty="0"/>
          </a:p>
        </p:txBody>
      </p:sp>
      <p:sp>
        <p:nvSpPr>
          <p:cNvPr id="3" name="Content Placeholder 2"/>
          <p:cNvSpPr>
            <a:spLocks noGrp="1"/>
          </p:cNvSpPr>
          <p:nvPr>
            <p:ph idx="1"/>
          </p:nvPr>
        </p:nvSpPr>
        <p:spPr/>
        <p:txBody>
          <a:bodyPr>
            <a:normAutofit lnSpcReduction="10000"/>
          </a:bodyPr>
          <a:lstStyle/>
          <a:p>
            <a:r>
              <a:rPr lang="en-US" dirty="0" smtClean="0"/>
              <a:t>We are going to pick a gene, say human “ESR1”, and then perform functional analysis for its protein, RNA and DNA sequences.</a:t>
            </a:r>
          </a:p>
          <a:p>
            <a:endParaRPr lang="en-US" dirty="0"/>
          </a:p>
          <a:p>
            <a:r>
              <a:rPr lang="en-US" dirty="0" smtClean="0"/>
              <a:t>The list of tasks to be performed is NOT exhaustive because you can always come up with new analysis. But it should serve as an example to see how functional annotations are performed.</a:t>
            </a:r>
            <a:endParaRPr lang="en-US" dirty="0"/>
          </a:p>
        </p:txBody>
      </p:sp>
    </p:spTree>
    <p:extLst>
      <p:ext uri="{BB962C8B-B14F-4D97-AF65-F5344CB8AC3E}">
        <p14:creationId xmlns:p14="http://schemas.microsoft.com/office/powerpoint/2010/main" val="37875103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Obtain protein sequences</a:t>
            </a:r>
            <a:endParaRPr lang="en-US" dirty="0"/>
          </a:p>
        </p:txBody>
      </p:sp>
      <p:sp>
        <p:nvSpPr>
          <p:cNvPr id="3" name="Content Placeholder 2"/>
          <p:cNvSpPr>
            <a:spLocks noGrp="1"/>
          </p:cNvSpPr>
          <p:nvPr>
            <p:ph idx="1"/>
          </p:nvPr>
        </p:nvSpPr>
        <p:spPr/>
        <p:txBody>
          <a:bodyPr/>
          <a:lstStyle/>
          <a:p>
            <a:r>
              <a:rPr lang="en-US" dirty="0" smtClean="0"/>
              <a:t>Search “ESR1” in </a:t>
            </a:r>
            <a:r>
              <a:rPr lang="en-US" dirty="0" err="1" smtClean="0"/>
              <a:t>Uniprot</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362200"/>
            <a:ext cx="8626815" cy="3886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1060452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Canonical and isoforms of ESR1 available in </a:t>
            </a:r>
            <a:r>
              <a:rPr lang="en-US" dirty="0" err="1" smtClean="0"/>
              <a:t>UniProt</a:t>
            </a:r>
            <a:endParaRPr lang="en-US" dirty="0"/>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5360" y="2209800"/>
            <a:ext cx="7467600" cy="4060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428506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smtClean="0"/>
              <a:t>Fasta</a:t>
            </a:r>
            <a:r>
              <a:rPr lang="en-US" dirty="0" smtClean="0"/>
              <a:t> files of ESR1 protein (canonical)</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752600"/>
            <a:ext cx="5724525" cy="2228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503287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err="1"/>
              <a:t>Fasta</a:t>
            </a:r>
            <a:r>
              <a:rPr lang="en-US" dirty="0"/>
              <a:t> files of ESR1 protein </a:t>
            </a:r>
            <a:r>
              <a:rPr lang="en-US" dirty="0" smtClean="0"/>
              <a:t>(isoforms)</a:t>
            </a:r>
            <a:endParaRPr lang="en-US" dirty="0"/>
          </a:p>
        </p:txBody>
      </p:sp>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600200"/>
            <a:ext cx="5237578" cy="5105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3849252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Multiple Sequence alignment of the proteins sequences of human ESR1 (canonical + isoforms)</a:t>
            </a:r>
            <a:endParaRPr lang="en-US" dirty="0"/>
          </a:p>
        </p:txBody>
      </p:sp>
      <p:sp>
        <p:nvSpPr>
          <p:cNvPr id="3" name="Content Placeholder 2"/>
          <p:cNvSpPr>
            <a:spLocks noGrp="1"/>
          </p:cNvSpPr>
          <p:nvPr>
            <p:ph idx="1"/>
          </p:nvPr>
        </p:nvSpPr>
        <p:spPr>
          <a:xfrm>
            <a:off x="457200" y="1600201"/>
            <a:ext cx="8229600" cy="685800"/>
          </a:xfrm>
        </p:spPr>
        <p:txBody>
          <a:bodyPr/>
          <a:lstStyle/>
          <a:p>
            <a:r>
              <a:rPr lang="en-US" dirty="0" smtClean="0"/>
              <a:t>Using MUSCLE from EBI:</a:t>
            </a:r>
            <a:endParaRPr lang="en-US"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88766" y="1828799"/>
            <a:ext cx="2940834" cy="485876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838200" y="3352800"/>
            <a:ext cx="3505200" cy="2031325"/>
          </a:xfrm>
          <a:prstGeom prst="rect">
            <a:avLst/>
          </a:prstGeom>
          <a:noFill/>
        </p:spPr>
        <p:txBody>
          <a:bodyPr wrap="square" rtlCol="0">
            <a:spAutoFit/>
          </a:bodyPr>
          <a:lstStyle/>
          <a:p>
            <a:r>
              <a:rPr lang="en-US" dirty="0" smtClean="0"/>
              <a:t>This multiple sequence alignment gives a sense of overall differences between the different isoforms.</a:t>
            </a:r>
          </a:p>
          <a:p>
            <a:endParaRPr lang="en-US" dirty="0"/>
          </a:p>
          <a:p>
            <a:r>
              <a:rPr lang="en-US" dirty="0" smtClean="0"/>
              <a:t>However, it is hard to conclude what functional differences these isoforms may have. </a:t>
            </a:r>
            <a:endParaRPr lang="en-US" dirty="0"/>
          </a:p>
        </p:txBody>
      </p:sp>
      <p:sp>
        <p:nvSpPr>
          <p:cNvPr id="5" name="Rectangle 4"/>
          <p:cNvSpPr/>
          <p:nvPr/>
        </p:nvSpPr>
        <p:spPr>
          <a:xfrm>
            <a:off x="838200" y="2209800"/>
            <a:ext cx="4171398" cy="369332"/>
          </a:xfrm>
          <a:prstGeom prst="rect">
            <a:avLst/>
          </a:prstGeom>
        </p:spPr>
        <p:txBody>
          <a:bodyPr wrap="none">
            <a:spAutoFit/>
          </a:bodyPr>
          <a:lstStyle/>
          <a:p>
            <a:r>
              <a:rPr lang="en-US" dirty="0"/>
              <a:t>https://www.ebi.ac.uk/Tools/msa/muscle/</a:t>
            </a:r>
          </a:p>
        </p:txBody>
      </p:sp>
    </p:spTree>
    <p:extLst>
      <p:ext uri="{BB962C8B-B14F-4D97-AF65-F5344CB8AC3E}">
        <p14:creationId xmlns:p14="http://schemas.microsoft.com/office/powerpoint/2010/main" val="44230403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Use HMMER to find protein domains using ESR1 protein sequences</a:t>
            </a:r>
            <a:endParaRPr lang="en-US" dirty="0"/>
          </a:p>
        </p:txBody>
      </p:sp>
      <p:sp>
        <p:nvSpPr>
          <p:cNvPr id="5" name="Rectangle 4"/>
          <p:cNvSpPr/>
          <p:nvPr/>
        </p:nvSpPr>
        <p:spPr>
          <a:xfrm>
            <a:off x="2362200" y="6451193"/>
            <a:ext cx="6096000" cy="369332"/>
          </a:xfrm>
          <a:prstGeom prst="rect">
            <a:avLst/>
          </a:prstGeom>
        </p:spPr>
        <p:txBody>
          <a:bodyPr wrap="square">
            <a:spAutoFit/>
          </a:bodyPr>
          <a:lstStyle/>
          <a:p>
            <a:r>
              <a:rPr lang="en-US" dirty="0"/>
              <a:t>https://www.ebi.ac.uk/Tools/hmmer/search/hmmscan</a:t>
            </a:r>
          </a:p>
        </p:txBody>
      </p:sp>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600200"/>
            <a:ext cx="7270474" cy="12525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2984" y="3048000"/>
            <a:ext cx="8904816" cy="2667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977658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 HMMER</a:t>
            </a:r>
            <a:endParaRPr lang="en-US" dirty="0"/>
          </a:p>
        </p:txBody>
      </p:sp>
      <p:sp>
        <p:nvSpPr>
          <p:cNvPr id="3" name="Content Placeholder 2"/>
          <p:cNvSpPr>
            <a:spLocks noGrp="1"/>
          </p:cNvSpPr>
          <p:nvPr>
            <p:ph idx="1"/>
          </p:nvPr>
        </p:nvSpPr>
        <p:spPr/>
        <p:txBody>
          <a:bodyPr/>
          <a:lstStyle/>
          <a:p>
            <a:r>
              <a:rPr lang="en-US" dirty="0" smtClean="0"/>
              <a:t>What do you get if you use the other four isoforms sequences of ESR1? </a:t>
            </a:r>
          </a:p>
          <a:p>
            <a:endParaRPr lang="en-US" dirty="0"/>
          </a:p>
          <a:p>
            <a:r>
              <a:rPr lang="en-US" dirty="0" smtClean="0"/>
              <a:t>You can also download and run the program locally:</a:t>
            </a:r>
          </a:p>
          <a:p>
            <a:pPr lvl="1"/>
            <a:r>
              <a:rPr lang="en-US" dirty="0"/>
              <a:t>http://hmmer.org/</a:t>
            </a:r>
          </a:p>
        </p:txBody>
      </p:sp>
    </p:spTree>
    <p:extLst>
      <p:ext uri="{BB962C8B-B14F-4D97-AF65-F5344CB8AC3E}">
        <p14:creationId xmlns:p14="http://schemas.microsoft.com/office/powerpoint/2010/main" val="39280793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74638"/>
            <a:ext cx="9144000" cy="1143000"/>
          </a:xfrm>
        </p:spPr>
        <p:txBody>
          <a:bodyPr>
            <a:normAutofit fontScale="90000"/>
          </a:bodyPr>
          <a:lstStyle/>
          <a:p>
            <a:r>
              <a:rPr lang="en-US" dirty="0" smtClean="0"/>
              <a:t>Use BLAT (in UCSC genome browser) to map the sequences to the human genome</a:t>
            </a:r>
            <a:endParaRPr lang="en-US"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199" y="1468580"/>
            <a:ext cx="6184621" cy="5084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724067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Visualize the BLAT results in UCSC genome browser</a:t>
            </a:r>
            <a:endParaRPr lang="en-US" dirty="0"/>
          </a:p>
        </p:txBody>
      </p:sp>
      <p:sp>
        <p:nvSpPr>
          <p:cNvPr id="3" name="Content Placeholder 2"/>
          <p:cNvSpPr>
            <a:spLocks noGrp="1"/>
          </p:cNvSpPr>
          <p:nvPr>
            <p:ph idx="1"/>
          </p:nvPr>
        </p:nvSpPr>
        <p:spPr>
          <a:xfrm>
            <a:off x="457200" y="1600201"/>
            <a:ext cx="8229600" cy="685800"/>
          </a:xfrm>
        </p:spPr>
        <p:txBody>
          <a:bodyPr/>
          <a:lstStyle/>
          <a:p>
            <a:r>
              <a:rPr lang="en-US" dirty="0" smtClean="0"/>
              <a:t>Build a custom track from the BLAT results:</a:t>
            </a:r>
            <a:endParaRPr lang="en-US"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362199"/>
            <a:ext cx="8825664" cy="23336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914400" y="5181600"/>
            <a:ext cx="6248400" cy="1477328"/>
          </a:xfrm>
          <a:prstGeom prst="rect">
            <a:avLst/>
          </a:prstGeom>
          <a:noFill/>
        </p:spPr>
        <p:txBody>
          <a:bodyPr wrap="square" rtlCol="0">
            <a:spAutoFit/>
          </a:bodyPr>
          <a:lstStyle/>
          <a:p>
            <a:r>
              <a:rPr lang="en-US" dirty="0" smtClean="0"/>
              <a:t>Clearly, these sequences are mapped to the </a:t>
            </a:r>
            <a:r>
              <a:rPr lang="en-US" dirty="0" err="1" smtClean="0"/>
              <a:t>exonic</a:t>
            </a:r>
            <a:r>
              <a:rPr lang="en-US" dirty="0" smtClean="0"/>
              <a:t> regions of ESR1 in human genome, which makes sense because these sequences are protein sequences.</a:t>
            </a:r>
          </a:p>
          <a:p>
            <a:endParaRPr lang="en-US" dirty="0"/>
          </a:p>
          <a:p>
            <a:r>
              <a:rPr lang="en-US" dirty="0" smtClean="0"/>
              <a:t>You can also see the isoform differences clearly.</a:t>
            </a:r>
            <a:endParaRPr lang="en-US" dirty="0"/>
          </a:p>
        </p:txBody>
      </p:sp>
    </p:spTree>
    <p:extLst>
      <p:ext uri="{BB962C8B-B14F-4D97-AF65-F5344CB8AC3E}">
        <p14:creationId xmlns:p14="http://schemas.microsoft.com/office/powerpoint/2010/main" val="8608674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UCSC genome browser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UCSC genome browser is not only a visualization tool, but also a platform that has lots of genomic annotations.</a:t>
            </a:r>
          </a:p>
          <a:p>
            <a:endParaRPr lang="en-US" dirty="0"/>
          </a:p>
          <a:p>
            <a:r>
              <a:rPr lang="en-US" dirty="0" smtClean="0"/>
              <a:t>There are many kinds of genomic annotations information (tracks below the browser view) on UCSC genome browser, such as exon/intron, conservation, histone marks, etc.</a:t>
            </a:r>
          </a:p>
          <a:p>
            <a:endParaRPr lang="en-US" dirty="0"/>
          </a:p>
          <a:p>
            <a:r>
              <a:rPr lang="en-US" dirty="0" smtClean="0"/>
              <a:t>I am going to showcase a few in the following slides.</a:t>
            </a:r>
            <a:endParaRPr lang="en-US" dirty="0"/>
          </a:p>
        </p:txBody>
      </p:sp>
    </p:spTree>
    <p:extLst>
      <p:ext uri="{BB962C8B-B14F-4D97-AF65-F5344CB8AC3E}">
        <p14:creationId xmlns:p14="http://schemas.microsoft.com/office/powerpoint/2010/main" val="930595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Conservation</a:t>
            </a:r>
            <a:endParaRPr lang="en-US" dirty="0"/>
          </a:p>
        </p:txBody>
      </p:sp>
      <p:sp>
        <p:nvSpPr>
          <p:cNvPr id="4" name="TextBox 3"/>
          <p:cNvSpPr txBox="1"/>
          <p:nvPr/>
        </p:nvSpPr>
        <p:spPr>
          <a:xfrm>
            <a:off x="304800" y="4724400"/>
            <a:ext cx="8534400" cy="1477328"/>
          </a:xfrm>
          <a:prstGeom prst="rect">
            <a:avLst/>
          </a:prstGeom>
          <a:noFill/>
        </p:spPr>
        <p:txBody>
          <a:bodyPr wrap="square" rtlCol="0">
            <a:spAutoFit/>
          </a:bodyPr>
          <a:lstStyle/>
          <a:p>
            <a:r>
              <a:rPr lang="en-US" dirty="0" smtClean="0"/>
              <a:t>There are conservation peaks corresponding to exons, suggesting the protein sequences are conserved during evolution.</a:t>
            </a:r>
          </a:p>
          <a:p>
            <a:endParaRPr lang="en-US" dirty="0"/>
          </a:p>
          <a:p>
            <a:r>
              <a:rPr lang="en-US" dirty="0" smtClean="0"/>
              <a:t>But there are also some conservation peaks in the intron or other noncoding regions. Are they potentially import regulatory sequences?</a:t>
            </a:r>
            <a:endParaRPr lang="en-US" dirty="0"/>
          </a:p>
        </p:txBody>
      </p:sp>
      <p:pic>
        <p:nvPicPr>
          <p:cNvPr id="409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6056" y="2362200"/>
            <a:ext cx="8695544" cy="16145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53865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Enhancers using </a:t>
            </a:r>
            <a:r>
              <a:rPr lang="en-US" dirty="0" err="1" smtClean="0"/>
              <a:t>GeneHancer</a:t>
            </a:r>
            <a:r>
              <a:rPr lang="en-US" dirty="0" smtClean="0"/>
              <a:t> track</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22" y="2438400"/>
            <a:ext cx="8997950" cy="2133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104754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Predicted miRNA binding sites in the 3’UTR</a:t>
            </a:r>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745816" cy="3609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762000" y="5763718"/>
            <a:ext cx="7983816" cy="646331"/>
          </a:xfrm>
          <a:prstGeom prst="rect">
            <a:avLst/>
          </a:prstGeom>
          <a:noFill/>
        </p:spPr>
        <p:txBody>
          <a:bodyPr wrap="square" rtlCol="0">
            <a:spAutoFit/>
          </a:bodyPr>
          <a:lstStyle/>
          <a:p>
            <a:r>
              <a:rPr lang="en-US" dirty="0" smtClean="0"/>
              <a:t>Some of the predicted miRNA binding sites are for epithelial specific miRNAs such as miR-145 and miR-203. They might be functional.</a:t>
            </a:r>
            <a:endParaRPr lang="en-US" dirty="0"/>
          </a:p>
        </p:txBody>
      </p:sp>
    </p:spTree>
    <p:extLst>
      <p:ext uri="{BB962C8B-B14F-4D97-AF65-F5344CB8AC3E}">
        <p14:creationId xmlns:p14="http://schemas.microsoft.com/office/powerpoint/2010/main" val="2169593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OMIM alleles</a:t>
            </a:r>
            <a:endParaRPr lang="en-US" dirty="0"/>
          </a:p>
        </p:txBody>
      </p:sp>
      <p:sp>
        <p:nvSpPr>
          <p:cNvPr id="3" name="Content Placeholder 2"/>
          <p:cNvSpPr>
            <a:spLocks noGrp="1"/>
          </p:cNvSpPr>
          <p:nvPr>
            <p:ph idx="1"/>
          </p:nvPr>
        </p:nvSpPr>
        <p:spPr>
          <a:xfrm>
            <a:off x="457200" y="1600201"/>
            <a:ext cx="8229600" cy="2666999"/>
          </a:xfrm>
        </p:spPr>
        <p:txBody>
          <a:bodyPr/>
          <a:lstStyle/>
          <a:p>
            <a:r>
              <a:rPr lang="en-US" dirty="0" smtClean="0"/>
              <a:t>Estrogen resistance is a form of congenital estrogen deficiency or </a:t>
            </a:r>
            <a:r>
              <a:rPr lang="en-US" dirty="0" err="1" smtClean="0"/>
              <a:t>hypoestrogenism</a:t>
            </a:r>
            <a:r>
              <a:rPr lang="en-US" dirty="0" smtClean="0"/>
              <a:t> which is caused by a defective estrogen receptor.</a:t>
            </a:r>
            <a:endParaRPr lang="en-US" dirty="0"/>
          </a:p>
          <a:p>
            <a:r>
              <a:rPr lang="en-US" dirty="0" smtClean="0"/>
              <a:t>The OMIM alleles associated with ESR1 are all related to estrogen resistance.</a:t>
            </a:r>
            <a:endParaRPr 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4267200"/>
            <a:ext cx="8540158" cy="1752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330164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COSMIC mutations (cancer mutations)</a:t>
            </a:r>
            <a:endParaRPr lang="en-US" dirty="0"/>
          </a:p>
        </p:txBody>
      </p:sp>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7023" y="1371600"/>
            <a:ext cx="4092071" cy="5257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5486400" y="1905000"/>
            <a:ext cx="2895600" cy="2862322"/>
          </a:xfrm>
          <a:prstGeom prst="rect">
            <a:avLst/>
          </a:prstGeom>
          <a:noFill/>
        </p:spPr>
        <p:txBody>
          <a:bodyPr wrap="square" rtlCol="0">
            <a:spAutoFit/>
          </a:bodyPr>
          <a:lstStyle/>
          <a:p>
            <a:r>
              <a:rPr lang="en-US" dirty="0" smtClean="0"/>
              <a:t>The mutations in ESR1 that are found in cancers are located in the exons.</a:t>
            </a:r>
          </a:p>
          <a:p>
            <a:endParaRPr lang="en-US" dirty="0"/>
          </a:p>
          <a:p>
            <a:endParaRPr lang="en-US" dirty="0" smtClean="0"/>
          </a:p>
          <a:p>
            <a:r>
              <a:rPr lang="en-US" dirty="0" smtClean="0"/>
              <a:t>Interesting,  the exon with the most mutations is in all the isoforms but not the canonical form.</a:t>
            </a:r>
          </a:p>
          <a:p>
            <a:r>
              <a:rPr lang="en-US" dirty="0" smtClean="0"/>
              <a:t> </a:t>
            </a:r>
            <a:endParaRPr lang="en-US" dirty="0"/>
          </a:p>
        </p:txBody>
      </p:sp>
    </p:spTree>
    <p:extLst>
      <p:ext uri="{BB962C8B-B14F-4D97-AF65-F5344CB8AC3E}">
        <p14:creationId xmlns:p14="http://schemas.microsoft.com/office/powerpoint/2010/main" val="22502462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BLAST search the ESR1 protein sequence in E.coli</a:t>
            </a:r>
            <a:endParaRPr lang="en-US" dirty="0"/>
          </a:p>
        </p:txBody>
      </p:sp>
      <p:sp>
        <p:nvSpPr>
          <p:cNvPr id="3" name="Content Placeholder 2"/>
          <p:cNvSpPr>
            <a:spLocks noGrp="1"/>
          </p:cNvSpPr>
          <p:nvPr>
            <p:ph idx="1"/>
          </p:nvPr>
        </p:nvSpPr>
        <p:spPr/>
        <p:txBody>
          <a:bodyPr>
            <a:normAutofit fontScale="92500"/>
          </a:bodyPr>
          <a:lstStyle/>
          <a:p>
            <a:r>
              <a:rPr lang="en-US" dirty="0" smtClean="0"/>
              <a:t>ESR1 encodes the estrogen receptor in humans. I don’t think there are </a:t>
            </a:r>
            <a:r>
              <a:rPr lang="en-US" dirty="0" err="1" smtClean="0"/>
              <a:t>estrogenes</a:t>
            </a:r>
            <a:r>
              <a:rPr lang="en-US" dirty="0" smtClean="0"/>
              <a:t> in bacteria in E. coli.</a:t>
            </a:r>
          </a:p>
          <a:p>
            <a:endParaRPr lang="en-US" dirty="0"/>
          </a:p>
          <a:p>
            <a:r>
              <a:rPr lang="en-US" dirty="0" smtClean="0"/>
              <a:t>So what do you think I would find by BLAST searching the ESR1 protein sequence in E. Coli</a:t>
            </a:r>
            <a:r>
              <a:rPr lang="en-US" dirty="0"/>
              <a:t>? (https://blast.ncbi.nlm.nih.gov/Blast.cgi?PROGRAM=blastp&amp;PAGE_TYPE=BlastSearch&amp;LINK_LOC=blasthome)</a:t>
            </a:r>
          </a:p>
        </p:txBody>
      </p:sp>
    </p:spTree>
    <p:extLst>
      <p:ext uri="{BB962C8B-B14F-4D97-AF65-F5344CB8AC3E}">
        <p14:creationId xmlns:p14="http://schemas.microsoft.com/office/powerpoint/2010/main" val="25203291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There is a hit in E. coli!</a:t>
            </a: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1012" y="1157652"/>
            <a:ext cx="7824788" cy="31857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1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43000" y="4476750"/>
            <a:ext cx="7115175" cy="23812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428821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So what is this protein “</a:t>
            </a:r>
            <a:r>
              <a:rPr lang="en-US" dirty="0"/>
              <a:t>Chain A, Targeting The Binding Function 3 Site Of The Androgen Receptor Through In Silico Molecular Modeling</a:t>
            </a:r>
            <a:r>
              <a:rPr lang="en-US" dirty="0" smtClean="0"/>
              <a:t>”?</a:t>
            </a:r>
          </a:p>
          <a:p>
            <a:endParaRPr lang="en-US" dirty="0"/>
          </a:p>
          <a:p>
            <a:r>
              <a:rPr lang="en-US" dirty="0" smtClean="0"/>
              <a:t>It has a PDB id of “3ZQT_A”. Let’s check in the PDB database.</a:t>
            </a:r>
            <a:endParaRPr lang="en-US" dirty="0"/>
          </a:p>
        </p:txBody>
      </p:sp>
    </p:spTree>
    <p:extLst>
      <p:ext uri="{BB962C8B-B14F-4D97-AF65-F5344CB8AC3E}">
        <p14:creationId xmlns:p14="http://schemas.microsoft.com/office/powerpoint/2010/main" val="762123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381000"/>
            <a:ext cx="5553075" cy="3562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628" y="4343400"/>
            <a:ext cx="8286750" cy="151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5" name="Straight Arrow Connector 4"/>
          <p:cNvCxnSpPr/>
          <p:nvPr/>
        </p:nvCxnSpPr>
        <p:spPr>
          <a:xfrm flipH="1" flipV="1">
            <a:off x="4343400" y="1752600"/>
            <a:ext cx="2667000" cy="914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7" name="Straight Arrow Connector 6"/>
          <p:cNvCxnSpPr/>
          <p:nvPr/>
        </p:nvCxnSpPr>
        <p:spPr>
          <a:xfrm flipH="1">
            <a:off x="6019800" y="2895600"/>
            <a:ext cx="990600" cy="2667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7086600" y="2057400"/>
            <a:ext cx="1828800" cy="1477328"/>
          </a:xfrm>
          <a:prstGeom prst="rect">
            <a:avLst/>
          </a:prstGeom>
          <a:noFill/>
        </p:spPr>
        <p:txBody>
          <a:bodyPr wrap="square" rtlCol="0">
            <a:spAutoFit/>
          </a:bodyPr>
          <a:lstStyle/>
          <a:p>
            <a:r>
              <a:rPr lang="en-US" dirty="0" smtClean="0"/>
              <a:t>Apparently the hit is the human AR protein expressed in E.coli!</a:t>
            </a:r>
          </a:p>
        </p:txBody>
      </p:sp>
      <p:sp>
        <p:nvSpPr>
          <p:cNvPr id="9" name="TextBox 8"/>
          <p:cNvSpPr txBox="1"/>
          <p:nvPr/>
        </p:nvSpPr>
        <p:spPr>
          <a:xfrm>
            <a:off x="228600" y="6248400"/>
            <a:ext cx="9067800" cy="646331"/>
          </a:xfrm>
          <a:prstGeom prst="rect">
            <a:avLst/>
          </a:prstGeom>
          <a:noFill/>
        </p:spPr>
        <p:txBody>
          <a:bodyPr wrap="square" rtlCol="0">
            <a:spAutoFit/>
          </a:bodyPr>
          <a:lstStyle/>
          <a:p>
            <a:r>
              <a:rPr lang="en-US" dirty="0" smtClean="0"/>
              <a:t>Although this exercise did not find any similar proteins to ESR1 in E.coli, we did find the human AR protein, which is known to be similar to the ESR1 protein.</a:t>
            </a:r>
            <a:endParaRPr lang="en-US" dirty="0"/>
          </a:p>
        </p:txBody>
      </p:sp>
    </p:spTree>
    <p:extLst>
      <p:ext uri="{BB962C8B-B14F-4D97-AF65-F5344CB8AC3E}">
        <p14:creationId xmlns:p14="http://schemas.microsoft.com/office/powerpoint/2010/main" val="1250327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lnSpcReduction="10000"/>
          </a:bodyPr>
          <a:lstStyle/>
          <a:p>
            <a:r>
              <a:rPr lang="en-US" dirty="0" smtClean="0"/>
              <a:t>There are many kinds of functional annotations that you can perform on biological sequences.</a:t>
            </a:r>
          </a:p>
          <a:p>
            <a:endParaRPr lang="en-US" dirty="0"/>
          </a:p>
          <a:p>
            <a:r>
              <a:rPr lang="en-US" dirty="0" smtClean="0"/>
              <a:t>A case study using ESR1 proteins sequences was performed using online tools from EBI and UCSC genome browser. You can of course use other tools or write your own code to do similar or additional tasks. </a:t>
            </a:r>
            <a:endParaRPr lang="en-US" dirty="0"/>
          </a:p>
        </p:txBody>
      </p:sp>
    </p:spTree>
    <p:extLst>
      <p:ext uri="{BB962C8B-B14F-4D97-AF65-F5344CB8AC3E}">
        <p14:creationId xmlns:p14="http://schemas.microsoft.com/office/powerpoint/2010/main" val="414913258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176</TotalTime>
  <Words>690</Words>
  <Application>Microsoft Office PowerPoint</Application>
  <PresentationFormat>On-screen Show (4:3)</PresentationFormat>
  <Paragraphs>66</Paragraphs>
  <Slides>22</Slides>
  <Notes>0</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Biological Sequence Analysis</vt:lpstr>
      <vt:lpstr>Case study</vt:lpstr>
      <vt:lpstr>Obtain protein sequences</vt:lpstr>
      <vt:lpstr>Canonical and isoforms of ESR1 available in UniProt</vt:lpstr>
      <vt:lpstr>Fasta files of ESR1 protein (canonical)</vt:lpstr>
      <vt:lpstr>Fasta files of ESR1 protein (isoforms)</vt:lpstr>
      <vt:lpstr>Multiple Sequence alignment of the proteins sequences of human ESR1 (canonical + isoforms)</vt:lpstr>
      <vt:lpstr>Use HMMER to find protein domains using ESR1 protein sequences</vt:lpstr>
      <vt:lpstr>Try HMMER</vt:lpstr>
      <vt:lpstr>Use BLAT (in UCSC genome browser) to map the sequences to the human genome</vt:lpstr>
      <vt:lpstr>Visualize the BLAT results in UCSC genome browser</vt:lpstr>
      <vt:lpstr>UCSC genome browser</vt:lpstr>
      <vt:lpstr>Conservation</vt:lpstr>
      <vt:lpstr>Enhancers using GeneHancer track</vt:lpstr>
      <vt:lpstr>Predicted miRNA binding sites in the 3’UTR</vt:lpstr>
      <vt:lpstr>OMIM alleles</vt:lpstr>
      <vt:lpstr>COSMIC mutations (cancer mutations)</vt:lpstr>
      <vt:lpstr>BLAST search the ESR1 protein sequence in E.coli</vt:lpstr>
      <vt:lpstr>There is a hit in E. coli!</vt:lpstr>
      <vt:lpstr>PowerPoint Presentation</vt:lpstr>
      <vt:lpstr>PowerPoint Presentation</vt:lpstr>
      <vt:lpstr>Summary</vt:lpstr>
    </vt:vector>
  </TitlesOfParts>
  <Company>Eisai</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Biological Sequence Analysis</dc:title>
  <dc:creator>Windows User</dc:creator>
  <cp:lastModifiedBy>Windows User</cp:lastModifiedBy>
  <cp:revision>26</cp:revision>
  <dcterms:created xsi:type="dcterms:W3CDTF">2018-11-18T02:05:13Z</dcterms:created>
  <dcterms:modified xsi:type="dcterms:W3CDTF">2018-11-29T04:56:53Z</dcterms:modified>
</cp:coreProperties>
</file>