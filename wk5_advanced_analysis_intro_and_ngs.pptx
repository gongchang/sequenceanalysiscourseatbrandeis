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8" r:id="rId2"/>
    <p:sldId id="257" r:id="rId3"/>
    <p:sldId id="259" r:id="rId4"/>
    <p:sldId id="261" r:id="rId5"/>
    <p:sldId id="273" r:id="rId6"/>
    <p:sldId id="266" r:id="rId7"/>
    <p:sldId id="269" r:id="rId8"/>
    <p:sldId id="270" r:id="rId9"/>
    <p:sldId id="267" r:id="rId10"/>
    <p:sldId id="272" r:id="rId11"/>
    <p:sldId id="271" r:id="rId12"/>
    <p:sldId id="268" r:id="rId13"/>
    <p:sldId id="275" r:id="rId14"/>
    <p:sldId id="282" r:id="rId15"/>
    <p:sldId id="284" r:id="rId16"/>
    <p:sldId id="277" r:id="rId17"/>
    <p:sldId id="278" r:id="rId18"/>
    <p:sldId id="281" r:id="rId19"/>
    <p:sldId id="280" r:id="rId20"/>
    <p:sldId id="279" r:id="rId21"/>
    <p:sldId id="283" r:id="rId22"/>
    <p:sldId id="265" r:id="rId23"/>
    <p:sldId id="262" r:id="rId24"/>
    <p:sldId id="263" r:id="rId25"/>
    <p:sldId id="264" r:id="rId26"/>
    <p:sldId id="276" r:id="rId27"/>
    <p:sldId id="274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90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970FD-F467-458A-A121-95F8D2928E46}" type="datetimeFigureOut">
              <a:rPr lang="en-US" smtClean="0"/>
              <a:t>11/17/2018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60286-37FC-424A-9630-A4DCFC157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311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60286-37FC-424A-9630-A4DCFC15769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88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60286-37FC-424A-9630-A4DCFC15769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07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06BE-1E1A-40A2-A2D4-DFBC676C9D8F}" type="datetimeFigureOut">
              <a:rPr lang="en-US" smtClean="0"/>
              <a:t>11/17/2018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1EF4E-273C-47D7-9F2C-D356A85A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90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06BE-1E1A-40A2-A2D4-DFBC676C9D8F}" type="datetimeFigureOut">
              <a:rPr lang="en-US" smtClean="0"/>
              <a:t>11/17/2018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1EF4E-273C-47D7-9F2C-D356A85A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06BE-1E1A-40A2-A2D4-DFBC676C9D8F}" type="datetimeFigureOut">
              <a:rPr lang="en-US" smtClean="0"/>
              <a:t>11/17/2018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1EF4E-273C-47D7-9F2C-D356A85A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70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06BE-1E1A-40A2-A2D4-DFBC676C9D8F}" type="datetimeFigureOut">
              <a:rPr lang="en-US" smtClean="0"/>
              <a:t>11/17/2018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1EF4E-273C-47D7-9F2C-D356A85A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1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06BE-1E1A-40A2-A2D4-DFBC676C9D8F}" type="datetimeFigureOut">
              <a:rPr lang="en-US" smtClean="0"/>
              <a:t>11/17/2018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1EF4E-273C-47D7-9F2C-D356A85A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889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06BE-1E1A-40A2-A2D4-DFBC676C9D8F}" type="datetimeFigureOut">
              <a:rPr lang="en-US" smtClean="0"/>
              <a:t>11/17/2018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1EF4E-273C-47D7-9F2C-D356A85A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2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06BE-1E1A-40A2-A2D4-DFBC676C9D8F}" type="datetimeFigureOut">
              <a:rPr lang="en-US" smtClean="0"/>
              <a:t>11/17/2018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1EF4E-273C-47D7-9F2C-D356A85A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73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06BE-1E1A-40A2-A2D4-DFBC676C9D8F}" type="datetimeFigureOut">
              <a:rPr lang="en-US" smtClean="0"/>
              <a:t>11/17/2018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1EF4E-273C-47D7-9F2C-D356A85A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33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06BE-1E1A-40A2-A2D4-DFBC676C9D8F}" type="datetimeFigureOut">
              <a:rPr lang="en-US" smtClean="0"/>
              <a:t>11/17/2018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1EF4E-273C-47D7-9F2C-D356A85A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3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06BE-1E1A-40A2-A2D4-DFBC676C9D8F}" type="datetimeFigureOut">
              <a:rPr lang="en-US" smtClean="0"/>
              <a:t>11/17/2018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1EF4E-273C-47D7-9F2C-D356A85A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35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06BE-1E1A-40A2-A2D4-DFBC676C9D8F}" type="datetimeFigureOut">
              <a:rPr lang="en-US" smtClean="0"/>
              <a:t>11/17/2018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1EF4E-273C-47D7-9F2C-D356A85A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858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B06BE-1E1A-40A2-A2D4-DFBC676C9D8F}" type="datetimeFigureOut">
              <a:rPr lang="en-US" smtClean="0"/>
              <a:t>11/17/2018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1EF4E-273C-47D7-9F2C-D356A85AA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63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Biological Sequence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Advanced analysis and 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435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Advanced sequence analysis</a:t>
            </a:r>
          </a:p>
          <a:p>
            <a:pPr lvl="1"/>
            <a:r>
              <a:rPr lang="en-US" dirty="0" smtClean="0"/>
              <a:t>History of Next </a:t>
            </a:r>
            <a:r>
              <a:rPr lang="en-US" dirty="0"/>
              <a:t>g</a:t>
            </a:r>
            <a:r>
              <a:rPr lang="en-US" dirty="0" smtClean="0"/>
              <a:t>eneration sequencing (NGS), also called 2</a:t>
            </a:r>
            <a:r>
              <a:rPr lang="en-US" baseline="30000" dirty="0" smtClean="0"/>
              <a:t>nd</a:t>
            </a:r>
            <a:r>
              <a:rPr lang="en-US" dirty="0" smtClean="0"/>
              <a:t> generation sequencing</a:t>
            </a:r>
          </a:p>
          <a:p>
            <a:pPr lvl="1"/>
            <a:r>
              <a:rPr lang="en-US" dirty="0" smtClean="0"/>
              <a:t>DNA sequences (mutation calling,  protein binding site , copy number changes, etc.)</a:t>
            </a:r>
          </a:p>
          <a:p>
            <a:pPr lvl="1"/>
            <a:r>
              <a:rPr lang="en-US" dirty="0" smtClean="0"/>
              <a:t>RNA sequences (gene expression analysis, secondary structure prediction, protein binding site, etc.)</a:t>
            </a:r>
          </a:p>
          <a:p>
            <a:pPr lvl="1"/>
            <a:r>
              <a:rPr lang="en-US" dirty="0" smtClean="0"/>
              <a:t>Long read sequencing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671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generation sequencing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1152525"/>
            <a:ext cx="4067175" cy="57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86400" y="1828800"/>
            <a:ext cx="297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b) Sanger sequencing</a:t>
            </a:r>
          </a:p>
          <a:p>
            <a:r>
              <a:rPr lang="en-US" dirty="0" smtClean="0"/>
              <a:t>c) Gilbert sequencing</a:t>
            </a:r>
          </a:p>
          <a:p>
            <a:endParaRPr lang="en-US" dirty="0"/>
          </a:p>
          <a:p>
            <a:r>
              <a:rPr lang="en-US" dirty="0" smtClean="0"/>
              <a:t>Low-throughput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90160" y="601980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Heather and Chain. Genomics, 2016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13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NGS DNA sequencing parallelized amplifications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85900"/>
            <a:ext cx="5667375" cy="537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715000" y="601980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Heather and Chain. Genomics, 2016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96000" y="29718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High throughput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23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Development of high-throughput sequencing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" y="1564989"/>
            <a:ext cx="6057900" cy="4531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8600" y="6070251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PacBio</a:t>
            </a:r>
            <a:r>
              <a:rPr lang="en-US" dirty="0" smtClean="0"/>
              <a:t> is often considered to be part of 3</a:t>
            </a:r>
            <a:r>
              <a:rPr lang="en-US" baseline="30000" dirty="0" smtClean="0"/>
              <a:t>rd</a:t>
            </a:r>
            <a:r>
              <a:rPr lang="en-US" dirty="0" smtClean="0"/>
              <a:t> generation sequencing.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273040" y="6070251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Levy and Myers. Annual Review of Genomics and Human Genetics, 2016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271260" y="2590800"/>
            <a:ext cx="27355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NGS has much higher throughput than sanger sequencing (the  representative 1</a:t>
            </a:r>
            <a:r>
              <a:rPr lang="en-US" baseline="30000" dirty="0" smtClean="0"/>
              <a:t>st</a:t>
            </a:r>
            <a:r>
              <a:rPr lang="en-US" dirty="0" smtClean="0"/>
              <a:t> generation sequencing).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30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types of NGS sequencing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Sequencing by ligation:</a:t>
            </a:r>
          </a:p>
          <a:p>
            <a:pPr lvl="1"/>
            <a:r>
              <a:rPr lang="en-US" dirty="0" err="1" smtClean="0"/>
              <a:t>SOliD</a:t>
            </a:r>
            <a:r>
              <a:rPr lang="en-US" dirty="0" smtClean="0"/>
              <a:t> and Complete Genomics</a:t>
            </a:r>
          </a:p>
          <a:p>
            <a:endParaRPr lang="en-US" dirty="0"/>
          </a:p>
          <a:p>
            <a:r>
              <a:rPr lang="en-US" dirty="0" smtClean="0"/>
              <a:t>Sequencing by synthesis:</a:t>
            </a:r>
          </a:p>
          <a:p>
            <a:pPr lvl="1"/>
            <a:r>
              <a:rPr lang="en-US" dirty="0" smtClean="0"/>
              <a:t>Single-nucleotide addition:</a:t>
            </a:r>
          </a:p>
          <a:p>
            <a:pPr lvl="2"/>
            <a:r>
              <a:rPr lang="en-US" dirty="0" smtClean="0"/>
              <a:t>454, Ion Torrent</a:t>
            </a:r>
          </a:p>
          <a:p>
            <a:pPr lvl="1"/>
            <a:r>
              <a:rPr lang="en-US" dirty="0" smtClean="0"/>
              <a:t>Cyclic reversible termination (CRT):</a:t>
            </a:r>
          </a:p>
          <a:p>
            <a:pPr lvl="2"/>
            <a:r>
              <a:rPr lang="en-US" dirty="0" smtClean="0"/>
              <a:t>Illumina, </a:t>
            </a:r>
            <a:r>
              <a:rPr lang="en-US" dirty="0" err="1" smtClean="0"/>
              <a:t>Qiagen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Illumina machines have the largest market share in NGS.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721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SOLiD</a:t>
            </a:r>
            <a:r>
              <a:rPr lang="en-US" dirty="0" smtClean="0"/>
              <a:t> (</a:t>
            </a:r>
            <a:r>
              <a:rPr lang="en-US" dirty="0" err="1" smtClean="0"/>
              <a:t>Thermo</a:t>
            </a:r>
            <a:r>
              <a:rPr lang="en-US" dirty="0" smtClean="0"/>
              <a:t> Fisher)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35" y="1371600"/>
            <a:ext cx="840105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38600" y="6324600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Goodwin et al. Nature Review Genetics, 2016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47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Complete Genomics (BGI)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1071563"/>
            <a:ext cx="8362950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038600" y="6324600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Goodwin et al. Nature Review Genetics, 2016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751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454 Pyrosequencing (Roche)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05000"/>
            <a:ext cx="6591300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038600" y="6324600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Goodwin et al. Nature Review Genetics, 2016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509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Ion Torrent (</a:t>
            </a:r>
            <a:r>
              <a:rPr lang="en-US" dirty="0" err="1" smtClean="0"/>
              <a:t>Thermo</a:t>
            </a:r>
            <a:r>
              <a:rPr lang="en-US" dirty="0" smtClean="0"/>
              <a:t> Fisher)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5" y="1704975"/>
            <a:ext cx="6762750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038600" y="6324600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Goodwin et al. Nature Review Genetics, 2016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838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Illumina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1362075"/>
            <a:ext cx="8410575" cy="413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038600" y="6096000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Goodwin et al. Nature Review Genetics, 2016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278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Comparison with 1</a:t>
            </a:r>
            <a:r>
              <a:rPr lang="en-US" baseline="30000" dirty="0" smtClean="0"/>
              <a:t>st</a:t>
            </a:r>
            <a:r>
              <a:rPr lang="en-US" dirty="0" smtClean="0"/>
              <a:t> generation sanger sequencing:</a:t>
            </a:r>
          </a:p>
          <a:p>
            <a:pPr lvl="1"/>
            <a:r>
              <a:rPr lang="en-US" dirty="0" smtClean="0"/>
              <a:t>The reads are shorter (but it is already in the hundreds of bps range)</a:t>
            </a:r>
          </a:p>
          <a:p>
            <a:pPr lvl="1"/>
            <a:r>
              <a:rPr lang="en-US" dirty="0" smtClean="0"/>
              <a:t>The throughput is way higher, enabling high throughput genomics profiling for DNA and RNA (</a:t>
            </a:r>
            <a:r>
              <a:rPr lang="en-US" dirty="0" err="1" smtClean="0"/>
              <a:t>DNASeq</a:t>
            </a:r>
            <a:r>
              <a:rPr lang="en-US" dirty="0" smtClean="0"/>
              <a:t> and </a:t>
            </a:r>
            <a:r>
              <a:rPr lang="en-US" dirty="0" err="1" smtClean="0"/>
              <a:t>RNASeq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861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 smtClean="0"/>
              <a:t>DNASeq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Whole genome, whole exome and targeted DNA sequencing</a:t>
            </a:r>
          </a:p>
          <a:p>
            <a:pPr lvl="1"/>
            <a:r>
              <a:rPr lang="en-US" dirty="0" smtClean="0"/>
              <a:t>genome assembly, population SNP, and mutation discovery</a:t>
            </a:r>
          </a:p>
          <a:p>
            <a:r>
              <a:rPr lang="en-US" dirty="0" smtClean="0"/>
              <a:t>CHIP-</a:t>
            </a:r>
            <a:r>
              <a:rPr lang="en-US" dirty="0" err="1" smtClean="0"/>
              <a:t>Seq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transcription factor binding sites</a:t>
            </a:r>
          </a:p>
          <a:p>
            <a:r>
              <a:rPr lang="en-US" dirty="0" smtClean="0"/>
              <a:t>Bisulfide </a:t>
            </a:r>
            <a:r>
              <a:rPr lang="en-US" dirty="0" err="1" smtClean="0"/>
              <a:t>seq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DNA methylation sequencing</a:t>
            </a:r>
          </a:p>
          <a:p>
            <a:r>
              <a:rPr lang="en-US" dirty="0" smtClean="0"/>
              <a:t>4C, </a:t>
            </a:r>
            <a:r>
              <a:rPr lang="en-US" dirty="0" err="1" smtClean="0"/>
              <a:t>HiC</a:t>
            </a:r>
            <a:r>
              <a:rPr lang="en-US" dirty="0" smtClean="0"/>
              <a:t>, </a:t>
            </a:r>
            <a:r>
              <a:rPr lang="en-US" dirty="0" err="1" smtClean="0"/>
              <a:t>ChIA</a:t>
            </a:r>
            <a:r>
              <a:rPr lang="en-US" dirty="0" smtClean="0"/>
              <a:t>-PET etc.: </a:t>
            </a:r>
          </a:p>
          <a:p>
            <a:pPr lvl="1"/>
            <a:r>
              <a:rPr lang="en-US" dirty="0" smtClean="0"/>
              <a:t>chromosomal 3D structures</a:t>
            </a:r>
            <a:endParaRPr lang="en-US" dirty="0"/>
          </a:p>
          <a:p>
            <a:r>
              <a:rPr lang="en-US" dirty="0" err="1" smtClean="0"/>
              <a:t>RNASeq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gene expression profiling</a:t>
            </a:r>
          </a:p>
          <a:p>
            <a:r>
              <a:rPr lang="en-US" dirty="0" smtClean="0"/>
              <a:t>CLIP-</a:t>
            </a:r>
            <a:r>
              <a:rPr lang="en-US" dirty="0" err="1" smtClean="0"/>
              <a:t>Seq</a:t>
            </a:r>
            <a:endParaRPr lang="en-US" dirty="0" smtClean="0"/>
          </a:p>
          <a:p>
            <a:pPr lvl="1"/>
            <a:r>
              <a:rPr lang="en-US" dirty="0" smtClean="0"/>
              <a:t>Ribonucleoprotein binding sites</a:t>
            </a:r>
          </a:p>
          <a:p>
            <a:r>
              <a:rPr lang="en-US" dirty="0" smtClean="0"/>
              <a:t>And many and many other 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73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DNASeq</a:t>
            </a:r>
            <a:r>
              <a:rPr lang="en-US" dirty="0" smtClean="0"/>
              <a:t> workflow</a:t>
            </a:r>
            <a:endParaRPr lang="en-US" dirty="0"/>
          </a:p>
        </p:txBody>
      </p:sp>
      <p:pic>
        <p:nvPicPr>
          <p:cNvPr id="16386" name="Picture 2" descr="Image result for NGS whole genome whole exome target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" y="1295400"/>
            <a:ext cx="7343775" cy="490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91000" y="6385442"/>
            <a:ext cx="458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Nayarisseri</a:t>
            </a:r>
            <a:r>
              <a:rPr lang="en-US" dirty="0" smtClean="0"/>
              <a:t> et al. Drug Invention Today, 2013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26720" y="6385442"/>
            <a:ext cx="262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Discover mutations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290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Differences among </a:t>
            </a:r>
            <a:r>
              <a:rPr lang="en-US" dirty="0" err="1" smtClean="0"/>
              <a:t>DNASeq</a:t>
            </a:r>
            <a:endParaRPr lang="en-US" dirty="0"/>
          </a:p>
        </p:txBody>
      </p:sp>
      <p:pic>
        <p:nvPicPr>
          <p:cNvPr id="17410" name="Picture 2" descr="Image result for NGS whole genome whole exome target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0"/>
            <a:ext cx="8847557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800600" y="6196429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http://www.genomixlab.com/human-genome-sequencing/#.W-5U6-hKiUk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371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Image result for CHIPSEQ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8600"/>
            <a:ext cx="7360920" cy="5520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191000" y="6248400"/>
            <a:ext cx="3867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https://slideplayer.com/slide/3385783/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0" y="624840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Find protein-binding sites in DNA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682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Bisulfide sequencing</a:t>
            </a:r>
            <a:endParaRPr lang="en-US" dirty="0"/>
          </a:p>
        </p:txBody>
      </p:sp>
      <p:pic>
        <p:nvPicPr>
          <p:cNvPr id="12292" name="Picture 4" descr="Image result for bisulfite sequenc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5400"/>
            <a:ext cx="7239000" cy="502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200400" y="6488668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http://www.nxt-dx.com/epigenetics/bisulfite-sequencing/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943600" y="3505200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Identify methylated  nucleotides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03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Chromosome conformation </a:t>
            </a:r>
            <a:r>
              <a:rPr lang="en-US" dirty="0" err="1" smtClean="0"/>
              <a:t>seq</a:t>
            </a:r>
            <a:endParaRPr lang="en-US" dirty="0"/>
          </a:p>
        </p:txBody>
      </p:sp>
      <p:pic>
        <p:nvPicPr>
          <p:cNvPr id="15362" name="Picture 2" descr="Image result for HiC-Se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" y="1449514"/>
            <a:ext cx="6781800" cy="540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010400" y="1905000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Different colors represent different chromosomes.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812280" y="5638800"/>
            <a:ext cx="23317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https://en.wikipedia.org/wiki/Chromosome_conformation_capture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010400" y="3352800"/>
            <a:ext cx="1981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These methods find regions of the genome that are close to each other spatially.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585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RNASeq</a:t>
            </a:r>
            <a:endParaRPr lang="en-US" dirty="0"/>
          </a:p>
        </p:txBody>
      </p:sp>
      <p:pic>
        <p:nvPicPr>
          <p:cNvPr id="14338" name="Picture 2" descr="https://upload.wikimedia.org/wikipedia/commons/thumb/9/97/Journal.pcbi.1004393.g002.png/1280px-Journal.pcbi.1004393.g00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47800"/>
            <a:ext cx="7772400" cy="451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561489" y="6096000"/>
            <a:ext cx="3837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https://en.wikipedia.org/wiki/RNA-Seq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6280666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Profile the expression of all genes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597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CLIP-</a:t>
            </a:r>
            <a:r>
              <a:rPr lang="en-US" dirty="0" err="1" smtClean="0"/>
              <a:t>Seq</a:t>
            </a:r>
            <a:endParaRPr lang="en-US" dirty="0"/>
          </a:p>
        </p:txBody>
      </p:sp>
      <p:pic>
        <p:nvPicPr>
          <p:cNvPr id="13314" name="Picture 2" descr="https://upload.wikimedia.org/wikipedia/commons/a/ae/HITS-CLI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599"/>
            <a:ext cx="8229600" cy="462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334000" y="6029444"/>
            <a:ext cx="34142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https://en.wikipedia.org/wiki/CLIP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62865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Identify protein binding sites in RNA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12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NGS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There are many applications of NGS in biology. 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Different NGS applications usually need different data analysis.</a:t>
            </a:r>
          </a:p>
          <a:p>
            <a:endParaRPr lang="en-US" dirty="0"/>
          </a:p>
          <a:p>
            <a:r>
              <a:rPr lang="en-US" dirty="0" smtClean="0"/>
              <a:t>Understanding the wet-lab aspects of NGS (such as the procedures in library preparation) is helpful for data analysis, results interpretation and trouble shooting.</a:t>
            </a:r>
          </a:p>
          <a:p>
            <a:endParaRPr lang="en-US" dirty="0"/>
          </a:p>
          <a:p>
            <a:r>
              <a:rPr lang="en-US" dirty="0" smtClean="0"/>
              <a:t>In future lectures, we will dive into NGS data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77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Long read sequencing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Real-time 3</a:t>
            </a:r>
            <a:r>
              <a:rPr lang="en-US" baseline="30000" dirty="0" smtClean="0"/>
              <a:t>rd</a:t>
            </a:r>
            <a:r>
              <a:rPr lang="en-US" dirty="0" smtClean="0"/>
              <a:t> generation sequencing (sometimes still being called NGS):</a:t>
            </a:r>
          </a:p>
          <a:p>
            <a:pPr lvl="1"/>
            <a:r>
              <a:rPr lang="en-US" dirty="0" err="1" smtClean="0"/>
              <a:t>Pacbio</a:t>
            </a:r>
            <a:endParaRPr lang="en-US" dirty="0" smtClean="0"/>
          </a:p>
          <a:p>
            <a:pPr lvl="1"/>
            <a:r>
              <a:rPr lang="en-US" dirty="0" smtClean="0"/>
              <a:t>Oxford </a:t>
            </a:r>
            <a:r>
              <a:rPr lang="en-US" dirty="0" err="1" smtClean="0"/>
              <a:t>nanopore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Synthetic long read sequencing using 2</a:t>
            </a:r>
            <a:r>
              <a:rPr lang="en-US" baseline="30000" dirty="0" smtClean="0"/>
              <a:t>nd</a:t>
            </a:r>
            <a:r>
              <a:rPr lang="en-US" dirty="0" smtClean="0"/>
              <a:t> generation sequencing (NGS) with barcodes:</a:t>
            </a:r>
          </a:p>
          <a:p>
            <a:pPr lvl="1"/>
            <a:r>
              <a:rPr lang="en-US" dirty="0" smtClean="0"/>
              <a:t>Illumina</a:t>
            </a:r>
          </a:p>
          <a:p>
            <a:pPr lvl="1"/>
            <a:r>
              <a:rPr lang="en-US" dirty="0" smtClean="0"/>
              <a:t>10X Genomics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145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Real-time long read sequencing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8248650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9090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Synthetic long read sequencing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1146810"/>
            <a:ext cx="8448675" cy="569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6682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Some applications of long read sequencing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Genomic phasing (genome haplotype)</a:t>
            </a:r>
          </a:p>
          <a:p>
            <a:r>
              <a:rPr lang="en-US" dirty="0" smtClean="0"/>
              <a:t>Complex structural variation detection</a:t>
            </a:r>
          </a:p>
          <a:p>
            <a:r>
              <a:rPr lang="en-US" dirty="0" smtClean="0"/>
              <a:t>Resolve genomic regions that are highly repetitive</a:t>
            </a:r>
          </a:p>
          <a:p>
            <a:r>
              <a:rPr lang="en-US" dirty="0" smtClean="0"/>
              <a:t>Immune receptor profiling</a:t>
            </a:r>
          </a:p>
          <a:p>
            <a:r>
              <a:rPr lang="en-US" dirty="0" smtClean="0"/>
              <a:t>Transcript isoform discovery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230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review papers cited in the slides are provided as pdfs.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92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The development of NGS has speeded up high throughput genomics profiling.</a:t>
            </a:r>
          </a:p>
          <a:p>
            <a:endParaRPr lang="en-US" dirty="0"/>
          </a:p>
          <a:p>
            <a:r>
              <a:rPr lang="en-US" dirty="0" smtClean="0"/>
              <a:t>There are many applications of NGS, including various kinds of applications in </a:t>
            </a:r>
            <a:r>
              <a:rPr lang="en-US" dirty="0" err="1" smtClean="0"/>
              <a:t>DNASeq</a:t>
            </a:r>
            <a:r>
              <a:rPr lang="en-US" dirty="0" smtClean="0"/>
              <a:t> and </a:t>
            </a:r>
            <a:r>
              <a:rPr lang="en-US" dirty="0" err="1" smtClean="0"/>
              <a:t>RNASeq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There are several long read sequencing technologies that are making progresses (although far from being satisfactory).</a:t>
            </a:r>
          </a:p>
          <a:p>
            <a:endParaRPr lang="en-US" dirty="0"/>
          </a:p>
          <a:p>
            <a:r>
              <a:rPr lang="en-US" dirty="0" smtClean="0"/>
              <a:t>An emerging sub-field among NGS is single cell sequencing, which will be covered in future lectures.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032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648</Words>
  <Application>Microsoft Office PowerPoint</Application>
  <PresentationFormat>On-screen Show (4:3)</PresentationFormat>
  <Paragraphs>117</Paragraphs>
  <Slides>27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Biological Sequence Analysis</vt:lpstr>
      <vt:lpstr>Outline</vt:lpstr>
      <vt:lpstr>First generation sequencing</vt:lpstr>
      <vt:lpstr>NGS DNA sequencing parallelized amplifications</vt:lpstr>
      <vt:lpstr>Development of high-throughput sequencing</vt:lpstr>
      <vt:lpstr>Two types of NGS sequencing</vt:lpstr>
      <vt:lpstr>SOLiD (Thermo Fisher)</vt:lpstr>
      <vt:lpstr>Complete Genomics (BGI)</vt:lpstr>
      <vt:lpstr>454 Pyrosequencing (Roche)</vt:lpstr>
      <vt:lpstr>Ion Torrent (Thermo Fisher)</vt:lpstr>
      <vt:lpstr>Illumina</vt:lpstr>
      <vt:lpstr>NGS</vt:lpstr>
      <vt:lpstr>Applications of NGS</vt:lpstr>
      <vt:lpstr>DNASeq workflow</vt:lpstr>
      <vt:lpstr>Differences among DNASeq</vt:lpstr>
      <vt:lpstr>PowerPoint Presentation</vt:lpstr>
      <vt:lpstr>Bisulfide sequencing</vt:lpstr>
      <vt:lpstr>Chromosome conformation seq</vt:lpstr>
      <vt:lpstr>RNASeq</vt:lpstr>
      <vt:lpstr>CLIP-Seq</vt:lpstr>
      <vt:lpstr>NGS applications</vt:lpstr>
      <vt:lpstr>Long read sequencing</vt:lpstr>
      <vt:lpstr>Real-time long read sequencing</vt:lpstr>
      <vt:lpstr>Synthetic long read sequencing</vt:lpstr>
      <vt:lpstr>Some applications of long read sequencing</vt:lpstr>
      <vt:lpstr>Resources</vt:lpstr>
      <vt:lpstr>Summary</vt:lpstr>
    </vt:vector>
  </TitlesOfParts>
  <Company>Eisai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17</cp:revision>
  <dcterms:created xsi:type="dcterms:W3CDTF">2018-11-16T03:18:54Z</dcterms:created>
  <dcterms:modified xsi:type="dcterms:W3CDTF">2018-11-18T02:17:08Z</dcterms:modified>
</cp:coreProperties>
</file>