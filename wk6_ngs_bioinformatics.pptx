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2" r:id="rId5"/>
    <p:sldId id="264" r:id="rId6"/>
    <p:sldId id="263" r:id="rId7"/>
    <p:sldId id="266" r:id="rId8"/>
    <p:sldId id="270" r:id="rId9"/>
    <p:sldId id="271" r:id="rId10"/>
    <p:sldId id="272" r:id="rId11"/>
    <p:sldId id="276" r:id="rId12"/>
    <p:sldId id="278" r:id="rId13"/>
    <p:sldId id="277" r:id="rId14"/>
    <p:sldId id="273" r:id="rId15"/>
    <p:sldId id="279" r:id="rId16"/>
    <p:sldId id="280" r:id="rId17"/>
    <p:sldId id="281" r:id="rId18"/>
    <p:sldId id="274" r:id="rId19"/>
    <p:sldId id="286" r:id="rId20"/>
    <p:sldId id="285" r:id="rId21"/>
    <p:sldId id="283" r:id="rId22"/>
    <p:sldId id="275" r:id="rId23"/>
    <p:sldId id="294" r:id="rId24"/>
    <p:sldId id="287" r:id="rId25"/>
    <p:sldId id="265" r:id="rId26"/>
    <p:sldId id="290" r:id="rId27"/>
    <p:sldId id="291" r:id="rId28"/>
    <p:sldId id="289" r:id="rId29"/>
    <p:sldId id="292" r:id="rId30"/>
    <p:sldId id="282" r:id="rId31"/>
    <p:sldId id="293" r:id="rId32"/>
    <p:sldId id="288"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4660"/>
  </p:normalViewPr>
  <p:slideViewPr>
    <p:cSldViewPr>
      <p:cViewPr varScale="1">
        <p:scale>
          <a:sx n="62" d="100"/>
          <a:sy n="62" d="100"/>
        </p:scale>
        <p:origin x="-90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627C47C-0955-42F2-8C67-FDBF359A5D0C}" type="datetimeFigureOut">
              <a:rPr lang="en-US" smtClean="0"/>
              <a:t>11/26/2018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F9099-3047-4E69-BF9F-7754E092AF65}" type="slidenum">
              <a:rPr lang="en-US" smtClean="0"/>
              <a:t>‹#›</a:t>
            </a:fld>
            <a:endParaRPr lang="en-US"/>
          </a:p>
        </p:txBody>
      </p:sp>
    </p:spTree>
    <p:extLst>
      <p:ext uri="{BB962C8B-B14F-4D97-AF65-F5344CB8AC3E}">
        <p14:creationId xmlns:p14="http://schemas.microsoft.com/office/powerpoint/2010/main" val="2066993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27C47C-0955-42F2-8C67-FDBF359A5D0C}" type="datetimeFigureOut">
              <a:rPr lang="en-US" smtClean="0"/>
              <a:t>11/26/2018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F9099-3047-4E69-BF9F-7754E092AF65}" type="slidenum">
              <a:rPr lang="en-US" smtClean="0"/>
              <a:t>‹#›</a:t>
            </a:fld>
            <a:endParaRPr lang="en-US"/>
          </a:p>
        </p:txBody>
      </p:sp>
    </p:spTree>
    <p:extLst>
      <p:ext uri="{BB962C8B-B14F-4D97-AF65-F5344CB8AC3E}">
        <p14:creationId xmlns:p14="http://schemas.microsoft.com/office/powerpoint/2010/main" val="3422782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27C47C-0955-42F2-8C67-FDBF359A5D0C}" type="datetimeFigureOut">
              <a:rPr lang="en-US" smtClean="0"/>
              <a:t>11/26/2018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F9099-3047-4E69-BF9F-7754E092AF65}" type="slidenum">
              <a:rPr lang="en-US" smtClean="0"/>
              <a:t>‹#›</a:t>
            </a:fld>
            <a:endParaRPr lang="en-US"/>
          </a:p>
        </p:txBody>
      </p:sp>
    </p:spTree>
    <p:extLst>
      <p:ext uri="{BB962C8B-B14F-4D97-AF65-F5344CB8AC3E}">
        <p14:creationId xmlns:p14="http://schemas.microsoft.com/office/powerpoint/2010/main" val="3928543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627C47C-0955-42F2-8C67-FDBF359A5D0C}" type="datetimeFigureOut">
              <a:rPr lang="en-US" smtClean="0"/>
              <a:t>11/26/2018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F9099-3047-4E69-BF9F-7754E092AF65}" type="slidenum">
              <a:rPr lang="en-US" smtClean="0"/>
              <a:t>‹#›</a:t>
            </a:fld>
            <a:endParaRPr lang="en-US"/>
          </a:p>
        </p:txBody>
      </p:sp>
    </p:spTree>
    <p:extLst>
      <p:ext uri="{BB962C8B-B14F-4D97-AF65-F5344CB8AC3E}">
        <p14:creationId xmlns:p14="http://schemas.microsoft.com/office/powerpoint/2010/main" val="3312849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627C47C-0955-42F2-8C67-FDBF359A5D0C}" type="datetimeFigureOut">
              <a:rPr lang="en-US" smtClean="0"/>
              <a:t>11/26/2018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EF9099-3047-4E69-BF9F-7754E092AF65}" type="slidenum">
              <a:rPr lang="en-US" smtClean="0"/>
              <a:t>‹#›</a:t>
            </a:fld>
            <a:endParaRPr lang="en-US"/>
          </a:p>
        </p:txBody>
      </p:sp>
    </p:spTree>
    <p:extLst>
      <p:ext uri="{BB962C8B-B14F-4D97-AF65-F5344CB8AC3E}">
        <p14:creationId xmlns:p14="http://schemas.microsoft.com/office/powerpoint/2010/main" val="3270686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27C47C-0955-42F2-8C67-FDBF359A5D0C}" type="datetimeFigureOut">
              <a:rPr lang="en-US" smtClean="0"/>
              <a:t>11/26/2018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EF9099-3047-4E69-BF9F-7754E092AF65}" type="slidenum">
              <a:rPr lang="en-US" smtClean="0"/>
              <a:t>‹#›</a:t>
            </a:fld>
            <a:endParaRPr lang="en-US"/>
          </a:p>
        </p:txBody>
      </p:sp>
    </p:spTree>
    <p:extLst>
      <p:ext uri="{BB962C8B-B14F-4D97-AF65-F5344CB8AC3E}">
        <p14:creationId xmlns:p14="http://schemas.microsoft.com/office/powerpoint/2010/main" val="1008104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27C47C-0955-42F2-8C67-FDBF359A5D0C}" type="datetimeFigureOut">
              <a:rPr lang="en-US" smtClean="0"/>
              <a:t>11/26/2018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EF9099-3047-4E69-BF9F-7754E092AF65}" type="slidenum">
              <a:rPr lang="en-US" smtClean="0"/>
              <a:t>‹#›</a:t>
            </a:fld>
            <a:endParaRPr lang="en-US"/>
          </a:p>
        </p:txBody>
      </p:sp>
    </p:spTree>
    <p:extLst>
      <p:ext uri="{BB962C8B-B14F-4D97-AF65-F5344CB8AC3E}">
        <p14:creationId xmlns:p14="http://schemas.microsoft.com/office/powerpoint/2010/main" val="1318800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27C47C-0955-42F2-8C67-FDBF359A5D0C}" type="datetimeFigureOut">
              <a:rPr lang="en-US" smtClean="0"/>
              <a:t>11/26/2018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F9099-3047-4E69-BF9F-7754E092AF65}" type="slidenum">
              <a:rPr lang="en-US" smtClean="0"/>
              <a:t>‹#›</a:t>
            </a:fld>
            <a:endParaRPr lang="en-US"/>
          </a:p>
        </p:txBody>
      </p:sp>
    </p:spTree>
    <p:extLst>
      <p:ext uri="{BB962C8B-B14F-4D97-AF65-F5344CB8AC3E}">
        <p14:creationId xmlns:p14="http://schemas.microsoft.com/office/powerpoint/2010/main" val="1350933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27C47C-0955-42F2-8C67-FDBF359A5D0C}" type="datetimeFigureOut">
              <a:rPr lang="en-US" smtClean="0"/>
              <a:t>11/26/2018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F9099-3047-4E69-BF9F-7754E092AF65}" type="slidenum">
              <a:rPr lang="en-US" smtClean="0"/>
              <a:t>‹#›</a:t>
            </a:fld>
            <a:endParaRPr lang="en-US"/>
          </a:p>
        </p:txBody>
      </p:sp>
    </p:spTree>
    <p:extLst>
      <p:ext uri="{BB962C8B-B14F-4D97-AF65-F5344CB8AC3E}">
        <p14:creationId xmlns:p14="http://schemas.microsoft.com/office/powerpoint/2010/main" val="1194053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27C47C-0955-42F2-8C67-FDBF359A5D0C}" type="datetimeFigureOut">
              <a:rPr lang="en-US" smtClean="0"/>
              <a:t>11/26/2018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F9099-3047-4E69-BF9F-7754E092AF65}" type="slidenum">
              <a:rPr lang="en-US" smtClean="0"/>
              <a:t>‹#›</a:t>
            </a:fld>
            <a:endParaRPr lang="en-US"/>
          </a:p>
        </p:txBody>
      </p:sp>
    </p:spTree>
    <p:extLst>
      <p:ext uri="{BB962C8B-B14F-4D97-AF65-F5344CB8AC3E}">
        <p14:creationId xmlns:p14="http://schemas.microsoft.com/office/powerpoint/2010/main" val="3792928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27C47C-0955-42F2-8C67-FDBF359A5D0C}" type="datetimeFigureOut">
              <a:rPr lang="en-US" smtClean="0"/>
              <a:t>11/26/2018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F9099-3047-4E69-BF9F-7754E092AF65}" type="slidenum">
              <a:rPr lang="en-US" smtClean="0"/>
              <a:t>‹#›</a:t>
            </a:fld>
            <a:endParaRPr lang="en-US"/>
          </a:p>
        </p:txBody>
      </p:sp>
    </p:spTree>
    <p:extLst>
      <p:ext uri="{BB962C8B-B14F-4D97-AF65-F5344CB8AC3E}">
        <p14:creationId xmlns:p14="http://schemas.microsoft.com/office/powerpoint/2010/main" val="2088133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27C47C-0955-42F2-8C67-FDBF359A5D0C}" type="datetimeFigureOut">
              <a:rPr lang="en-US" smtClean="0"/>
              <a:t>11/26/2018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EF9099-3047-4E69-BF9F-7754E092AF65}" type="slidenum">
              <a:rPr lang="en-US" smtClean="0"/>
              <a:t>‹#›</a:t>
            </a:fld>
            <a:endParaRPr lang="en-US"/>
          </a:p>
        </p:txBody>
      </p:sp>
    </p:spTree>
    <p:extLst>
      <p:ext uri="{BB962C8B-B14F-4D97-AF65-F5344CB8AC3E}">
        <p14:creationId xmlns:p14="http://schemas.microsoft.com/office/powerpoint/2010/main" val="2318629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en.wikipedia.org/wiki/FASTQ_format#Quality"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Biological Sequence Analysis</a:t>
            </a:r>
            <a:endParaRPr lang="en-US" dirty="0"/>
          </a:p>
        </p:txBody>
      </p:sp>
      <p:sp>
        <p:nvSpPr>
          <p:cNvPr id="3" name="Subtitle 2"/>
          <p:cNvSpPr>
            <a:spLocks noGrp="1"/>
          </p:cNvSpPr>
          <p:nvPr>
            <p:ph type="subTitle" idx="1"/>
          </p:nvPr>
        </p:nvSpPr>
        <p:spPr/>
        <p:txBody>
          <a:bodyPr/>
          <a:lstStyle/>
          <a:p>
            <a:r>
              <a:rPr lang="en-US" dirty="0" smtClean="0"/>
              <a:t>NGS Bioinformatics: </a:t>
            </a:r>
            <a:r>
              <a:rPr lang="en-US" dirty="0" smtClean="0"/>
              <a:t>workflow</a:t>
            </a:r>
            <a:r>
              <a:rPr lang="en-US" dirty="0" smtClean="0"/>
              <a:t>s</a:t>
            </a:r>
            <a:r>
              <a:rPr lang="en-US" dirty="0" smtClean="0"/>
              <a:t>, file formats and tools</a:t>
            </a:r>
            <a:endParaRPr lang="en-US" dirty="0"/>
          </a:p>
        </p:txBody>
      </p:sp>
    </p:spTree>
    <p:extLst>
      <p:ext uri="{BB962C8B-B14F-4D97-AF65-F5344CB8AC3E}">
        <p14:creationId xmlns:p14="http://schemas.microsoft.com/office/powerpoint/2010/main" val="60672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NGS applications and data analysis (alignment-based)</a:t>
            </a:r>
          </a:p>
          <a:p>
            <a:pPr lvl="1"/>
            <a:r>
              <a:rPr lang="en-US" dirty="0" smtClean="0"/>
              <a:t>Genotyping, DNA-</a:t>
            </a:r>
            <a:r>
              <a:rPr lang="en-US" dirty="0" err="1" smtClean="0"/>
              <a:t>Seq</a:t>
            </a:r>
            <a:r>
              <a:rPr lang="en-US" dirty="0" smtClean="0"/>
              <a:t>, RNA-</a:t>
            </a:r>
            <a:r>
              <a:rPr lang="en-US" dirty="0" err="1" smtClean="0"/>
              <a:t>Seq</a:t>
            </a:r>
            <a:r>
              <a:rPr lang="en-US" dirty="0" smtClean="0"/>
              <a:t>, CHIP-</a:t>
            </a:r>
            <a:r>
              <a:rPr lang="en-US" dirty="0" err="1" smtClean="0"/>
              <a:t>Seq</a:t>
            </a:r>
            <a:r>
              <a:rPr lang="en-US" dirty="0" smtClean="0"/>
              <a:t>, etc.</a:t>
            </a:r>
          </a:p>
          <a:p>
            <a:endParaRPr lang="en-US" dirty="0" smtClean="0"/>
          </a:p>
          <a:p>
            <a:r>
              <a:rPr lang="en-US" dirty="0" smtClean="0"/>
              <a:t>Data formats</a:t>
            </a:r>
          </a:p>
          <a:p>
            <a:pPr lvl="1"/>
            <a:r>
              <a:rPr lang="en-US" dirty="0" smtClean="0"/>
              <a:t>FASTA, FASTQ, BAM, BAI, BED</a:t>
            </a:r>
          </a:p>
          <a:p>
            <a:endParaRPr lang="en-US" dirty="0" smtClean="0"/>
          </a:p>
          <a:p>
            <a:r>
              <a:rPr lang="en-US" dirty="0" smtClean="0"/>
              <a:t>Tools:</a:t>
            </a:r>
          </a:p>
          <a:p>
            <a:pPr lvl="1"/>
            <a:r>
              <a:rPr lang="en-US" dirty="0" smtClean="0"/>
              <a:t>Sequence alignment, Mutation calling, Differential gene expression, Peak calling, Visualization </a:t>
            </a:r>
            <a:endParaRPr lang="en-US" dirty="0"/>
          </a:p>
        </p:txBody>
      </p:sp>
    </p:spTree>
    <p:extLst>
      <p:ext uri="{BB962C8B-B14F-4D97-AF65-F5344CB8AC3E}">
        <p14:creationId xmlns:p14="http://schemas.microsoft.com/office/powerpoint/2010/main" val="21569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 step in NGS analysis</a:t>
            </a:r>
            <a:endParaRPr lang="en-US" dirty="0"/>
          </a:p>
        </p:txBody>
      </p:sp>
      <p:sp>
        <p:nvSpPr>
          <p:cNvPr id="3" name="Content Placeholder 2"/>
          <p:cNvSpPr>
            <a:spLocks noGrp="1"/>
          </p:cNvSpPr>
          <p:nvPr>
            <p:ph idx="1"/>
          </p:nvPr>
        </p:nvSpPr>
        <p:spPr>
          <a:xfrm>
            <a:off x="457200" y="1143000"/>
            <a:ext cx="8229600" cy="4525963"/>
          </a:xfrm>
        </p:spPr>
        <p:txBody>
          <a:bodyPr/>
          <a:lstStyle/>
          <a:p>
            <a:r>
              <a:rPr lang="en-US" dirty="0" smtClean="0"/>
              <a:t>Sequence alignment</a:t>
            </a:r>
          </a:p>
          <a:p>
            <a:pPr lvl="1"/>
            <a:r>
              <a:rPr lang="en-US" dirty="0"/>
              <a:t>M</a:t>
            </a:r>
            <a:r>
              <a:rPr lang="en-US" dirty="0" smtClean="0"/>
              <a:t>ap every NGS read to a reference genome/transcriptome</a:t>
            </a:r>
          </a:p>
          <a:p>
            <a:pPr marL="457200" lvl="1" indent="0">
              <a:buNone/>
            </a:pPr>
            <a:endParaRPr lang="en-US" dirty="0" smtClean="0"/>
          </a:p>
          <a:p>
            <a:pPr marL="457200" lvl="1" indent="0">
              <a:buNone/>
            </a:pPr>
            <a:r>
              <a:rPr lang="en-US" dirty="0" smtClean="0"/>
              <a:t> </a:t>
            </a:r>
            <a:endParaRPr lang="en-US" dirty="0"/>
          </a:p>
          <a:p>
            <a:endParaRPr lang="en-US" dirty="0" smtClean="0"/>
          </a:p>
          <a:p>
            <a:r>
              <a:rPr lang="en-US" dirty="0" smtClean="0"/>
              <a:t>Sequence assembly</a:t>
            </a:r>
          </a:p>
          <a:p>
            <a:pPr lvl="1"/>
            <a:r>
              <a:rPr lang="en-US" dirty="0" smtClean="0"/>
              <a:t>Assemble all NGS reads into </a:t>
            </a:r>
            <a:r>
              <a:rPr lang="en-US" dirty="0" err="1" smtClean="0"/>
              <a:t>contigs</a:t>
            </a:r>
            <a:endParaRPr lang="en-US" dirty="0"/>
          </a:p>
        </p:txBody>
      </p:sp>
      <p:grpSp>
        <p:nvGrpSpPr>
          <p:cNvPr id="32" name="Group 31"/>
          <p:cNvGrpSpPr/>
          <p:nvPr/>
        </p:nvGrpSpPr>
        <p:grpSpPr>
          <a:xfrm>
            <a:off x="1493520" y="2971800"/>
            <a:ext cx="7513320" cy="1289566"/>
            <a:chOff x="1493520" y="2971800"/>
            <a:chExt cx="7513320" cy="1289566"/>
          </a:xfrm>
        </p:grpSpPr>
        <p:sp>
          <p:nvSpPr>
            <p:cNvPr id="4" name="Rectangle 3"/>
            <p:cNvSpPr/>
            <p:nvPr/>
          </p:nvSpPr>
          <p:spPr>
            <a:xfrm>
              <a:off x="1493520" y="3962400"/>
              <a:ext cx="61722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848600" y="3892034"/>
              <a:ext cx="1158240" cy="369332"/>
            </a:xfrm>
            <a:prstGeom prst="rect">
              <a:avLst/>
            </a:prstGeom>
            <a:noFill/>
          </p:spPr>
          <p:txBody>
            <a:bodyPr wrap="square" rtlCol="0">
              <a:spAutoFit/>
            </a:bodyPr>
            <a:lstStyle/>
            <a:p>
              <a:r>
                <a:rPr lang="en-US" dirty="0" smtClean="0">
                  <a:solidFill>
                    <a:schemeClr val="tx2"/>
                  </a:solidFill>
                </a:rPr>
                <a:t>Reference</a:t>
              </a:r>
              <a:endParaRPr lang="en-US" dirty="0">
                <a:solidFill>
                  <a:schemeClr val="tx2"/>
                </a:solidFill>
              </a:endParaRPr>
            </a:p>
          </p:txBody>
        </p:sp>
        <p:sp>
          <p:nvSpPr>
            <p:cNvPr id="6" name="Rectangle 5"/>
            <p:cNvSpPr/>
            <p:nvPr/>
          </p:nvSpPr>
          <p:spPr>
            <a:xfrm>
              <a:off x="2286000" y="3048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Rectangle 7"/>
            <p:cNvSpPr/>
            <p:nvPr/>
          </p:nvSpPr>
          <p:spPr>
            <a:xfrm>
              <a:off x="2438400" y="32766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9" name="Rectangle 8"/>
            <p:cNvSpPr/>
            <p:nvPr/>
          </p:nvSpPr>
          <p:spPr>
            <a:xfrm>
              <a:off x="2133600" y="35052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0" name="Rectangle 9"/>
            <p:cNvSpPr/>
            <p:nvPr/>
          </p:nvSpPr>
          <p:spPr>
            <a:xfrm>
              <a:off x="2362200" y="3733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1" name="Rectangle 10"/>
            <p:cNvSpPr/>
            <p:nvPr/>
          </p:nvSpPr>
          <p:spPr>
            <a:xfrm>
              <a:off x="3886200" y="3429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2" name="Rectangle 11"/>
            <p:cNvSpPr/>
            <p:nvPr/>
          </p:nvSpPr>
          <p:spPr>
            <a:xfrm>
              <a:off x="4038600" y="32004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3" name="Rectangle 12"/>
            <p:cNvSpPr/>
            <p:nvPr/>
          </p:nvSpPr>
          <p:spPr>
            <a:xfrm>
              <a:off x="4038600" y="2971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4" name="Rectangle 13"/>
            <p:cNvSpPr/>
            <p:nvPr/>
          </p:nvSpPr>
          <p:spPr>
            <a:xfrm>
              <a:off x="3733800" y="3733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7" name="TextBox 16"/>
            <p:cNvSpPr txBox="1"/>
            <p:nvPr/>
          </p:nvSpPr>
          <p:spPr>
            <a:xfrm>
              <a:off x="7848600" y="3200400"/>
              <a:ext cx="1158240" cy="646331"/>
            </a:xfrm>
            <a:prstGeom prst="rect">
              <a:avLst/>
            </a:prstGeom>
            <a:noFill/>
          </p:spPr>
          <p:txBody>
            <a:bodyPr wrap="square" rtlCol="0">
              <a:spAutoFit/>
            </a:bodyPr>
            <a:lstStyle/>
            <a:p>
              <a:r>
                <a:rPr lang="en-US" dirty="0" smtClean="0">
                  <a:solidFill>
                    <a:srgbClr val="C00000"/>
                  </a:solidFill>
                </a:rPr>
                <a:t>Mapped</a:t>
              </a:r>
              <a:r>
                <a:rPr lang="en-US" dirty="0" smtClean="0"/>
                <a:t> Reads</a:t>
              </a:r>
              <a:endParaRPr lang="en-US" dirty="0"/>
            </a:p>
          </p:txBody>
        </p:sp>
      </p:grpSp>
      <p:sp>
        <p:nvSpPr>
          <p:cNvPr id="18" name="Rectangle 17"/>
          <p:cNvSpPr/>
          <p:nvPr/>
        </p:nvSpPr>
        <p:spPr>
          <a:xfrm>
            <a:off x="2118360" y="54102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9" name="Rectangle 18"/>
          <p:cNvSpPr/>
          <p:nvPr/>
        </p:nvSpPr>
        <p:spPr>
          <a:xfrm>
            <a:off x="2270760" y="5638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0" name="Rectangle 19"/>
          <p:cNvSpPr/>
          <p:nvPr/>
        </p:nvSpPr>
        <p:spPr>
          <a:xfrm>
            <a:off x="1965960" y="58674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1" name="Rectangle 20"/>
          <p:cNvSpPr/>
          <p:nvPr/>
        </p:nvSpPr>
        <p:spPr>
          <a:xfrm>
            <a:off x="2194560" y="6096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2" name="Rectangle 21"/>
          <p:cNvSpPr/>
          <p:nvPr/>
        </p:nvSpPr>
        <p:spPr>
          <a:xfrm>
            <a:off x="3718560" y="57912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3" name="Rectangle 22"/>
          <p:cNvSpPr/>
          <p:nvPr/>
        </p:nvSpPr>
        <p:spPr>
          <a:xfrm>
            <a:off x="3870960" y="55626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4" name="Rectangle 23"/>
          <p:cNvSpPr/>
          <p:nvPr/>
        </p:nvSpPr>
        <p:spPr>
          <a:xfrm>
            <a:off x="3870960" y="5334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5" name="Rectangle 24"/>
          <p:cNvSpPr/>
          <p:nvPr/>
        </p:nvSpPr>
        <p:spPr>
          <a:xfrm>
            <a:off x="3566160" y="6096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6" name="Rectangle 25"/>
          <p:cNvSpPr/>
          <p:nvPr/>
        </p:nvSpPr>
        <p:spPr>
          <a:xfrm>
            <a:off x="3581400" y="6629400"/>
            <a:ext cx="899160" cy="152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8" name="TextBox 27"/>
          <p:cNvSpPr txBox="1"/>
          <p:nvPr/>
        </p:nvSpPr>
        <p:spPr>
          <a:xfrm>
            <a:off x="7802880" y="5715000"/>
            <a:ext cx="1158240" cy="369332"/>
          </a:xfrm>
          <a:prstGeom prst="rect">
            <a:avLst/>
          </a:prstGeom>
          <a:noFill/>
        </p:spPr>
        <p:txBody>
          <a:bodyPr wrap="square" rtlCol="0">
            <a:spAutoFit/>
          </a:bodyPr>
          <a:lstStyle/>
          <a:p>
            <a:r>
              <a:rPr lang="en-US" dirty="0" smtClean="0">
                <a:solidFill>
                  <a:srgbClr val="C00000"/>
                </a:solidFill>
              </a:rPr>
              <a:t>Reads</a:t>
            </a:r>
            <a:endParaRPr lang="en-US" dirty="0">
              <a:solidFill>
                <a:srgbClr val="C00000"/>
              </a:solidFill>
            </a:endParaRPr>
          </a:p>
        </p:txBody>
      </p:sp>
      <p:sp>
        <p:nvSpPr>
          <p:cNvPr id="29" name="Rectangle 28"/>
          <p:cNvSpPr/>
          <p:nvPr/>
        </p:nvSpPr>
        <p:spPr>
          <a:xfrm>
            <a:off x="1965960" y="6629400"/>
            <a:ext cx="899160" cy="152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1" name="TextBox 30"/>
          <p:cNvSpPr txBox="1"/>
          <p:nvPr/>
        </p:nvSpPr>
        <p:spPr>
          <a:xfrm>
            <a:off x="7421880" y="6248400"/>
            <a:ext cx="1722120" cy="646331"/>
          </a:xfrm>
          <a:prstGeom prst="rect">
            <a:avLst/>
          </a:prstGeom>
          <a:noFill/>
        </p:spPr>
        <p:txBody>
          <a:bodyPr wrap="square" rtlCol="0">
            <a:spAutoFit/>
          </a:bodyPr>
          <a:lstStyle/>
          <a:p>
            <a:r>
              <a:rPr lang="en-US" dirty="0" smtClean="0">
                <a:solidFill>
                  <a:schemeClr val="tx2"/>
                </a:solidFill>
              </a:rPr>
              <a:t>Assembled </a:t>
            </a:r>
            <a:r>
              <a:rPr lang="en-US" dirty="0" err="1" smtClean="0">
                <a:solidFill>
                  <a:schemeClr val="tx2"/>
                </a:solidFill>
              </a:rPr>
              <a:t>contig</a:t>
            </a:r>
            <a:endParaRPr lang="en-US" dirty="0">
              <a:solidFill>
                <a:schemeClr val="tx2"/>
              </a:solidFill>
            </a:endParaRPr>
          </a:p>
        </p:txBody>
      </p:sp>
    </p:spTree>
    <p:extLst>
      <p:ext uri="{BB962C8B-B14F-4D97-AF65-F5344CB8AC3E}">
        <p14:creationId xmlns:p14="http://schemas.microsoft.com/office/powerpoint/2010/main" val="2913511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Applications following alignment of NGS reads: genotyping by DNA-</a:t>
            </a:r>
            <a:r>
              <a:rPr lang="en-US" dirty="0" err="1" smtClean="0"/>
              <a:t>Seq</a:t>
            </a:r>
            <a:endParaRPr lang="en-US" dirty="0"/>
          </a:p>
        </p:txBody>
      </p:sp>
      <p:grpSp>
        <p:nvGrpSpPr>
          <p:cNvPr id="4" name="Group 3"/>
          <p:cNvGrpSpPr/>
          <p:nvPr/>
        </p:nvGrpSpPr>
        <p:grpSpPr>
          <a:xfrm>
            <a:off x="822960" y="2078474"/>
            <a:ext cx="7513320" cy="1289566"/>
            <a:chOff x="1493520" y="2971800"/>
            <a:chExt cx="7513320" cy="1289566"/>
          </a:xfrm>
        </p:grpSpPr>
        <p:sp>
          <p:nvSpPr>
            <p:cNvPr id="5" name="Rectangle 4"/>
            <p:cNvSpPr/>
            <p:nvPr/>
          </p:nvSpPr>
          <p:spPr>
            <a:xfrm>
              <a:off x="1493520" y="3962400"/>
              <a:ext cx="61722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848600" y="3892034"/>
              <a:ext cx="1158240" cy="369332"/>
            </a:xfrm>
            <a:prstGeom prst="rect">
              <a:avLst/>
            </a:prstGeom>
            <a:noFill/>
          </p:spPr>
          <p:txBody>
            <a:bodyPr wrap="square" rtlCol="0">
              <a:spAutoFit/>
            </a:bodyPr>
            <a:lstStyle/>
            <a:p>
              <a:r>
                <a:rPr lang="en-US" dirty="0" smtClean="0">
                  <a:solidFill>
                    <a:schemeClr val="tx2"/>
                  </a:solidFill>
                </a:rPr>
                <a:t>Reference</a:t>
              </a:r>
              <a:endParaRPr lang="en-US" dirty="0">
                <a:solidFill>
                  <a:schemeClr val="tx2"/>
                </a:solidFill>
              </a:endParaRPr>
            </a:p>
          </p:txBody>
        </p:sp>
        <p:sp>
          <p:nvSpPr>
            <p:cNvPr id="7" name="Rectangle 6"/>
            <p:cNvSpPr/>
            <p:nvPr/>
          </p:nvSpPr>
          <p:spPr>
            <a:xfrm>
              <a:off x="2286000" y="3048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Rectangle 7"/>
            <p:cNvSpPr/>
            <p:nvPr/>
          </p:nvSpPr>
          <p:spPr>
            <a:xfrm>
              <a:off x="2438400" y="32766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9" name="Rectangle 8"/>
            <p:cNvSpPr/>
            <p:nvPr/>
          </p:nvSpPr>
          <p:spPr>
            <a:xfrm>
              <a:off x="2133600" y="35052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0" name="Rectangle 9"/>
            <p:cNvSpPr/>
            <p:nvPr/>
          </p:nvSpPr>
          <p:spPr>
            <a:xfrm>
              <a:off x="2362200" y="3733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1" name="Rectangle 10"/>
            <p:cNvSpPr/>
            <p:nvPr/>
          </p:nvSpPr>
          <p:spPr>
            <a:xfrm>
              <a:off x="3886200" y="3429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2" name="Rectangle 11"/>
            <p:cNvSpPr/>
            <p:nvPr/>
          </p:nvSpPr>
          <p:spPr>
            <a:xfrm>
              <a:off x="4038600" y="32004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3" name="Rectangle 12"/>
            <p:cNvSpPr/>
            <p:nvPr/>
          </p:nvSpPr>
          <p:spPr>
            <a:xfrm>
              <a:off x="4038600" y="2971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4" name="Rectangle 13"/>
            <p:cNvSpPr/>
            <p:nvPr/>
          </p:nvSpPr>
          <p:spPr>
            <a:xfrm>
              <a:off x="3733800" y="3733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5" name="TextBox 14"/>
            <p:cNvSpPr txBox="1"/>
            <p:nvPr/>
          </p:nvSpPr>
          <p:spPr>
            <a:xfrm>
              <a:off x="7848600" y="3200400"/>
              <a:ext cx="1158240" cy="646331"/>
            </a:xfrm>
            <a:prstGeom prst="rect">
              <a:avLst/>
            </a:prstGeom>
            <a:noFill/>
          </p:spPr>
          <p:txBody>
            <a:bodyPr wrap="square" rtlCol="0">
              <a:spAutoFit/>
            </a:bodyPr>
            <a:lstStyle/>
            <a:p>
              <a:r>
                <a:rPr lang="en-US" dirty="0" smtClean="0">
                  <a:solidFill>
                    <a:srgbClr val="C00000"/>
                  </a:solidFill>
                </a:rPr>
                <a:t>Mapped</a:t>
              </a:r>
              <a:r>
                <a:rPr lang="en-US" dirty="0" smtClean="0"/>
                <a:t> Reads</a:t>
              </a:r>
              <a:endParaRPr lang="en-US" dirty="0"/>
            </a:p>
          </p:txBody>
        </p:sp>
      </p:grpSp>
      <p:sp>
        <p:nvSpPr>
          <p:cNvPr id="17" name="TextBox 16"/>
          <p:cNvSpPr txBox="1"/>
          <p:nvPr/>
        </p:nvSpPr>
        <p:spPr>
          <a:xfrm>
            <a:off x="533400" y="1981200"/>
            <a:ext cx="1066800" cy="1077218"/>
          </a:xfrm>
          <a:prstGeom prst="rect">
            <a:avLst/>
          </a:prstGeom>
          <a:noFill/>
        </p:spPr>
        <p:txBody>
          <a:bodyPr wrap="square" rtlCol="0">
            <a:spAutoFit/>
          </a:bodyPr>
          <a:lstStyle/>
          <a:p>
            <a:r>
              <a:rPr lang="en-US" sz="1600" dirty="0" smtClean="0"/>
              <a:t>Read 1</a:t>
            </a:r>
          </a:p>
          <a:p>
            <a:r>
              <a:rPr lang="en-US" sz="1600" dirty="0" smtClean="0"/>
              <a:t>Read 2</a:t>
            </a:r>
          </a:p>
          <a:p>
            <a:r>
              <a:rPr lang="en-US" sz="1600" dirty="0" smtClean="0"/>
              <a:t>Read 3</a:t>
            </a:r>
          </a:p>
          <a:p>
            <a:r>
              <a:rPr lang="en-US" sz="1600" dirty="0" smtClean="0"/>
              <a:t>Read 4</a:t>
            </a:r>
            <a:endParaRPr lang="en-US" sz="1600" dirty="0"/>
          </a:p>
        </p:txBody>
      </p:sp>
      <p:sp>
        <p:nvSpPr>
          <p:cNvPr id="19" name="TextBox 18"/>
          <p:cNvSpPr txBox="1"/>
          <p:nvPr/>
        </p:nvSpPr>
        <p:spPr>
          <a:xfrm>
            <a:off x="4038600" y="1981200"/>
            <a:ext cx="1066800" cy="1077218"/>
          </a:xfrm>
          <a:prstGeom prst="rect">
            <a:avLst/>
          </a:prstGeom>
          <a:noFill/>
        </p:spPr>
        <p:txBody>
          <a:bodyPr wrap="square" rtlCol="0">
            <a:spAutoFit/>
          </a:bodyPr>
          <a:lstStyle/>
          <a:p>
            <a:r>
              <a:rPr lang="en-US" sz="1600" dirty="0" smtClean="0"/>
              <a:t>Read 5</a:t>
            </a:r>
          </a:p>
          <a:p>
            <a:r>
              <a:rPr lang="en-US" sz="1600" dirty="0" smtClean="0"/>
              <a:t>Read 6</a:t>
            </a:r>
          </a:p>
          <a:p>
            <a:r>
              <a:rPr lang="en-US" sz="1600" dirty="0" smtClean="0"/>
              <a:t>Read 7</a:t>
            </a:r>
          </a:p>
          <a:p>
            <a:r>
              <a:rPr lang="en-US" sz="1600" dirty="0" smtClean="0"/>
              <a:t>Read 8</a:t>
            </a:r>
            <a:endParaRPr lang="en-US" sz="1600" dirty="0"/>
          </a:p>
        </p:txBody>
      </p:sp>
      <p:cxnSp>
        <p:nvCxnSpPr>
          <p:cNvPr id="21" name="Straight Connector 20"/>
          <p:cNvCxnSpPr/>
          <p:nvPr/>
        </p:nvCxnSpPr>
        <p:spPr>
          <a:xfrm>
            <a:off x="1996440" y="1981200"/>
            <a:ext cx="0" cy="167640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a:off x="3505200" y="1905000"/>
            <a:ext cx="0" cy="1676400"/>
          </a:xfrm>
          <a:prstGeom prst="line">
            <a:avLst/>
          </a:prstGeom>
        </p:spPr>
        <p:style>
          <a:lnRef idx="1">
            <a:schemeClr val="dk1"/>
          </a:lnRef>
          <a:fillRef idx="0">
            <a:schemeClr val="dk1"/>
          </a:fillRef>
          <a:effectRef idx="0">
            <a:schemeClr val="dk1"/>
          </a:effectRef>
          <a:fontRef idx="minor">
            <a:schemeClr val="tx1"/>
          </a:fontRef>
        </p:style>
      </p:cxnSp>
      <p:sp>
        <p:nvSpPr>
          <p:cNvPr id="23" name="TextBox 22"/>
          <p:cNvSpPr txBox="1"/>
          <p:nvPr/>
        </p:nvSpPr>
        <p:spPr>
          <a:xfrm>
            <a:off x="1371600" y="1611868"/>
            <a:ext cx="1752600" cy="369332"/>
          </a:xfrm>
          <a:prstGeom prst="rect">
            <a:avLst/>
          </a:prstGeom>
          <a:noFill/>
        </p:spPr>
        <p:txBody>
          <a:bodyPr wrap="square" rtlCol="0">
            <a:spAutoFit/>
          </a:bodyPr>
          <a:lstStyle/>
          <a:p>
            <a:r>
              <a:rPr lang="en-US" dirty="0" smtClean="0"/>
              <a:t>Position 1</a:t>
            </a:r>
            <a:endParaRPr lang="en-US" dirty="0"/>
          </a:p>
        </p:txBody>
      </p:sp>
      <p:sp>
        <p:nvSpPr>
          <p:cNvPr id="24" name="TextBox 23"/>
          <p:cNvSpPr txBox="1"/>
          <p:nvPr/>
        </p:nvSpPr>
        <p:spPr>
          <a:xfrm>
            <a:off x="2971800" y="1600200"/>
            <a:ext cx="1752600" cy="369332"/>
          </a:xfrm>
          <a:prstGeom prst="rect">
            <a:avLst/>
          </a:prstGeom>
          <a:noFill/>
        </p:spPr>
        <p:txBody>
          <a:bodyPr wrap="square" rtlCol="0">
            <a:spAutoFit/>
          </a:bodyPr>
          <a:lstStyle/>
          <a:p>
            <a:r>
              <a:rPr lang="en-US" dirty="0" smtClean="0"/>
              <a:t>Position 2</a:t>
            </a:r>
            <a:endParaRPr lang="en-US" dirty="0"/>
          </a:p>
        </p:txBody>
      </p:sp>
      <p:sp>
        <p:nvSpPr>
          <p:cNvPr id="25" name="TextBox 24"/>
          <p:cNvSpPr txBox="1"/>
          <p:nvPr/>
        </p:nvSpPr>
        <p:spPr>
          <a:xfrm>
            <a:off x="3901440" y="6564868"/>
            <a:ext cx="5623560" cy="369332"/>
          </a:xfrm>
          <a:prstGeom prst="rect">
            <a:avLst/>
          </a:prstGeom>
          <a:noFill/>
        </p:spPr>
        <p:txBody>
          <a:bodyPr wrap="square" rtlCol="0">
            <a:spAutoFit/>
          </a:bodyPr>
          <a:lstStyle/>
          <a:p>
            <a:r>
              <a:rPr lang="en-US" dirty="0" smtClean="0"/>
              <a:t>Using germline DNA as input for library preparation</a:t>
            </a:r>
            <a:endParaRPr lang="en-US" dirty="0"/>
          </a:p>
        </p:txBody>
      </p:sp>
      <p:graphicFrame>
        <p:nvGraphicFramePr>
          <p:cNvPr id="26" name="Table 25"/>
          <p:cNvGraphicFramePr>
            <a:graphicFrameLocks noGrp="1"/>
          </p:cNvGraphicFramePr>
          <p:nvPr>
            <p:extLst>
              <p:ext uri="{D42A27DB-BD31-4B8C-83A1-F6EECF244321}">
                <p14:modId xmlns:p14="http://schemas.microsoft.com/office/powerpoint/2010/main" val="4097620480"/>
              </p:ext>
            </p:extLst>
          </p:nvPr>
        </p:nvGraphicFramePr>
        <p:xfrm>
          <a:off x="152400" y="3429000"/>
          <a:ext cx="2819400" cy="2468880"/>
        </p:xfrm>
        <a:graphic>
          <a:graphicData uri="http://schemas.openxmlformats.org/drawingml/2006/table">
            <a:tbl>
              <a:tblPr firstRow="1" bandRow="1">
                <a:tableStyleId>{5C22544A-7EE6-4342-B048-85BDC9FD1C3A}</a:tableStyleId>
              </a:tblPr>
              <a:tblGrid>
                <a:gridCol w="1409700"/>
                <a:gridCol w="1409700"/>
              </a:tblGrid>
              <a:tr h="411480">
                <a:tc>
                  <a:txBody>
                    <a:bodyPr/>
                    <a:lstStyle/>
                    <a:p>
                      <a:endParaRPr lang="en-US" dirty="0"/>
                    </a:p>
                  </a:txBody>
                  <a:tcPr/>
                </a:tc>
                <a:tc>
                  <a:txBody>
                    <a:bodyPr/>
                    <a:lstStyle/>
                    <a:p>
                      <a:r>
                        <a:rPr lang="en-US" dirty="0" smtClean="0"/>
                        <a:t>Position 1</a:t>
                      </a:r>
                      <a:endParaRPr lang="en-US" dirty="0"/>
                    </a:p>
                  </a:txBody>
                  <a:tcPr/>
                </a:tc>
              </a:tr>
              <a:tr h="411480">
                <a:tc>
                  <a:txBody>
                    <a:bodyPr/>
                    <a:lstStyle/>
                    <a:p>
                      <a:r>
                        <a:rPr lang="en-US" dirty="0" smtClean="0"/>
                        <a:t>Read 1</a:t>
                      </a:r>
                      <a:endParaRPr lang="en-US" dirty="0"/>
                    </a:p>
                  </a:txBody>
                  <a:tcPr/>
                </a:tc>
                <a:tc>
                  <a:txBody>
                    <a:bodyPr/>
                    <a:lstStyle/>
                    <a:p>
                      <a:r>
                        <a:rPr lang="en-US" dirty="0" smtClean="0"/>
                        <a:t>G</a:t>
                      </a:r>
                      <a:endParaRPr lang="en-US" dirty="0"/>
                    </a:p>
                  </a:txBody>
                  <a:tcPr/>
                </a:tc>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Read 2</a:t>
                      </a:r>
                    </a:p>
                  </a:txBody>
                  <a:tcPr/>
                </a:tc>
                <a:tc>
                  <a:txBody>
                    <a:bodyPr/>
                    <a:lstStyle/>
                    <a:p>
                      <a:r>
                        <a:rPr lang="en-US" dirty="0" smtClean="0"/>
                        <a:t>T</a:t>
                      </a:r>
                      <a:endParaRPr lang="en-US" dirty="0"/>
                    </a:p>
                  </a:txBody>
                  <a:tcPr/>
                </a:tc>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Read 3</a:t>
                      </a:r>
                    </a:p>
                  </a:txBody>
                  <a:tcPr/>
                </a:tc>
                <a:tc>
                  <a:txBody>
                    <a:bodyPr/>
                    <a:lstStyle/>
                    <a:p>
                      <a:r>
                        <a:rPr lang="en-US" dirty="0" smtClean="0"/>
                        <a:t>T</a:t>
                      </a:r>
                      <a:endParaRPr lang="en-US" dirty="0"/>
                    </a:p>
                  </a:txBody>
                  <a:tcPr/>
                </a:tc>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Read 4</a:t>
                      </a:r>
                    </a:p>
                  </a:txBody>
                  <a:tcPr/>
                </a:tc>
                <a:tc>
                  <a:txBody>
                    <a:bodyPr/>
                    <a:lstStyle/>
                    <a:p>
                      <a:r>
                        <a:rPr lang="en-US" dirty="0" smtClean="0"/>
                        <a:t>G</a:t>
                      </a:r>
                      <a:endParaRPr lang="en-US" dirty="0"/>
                    </a:p>
                  </a:txBody>
                  <a:tcPr/>
                </a:tc>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reference</a:t>
                      </a:r>
                    </a:p>
                  </a:txBody>
                  <a:tcPr/>
                </a:tc>
                <a:tc>
                  <a:txBody>
                    <a:bodyPr/>
                    <a:lstStyle/>
                    <a:p>
                      <a:r>
                        <a:rPr lang="en-US" dirty="0" smtClean="0"/>
                        <a:t>T</a:t>
                      </a:r>
                      <a:endParaRPr lang="en-US" dirty="0"/>
                    </a:p>
                  </a:txBody>
                  <a:tcPr/>
                </a:tc>
              </a:tr>
            </a:tbl>
          </a:graphicData>
        </a:graphic>
      </p:graphicFrame>
      <p:sp>
        <p:nvSpPr>
          <p:cNvPr id="27" name="Curved Left Arrow 26"/>
          <p:cNvSpPr/>
          <p:nvPr/>
        </p:nvSpPr>
        <p:spPr>
          <a:xfrm>
            <a:off x="7178040" y="3368040"/>
            <a:ext cx="441960" cy="150876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TextBox 27"/>
          <p:cNvSpPr txBox="1"/>
          <p:nvPr/>
        </p:nvSpPr>
        <p:spPr>
          <a:xfrm>
            <a:off x="7757160" y="3962400"/>
            <a:ext cx="1386840" cy="369332"/>
          </a:xfrm>
          <a:prstGeom prst="rect">
            <a:avLst/>
          </a:prstGeom>
          <a:noFill/>
        </p:spPr>
        <p:txBody>
          <a:bodyPr wrap="square" rtlCol="0">
            <a:spAutoFit/>
          </a:bodyPr>
          <a:lstStyle/>
          <a:p>
            <a:r>
              <a:rPr lang="en-US" dirty="0" smtClean="0"/>
              <a:t>Genotyping</a:t>
            </a:r>
            <a:endParaRPr lang="en-US" dirty="0"/>
          </a:p>
        </p:txBody>
      </p:sp>
      <p:sp>
        <p:nvSpPr>
          <p:cNvPr id="29" name="TextBox 28"/>
          <p:cNvSpPr txBox="1"/>
          <p:nvPr/>
        </p:nvSpPr>
        <p:spPr>
          <a:xfrm>
            <a:off x="0" y="6031468"/>
            <a:ext cx="3063240" cy="369332"/>
          </a:xfrm>
          <a:prstGeom prst="rect">
            <a:avLst/>
          </a:prstGeom>
          <a:noFill/>
        </p:spPr>
        <p:txBody>
          <a:bodyPr wrap="square" rtlCol="0">
            <a:spAutoFit/>
          </a:bodyPr>
          <a:lstStyle/>
          <a:p>
            <a:r>
              <a:rPr lang="en-US" dirty="0" smtClean="0"/>
              <a:t>Heterozygous genotype: T/G</a:t>
            </a:r>
            <a:endParaRPr lang="en-US" dirty="0"/>
          </a:p>
        </p:txBody>
      </p:sp>
      <p:graphicFrame>
        <p:nvGraphicFramePr>
          <p:cNvPr id="30" name="Table 29"/>
          <p:cNvGraphicFramePr>
            <a:graphicFrameLocks noGrp="1"/>
          </p:cNvGraphicFramePr>
          <p:nvPr>
            <p:extLst>
              <p:ext uri="{D42A27DB-BD31-4B8C-83A1-F6EECF244321}">
                <p14:modId xmlns:p14="http://schemas.microsoft.com/office/powerpoint/2010/main" val="288894161"/>
              </p:ext>
            </p:extLst>
          </p:nvPr>
        </p:nvGraphicFramePr>
        <p:xfrm>
          <a:off x="3413760" y="3429000"/>
          <a:ext cx="2819400" cy="2468880"/>
        </p:xfrm>
        <a:graphic>
          <a:graphicData uri="http://schemas.openxmlformats.org/drawingml/2006/table">
            <a:tbl>
              <a:tblPr firstRow="1" bandRow="1">
                <a:tableStyleId>{5C22544A-7EE6-4342-B048-85BDC9FD1C3A}</a:tableStyleId>
              </a:tblPr>
              <a:tblGrid>
                <a:gridCol w="1409700"/>
                <a:gridCol w="1409700"/>
              </a:tblGrid>
              <a:tr h="411480">
                <a:tc>
                  <a:txBody>
                    <a:bodyPr/>
                    <a:lstStyle/>
                    <a:p>
                      <a:endParaRPr lang="en-US" dirty="0"/>
                    </a:p>
                  </a:txBody>
                  <a:tcPr/>
                </a:tc>
                <a:tc>
                  <a:txBody>
                    <a:bodyPr/>
                    <a:lstStyle/>
                    <a:p>
                      <a:r>
                        <a:rPr lang="en-US" dirty="0" smtClean="0"/>
                        <a:t>Position 2</a:t>
                      </a:r>
                      <a:endParaRPr lang="en-US" dirty="0"/>
                    </a:p>
                  </a:txBody>
                  <a:tcPr/>
                </a:tc>
              </a:tr>
              <a:tr h="411480">
                <a:tc>
                  <a:txBody>
                    <a:bodyPr/>
                    <a:lstStyle/>
                    <a:p>
                      <a:r>
                        <a:rPr lang="en-US" dirty="0" smtClean="0"/>
                        <a:t>Read 5</a:t>
                      </a:r>
                      <a:endParaRPr lang="en-US" dirty="0"/>
                    </a:p>
                  </a:txBody>
                  <a:tcPr/>
                </a:tc>
                <a:tc>
                  <a:txBody>
                    <a:bodyPr/>
                    <a:lstStyle/>
                    <a:p>
                      <a:r>
                        <a:rPr lang="en-US" dirty="0" smtClean="0"/>
                        <a:t>C</a:t>
                      </a:r>
                      <a:endParaRPr lang="en-US" dirty="0"/>
                    </a:p>
                  </a:txBody>
                  <a:tcPr/>
                </a:tc>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Read 6</a:t>
                      </a:r>
                    </a:p>
                  </a:txBody>
                  <a:tcPr/>
                </a:tc>
                <a:tc>
                  <a:txBody>
                    <a:bodyPr/>
                    <a:lstStyle/>
                    <a:p>
                      <a:r>
                        <a:rPr lang="en-US" dirty="0" smtClean="0"/>
                        <a:t>C</a:t>
                      </a:r>
                      <a:endParaRPr lang="en-US" dirty="0"/>
                    </a:p>
                  </a:txBody>
                  <a:tcPr/>
                </a:tc>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Read 7</a:t>
                      </a:r>
                    </a:p>
                  </a:txBody>
                  <a:tcPr/>
                </a:tc>
                <a:tc>
                  <a:txBody>
                    <a:bodyPr/>
                    <a:lstStyle/>
                    <a:p>
                      <a:r>
                        <a:rPr lang="en-US" dirty="0" smtClean="0"/>
                        <a:t>C</a:t>
                      </a:r>
                      <a:endParaRPr lang="en-US" dirty="0"/>
                    </a:p>
                  </a:txBody>
                  <a:tcPr/>
                </a:tc>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Read 8</a:t>
                      </a:r>
                    </a:p>
                  </a:txBody>
                  <a:tcPr/>
                </a:tc>
                <a:tc>
                  <a:txBody>
                    <a:bodyPr/>
                    <a:lstStyle/>
                    <a:p>
                      <a:r>
                        <a:rPr lang="en-US" dirty="0" smtClean="0"/>
                        <a:t>C</a:t>
                      </a:r>
                      <a:endParaRPr lang="en-US" dirty="0"/>
                    </a:p>
                  </a:txBody>
                  <a:tcPr/>
                </a:tc>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reference</a:t>
                      </a:r>
                    </a:p>
                  </a:txBody>
                  <a:tcPr/>
                </a:tc>
                <a:tc>
                  <a:txBody>
                    <a:bodyPr/>
                    <a:lstStyle/>
                    <a:p>
                      <a:r>
                        <a:rPr lang="en-US" dirty="0" smtClean="0"/>
                        <a:t>C</a:t>
                      </a:r>
                      <a:endParaRPr lang="en-US" dirty="0"/>
                    </a:p>
                  </a:txBody>
                  <a:tcPr/>
                </a:tc>
              </a:tr>
            </a:tbl>
          </a:graphicData>
        </a:graphic>
      </p:graphicFrame>
      <p:sp>
        <p:nvSpPr>
          <p:cNvPr id="31" name="TextBox 30"/>
          <p:cNvSpPr txBox="1"/>
          <p:nvPr/>
        </p:nvSpPr>
        <p:spPr>
          <a:xfrm>
            <a:off x="3261360" y="6031468"/>
            <a:ext cx="3063240" cy="369332"/>
          </a:xfrm>
          <a:prstGeom prst="rect">
            <a:avLst/>
          </a:prstGeom>
          <a:noFill/>
        </p:spPr>
        <p:txBody>
          <a:bodyPr wrap="square" rtlCol="0">
            <a:spAutoFit/>
          </a:bodyPr>
          <a:lstStyle/>
          <a:p>
            <a:r>
              <a:rPr lang="en-US" dirty="0" smtClean="0"/>
              <a:t>Homozygous genotype: C/C</a:t>
            </a:r>
            <a:endParaRPr lang="en-US" dirty="0"/>
          </a:p>
        </p:txBody>
      </p:sp>
    </p:spTree>
    <p:extLst>
      <p:ext uri="{BB962C8B-B14F-4D97-AF65-F5344CB8AC3E}">
        <p14:creationId xmlns:p14="http://schemas.microsoft.com/office/powerpoint/2010/main" val="3693195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Autofit/>
          </a:bodyPr>
          <a:lstStyle/>
          <a:p>
            <a:r>
              <a:rPr lang="en-US" sz="3600" dirty="0" smtClean="0"/>
              <a:t>Applications following alignment of NGS reads: somatic mutation calling by DNA-</a:t>
            </a:r>
            <a:r>
              <a:rPr lang="en-US" sz="3600" dirty="0" err="1" smtClean="0"/>
              <a:t>Seq</a:t>
            </a:r>
            <a:endParaRPr lang="en-US" sz="3600" dirty="0"/>
          </a:p>
        </p:txBody>
      </p:sp>
      <p:grpSp>
        <p:nvGrpSpPr>
          <p:cNvPr id="4" name="Group 3"/>
          <p:cNvGrpSpPr/>
          <p:nvPr/>
        </p:nvGrpSpPr>
        <p:grpSpPr>
          <a:xfrm>
            <a:off x="822960" y="2078474"/>
            <a:ext cx="7513320" cy="1289566"/>
            <a:chOff x="1493520" y="2971800"/>
            <a:chExt cx="7513320" cy="1289566"/>
          </a:xfrm>
        </p:grpSpPr>
        <p:sp>
          <p:nvSpPr>
            <p:cNvPr id="5" name="Rectangle 4"/>
            <p:cNvSpPr/>
            <p:nvPr/>
          </p:nvSpPr>
          <p:spPr>
            <a:xfrm>
              <a:off x="1493520" y="3962400"/>
              <a:ext cx="61722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848600" y="3892034"/>
              <a:ext cx="1158240" cy="369332"/>
            </a:xfrm>
            <a:prstGeom prst="rect">
              <a:avLst/>
            </a:prstGeom>
            <a:noFill/>
          </p:spPr>
          <p:txBody>
            <a:bodyPr wrap="square" rtlCol="0">
              <a:spAutoFit/>
            </a:bodyPr>
            <a:lstStyle/>
            <a:p>
              <a:r>
                <a:rPr lang="en-US" dirty="0" smtClean="0">
                  <a:solidFill>
                    <a:schemeClr val="tx2"/>
                  </a:solidFill>
                </a:rPr>
                <a:t>Reference</a:t>
              </a:r>
              <a:endParaRPr lang="en-US" dirty="0">
                <a:solidFill>
                  <a:schemeClr val="tx2"/>
                </a:solidFill>
              </a:endParaRPr>
            </a:p>
          </p:txBody>
        </p:sp>
        <p:sp>
          <p:nvSpPr>
            <p:cNvPr id="7" name="Rectangle 6"/>
            <p:cNvSpPr/>
            <p:nvPr/>
          </p:nvSpPr>
          <p:spPr>
            <a:xfrm>
              <a:off x="2286000" y="3048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Rectangle 7"/>
            <p:cNvSpPr/>
            <p:nvPr/>
          </p:nvSpPr>
          <p:spPr>
            <a:xfrm>
              <a:off x="2438400" y="32766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9" name="Rectangle 8"/>
            <p:cNvSpPr/>
            <p:nvPr/>
          </p:nvSpPr>
          <p:spPr>
            <a:xfrm>
              <a:off x="2133600" y="35052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0" name="Rectangle 9"/>
            <p:cNvSpPr/>
            <p:nvPr/>
          </p:nvSpPr>
          <p:spPr>
            <a:xfrm>
              <a:off x="2362200" y="3733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1" name="Rectangle 10"/>
            <p:cNvSpPr/>
            <p:nvPr/>
          </p:nvSpPr>
          <p:spPr>
            <a:xfrm>
              <a:off x="3886200" y="3429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2" name="Rectangle 11"/>
            <p:cNvSpPr/>
            <p:nvPr/>
          </p:nvSpPr>
          <p:spPr>
            <a:xfrm>
              <a:off x="4038600" y="32004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3" name="Rectangle 12"/>
            <p:cNvSpPr/>
            <p:nvPr/>
          </p:nvSpPr>
          <p:spPr>
            <a:xfrm>
              <a:off x="4038600" y="2971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4" name="Rectangle 13"/>
            <p:cNvSpPr/>
            <p:nvPr/>
          </p:nvSpPr>
          <p:spPr>
            <a:xfrm>
              <a:off x="3733800" y="3733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5" name="TextBox 14"/>
            <p:cNvSpPr txBox="1"/>
            <p:nvPr/>
          </p:nvSpPr>
          <p:spPr>
            <a:xfrm>
              <a:off x="7848600" y="3200400"/>
              <a:ext cx="1158240" cy="646331"/>
            </a:xfrm>
            <a:prstGeom prst="rect">
              <a:avLst/>
            </a:prstGeom>
            <a:noFill/>
          </p:spPr>
          <p:txBody>
            <a:bodyPr wrap="square" rtlCol="0">
              <a:spAutoFit/>
            </a:bodyPr>
            <a:lstStyle/>
            <a:p>
              <a:r>
                <a:rPr lang="en-US" dirty="0" smtClean="0">
                  <a:solidFill>
                    <a:srgbClr val="C00000"/>
                  </a:solidFill>
                </a:rPr>
                <a:t>Mapped</a:t>
              </a:r>
              <a:r>
                <a:rPr lang="en-US" dirty="0" smtClean="0"/>
                <a:t> Reads</a:t>
              </a:r>
              <a:endParaRPr lang="en-US" dirty="0"/>
            </a:p>
          </p:txBody>
        </p:sp>
      </p:grpSp>
      <p:sp>
        <p:nvSpPr>
          <p:cNvPr id="17" name="TextBox 16"/>
          <p:cNvSpPr txBox="1"/>
          <p:nvPr/>
        </p:nvSpPr>
        <p:spPr>
          <a:xfrm>
            <a:off x="533400" y="1981200"/>
            <a:ext cx="1066800" cy="1077218"/>
          </a:xfrm>
          <a:prstGeom prst="rect">
            <a:avLst/>
          </a:prstGeom>
          <a:noFill/>
        </p:spPr>
        <p:txBody>
          <a:bodyPr wrap="square" rtlCol="0">
            <a:spAutoFit/>
          </a:bodyPr>
          <a:lstStyle/>
          <a:p>
            <a:r>
              <a:rPr lang="en-US" sz="1600" dirty="0" smtClean="0"/>
              <a:t>Read 1</a:t>
            </a:r>
          </a:p>
          <a:p>
            <a:r>
              <a:rPr lang="en-US" sz="1600" dirty="0" smtClean="0"/>
              <a:t>Read 2</a:t>
            </a:r>
          </a:p>
          <a:p>
            <a:r>
              <a:rPr lang="en-US" sz="1600" dirty="0" smtClean="0"/>
              <a:t>Read 3</a:t>
            </a:r>
          </a:p>
          <a:p>
            <a:r>
              <a:rPr lang="en-US" sz="1600" dirty="0" smtClean="0"/>
              <a:t>Read 4</a:t>
            </a:r>
            <a:endParaRPr lang="en-US" sz="1600" dirty="0"/>
          </a:p>
        </p:txBody>
      </p:sp>
      <p:cxnSp>
        <p:nvCxnSpPr>
          <p:cNvPr id="21" name="Straight Connector 20"/>
          <p:cNvCxnSpPr/>
          <p:nvPr/>
        </p:nvCxnSpPr>
        <p:spPr>
          <a:xfrm>
            <a:off x="1996440" y="1981200"/>
            <a:ext cx="0" cy="1676400"/>
          </a:xfrm>
          <a:prstGeom prst="line">
            <a:avLst/>
          </a:prstGeom>
        </p:spPr>
        <p:style>
          <a:lnRef idx="1">
            <a:schemeClr val="dk1"/>
          </a:lnRef>
          <a:fillRef idx="0">
            <a:schemeClr val="dk1"/>
          </a:fillRef>
          <a:effectRef idx="0">
            <a:schemeClr val="dk1"/>
          </a:effectRef>
          <a:fontRef idx="minor">
            <a:schemeClr val="tx1"/>
          </a:fontRef>
        </p:style>
      </p:cxnSp>
      <p:sp>
        <p:nvSpPr>
          <p:cNvPr id="23" name="TextBox 22"/>
          <p:cNvSpPr txBox="1"/>
          <p:nvPr/>
        </p:nvSpPr>
        <p:spPr>
          <a:xfrm>
            <a:off x="1371600" y="1611868"/>
            <a:ext cx="1752600" cy="369332"/>
          </a:xfrm>
          <a:prstGeom prst="rect">
            <a:avLst/>
          </a:prstGeom>
          <a:noFill/>
        </p:spPr>
        <p:txBody>
          <a:bodyPr wrap="square" rtlCol="0">
            <a:spAutoFit/>
          </a:bodyPr>
          <a:lstStyle/>
          <a:p>
            <a:r>
              <a:rPr lang="en-US" dirty="0" smtClean="0"/>
              <a:t>Position 1</a:t>
            </a:r>
            <a:endParaRPr lang="en-US" dirty="0"/>
          </a:p>
        </p:txBody>
      </p:sp>
      <p:sp>
        <p:nvSpPr>
          <p:cNvPr id="25" name="TextBox 24"/>
          <p:cNvSpPr txBox="1"/>
          <p:nvPr/>
        </p:nvSpPr>
        <p:spPr>
          <a:xfrm>
            <a:off x="3657600" y="6089302"/>
            <a:ext cx="5394960" cy="646331"/>
          </a:xfrm>
          <a:prstGeom prst="rect">
            <a:avLst/>
          </a:prstGeom>
          <a:noFill/>
        </p:spPr>
        <p:txBody>
          <a:bodyPr wrap="square" rtlCol="0">
            <a:spAutoFit/>
          </a:bodyPr>
          <a:lstStyle/>
          <a:p>
            <a:r>
              <a:rPr lang="en-US" dirty="0" smtClean="0"/>
              <a:t>Using somatic DNA as input</a:t>
            </a:r>
          </a:p>
          <a:p>
            <a:r>
              <a:rPr lang="en-US" dirty="0" smtClean="0"/>
              <a:t>(tumor tissues for cancer somatic mutation detection)</a:t>
            </a:r>
            <a:endParaRPr lang="en-US" dirty="0"/>
          </a:p>
        </p:txBody>
      </p:sp>
      <p:graphicFrame>
        <p:nvGraphicFramePr>
          <p:cNvPr id="26" name="Table 25"/>
          <p:cNvGraphicFramePr>
            <a:graphicFrameLocks noGrp="1"/>
          </p:cNvGraphicFramePr>
          <p:nvPr>
            <p:extLst>
              <p:ext uri="{D42A27DB-BD31-4B8C-83A1-F6EECF244321}">
                <p14:modId xmlns:p14="http://schemas.microsoft.com/office/powerpoint/2010/main" val="137710023"/>
              </p:ext>
            </p:extLst>
          </p:nvPr>
        </p:nvGraphicFramePr>
        <p:xfrm>
          <a:off x="152400" y="3429000"/>
          <a:ext cx="2819400" cy="2468880"/>
        </p:xfrm>
        <a:graphic>
          <a:graphicData uri="http://schemas.openxmlformats.org/drawingml/2006/table">
            <a:tbl>
              <a:tblPr firstRow="1" bandRow="1">
                <a:tableStyleId>{5C22544A-7EE6-4342-B048-85BDC9FD1C3A}</a:tableStyleId>
              </a:tblPr>
              <a:tblGrid>
                <a:gridCol w="1409700"/>
                <a:gridCol w="1409700"/>
              </a:tblGrid>
              <a:tr h="411480">
                <a:tc>
                  <a:txBody>
                    <a:bodyPr/>
                    <a:lstStyle/>
                    <a:p>
                      <a:endParaRPr lang="en-US" dirty="0"/>
                    </a:p>
                  </a:txBody>
                  <a:tcPr/>
                </a:tc>
                <a:tc>
                  <a:txBody>
                    <a:bodyPr/>
                    <a:lstStyle/>
                    <a:p>
                      <a:r>
                        <a:rPr lang="en-US" dirty="0" smtClean="0"/>
                        <a:t>Position 1</a:t>
                      </a:r>
                      <a:endParaRPr lang="en-US" dirty="0"/>
                    </a:p>
                  </a:txBody>
                  <a:tcPr/>
                </a:tc>
              </a:tr>
              <a:tr h="411480">
                <a:tc>
                  <a:txBody>
                    <a:bodyPr/>
                    <a:lstStyle/>
                    <a:p>
                      <a:r>
                        <a:rPr lang="en-US" dirty="0" smtClean="0"/>
                        <a:t>Read 1</a:t>
                      </a:r>
                      <a:endParaRPr lang="en-US" dirty="0"/>
                    </a:p>
                  </a:txBody>
                  <a:tcPr/>
                </a:tc>
                <a:tc>
                  <a:txBody>
                    <a:bodyPr/>
                    <a:lstStyle/>
                    <a:p>
                      <a:r>
                        <a:rPr lang="en-US" dirty="0" smtClean="0"/>
                        <a:t>G</a:t>
                      </a:r>
                      <a:endParaRPr lang="en-US" dirty="0"/>
                    </a:p>
                  </a:txBody>
                  <a:tcPr/>
                </a:tc>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Read 2</a:t>
                      </a:r>
                    </a:p>
                  </a:txBody>
                  <a:tcPr/>
                </a:tc>
                <a:tc>
                  <a:txBody>
                    <a:bodyPr/>
                    <a:lstStyle/>
                    <a:p>
                      <a:r>
                        <a:rPr lang="en-US" dirty="0" smtClean="0"/>
                        <a:t>A</a:t>
                      </a:r>
                      <a:endParaRPr lang="en-US" dirty="0"/>
                    </a:p>
                  </a:txBody>
                  <a:tcPr/>
                </a:tc>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Read 3</a:t>
                      </a:r>
                    </a:p>
                  </a:txBody>
                  <a:tcPr/>
                </a:tc>
                <a:tc>
                  <a:txBody>
                    <a:bodyPr/>
                    <a:lstStyle/>
                    <a:p>
                      <a:r>
                        <a:rPr lang="en-US" dirty="0" smtClean="0"/>
                        <a:t>A</a:t>
                      </a:r>
                      <a:endParaRPr lang="en-US" dirty="0"/>
                    </a:p>
                  </a:txBody>
                  <a:tcPr/>
                </a:tc>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Read 4</a:t>
                      </a:r>
                    </a:p>
                  </a:txBody>
                  <a:tcPr/>
                </a:tc>
                <a:tc>
                  <a:txBody>
                    <a:bodyPr/>
                    <a:lstStyle/>
                    <a:p>
                      <a:r>
                        <a:rPr lang="en-US" dirty="0" smtClean="0"/>
                        <a:t>A</a:t>
                      </a:r>
                      <a:endParaRPr lang="en-US" dirty="0"/>
                    </a:p>
                  </a:txBody>
                  <a:tcPr/>
                </a:tc>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reference</a:t>
                      </a:r>
                    </a:p>
                  </a:txBody>
                  <a:tcPr/>
                </a:tc>
                <a:tc>
                  <a:txBody>
                    <a:bodyPr/>
                    <a:lstStyle/>
                    <a:p>
                      <a:r>
                        <a:rPr lang="en-US" dirty="0" smtClean="0"/>
                        <a:t>G</a:t>
                      </a:r>
                      <a:endParaRPr lang="en-US" dirty="0"/>
                    </a:p>
                  </a:txBody>
                  <a:tcPr/>
                </a:tc>
              </a:tr>
            </a:tbl>
          </a:graphicData>
        </a:graphic>
      </p:graphicFrame>
      <p:sp>
        <p:nvSpPr>
          <p:cNvPr id="27" name="Curved Left Arrow 26"/>
          <p:cNvSpPr/>
          <p:nvPr/>
        </p:nvSpPr>
        <p:spPr>
          <a:xfrm>
            <a:off x="7178040" y="3368040"/>
            <a:ext cx="441960" cy="150876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TextBox 27"/>
          <p:cNvSpPr txBox="1"/>
          <p:nvPr/>
        </p:nvSpPr>
        <p:spPr>
          <a:xfrm>
            <a:off x="7757160" y="3962400"/>
            <a:ext cx="1386840" cy="646331"/>
          </a:xfrm>
          <a:prstGeom prst="rect">
            <a:avLst/>
          </a:prstGeom>
          <a:noFill/>
        </p:spPr>
        <p:txBody>
          <a:bodyPr wrap="square" rtlCol="0">
            <a:spAutoFit/>
          </a:bodyPr>
          <a:lstStyle/>
          <a:p>
            <a:r>
              <a:rPr lang="en-US" dirty="0" smtClean="0"/>
              <a:t>Mutation</a:t>
            </a:r>
          </a:p>
          <a:p>
            <a:r>
              <a:rPr lang="en-US" dirty="0" smtClean="0"/>
              <a:t>Calling</a:t>
            </a:r>
            <a:endParaRPr lang="en-US" dirty="0"/>
          </a:p>
        </p:txBody>
      </p:sp>
      <p:sp>
        <p:nvSpPr>
          <p:cNvPr id="29" name="TextBox 28"/>
          <p:cNvSpPr txBox="1"/>
          <p:nvPr/>
        </p:nvSpPr>
        <p:spPr>
          <a:xfrm>
            <a:off x="0" y="6031468"/>
            <a:ext cx="3063240" cy="369332"/>
          </a:xfrm>
          <a:prstGeom prst="rect">
            <a:avLst/>
          </a:prstGeom>
          <a:noFill/>
        </p:spPr>
        <p:txBody>
          <a:bodyPr wrap="square" rtlCol="0">
            <a:spAutoFit/>
          </a:bodyPr>
          <a:lstStyle/>
          <a:p>
            <a:r>
              <a:rPr lang="en-US" dirty="0" smtClean="0"/>
              <a:t>Somatic mutation:  G&gt;A</a:t>
            </a:r>
            <a:endParaRPr lang="en-US" dirty="0"/>
          </a:p>
        </p:txBody>
      </p:sp>
    </p:spTree>
    <p:extLst>
      <p:ext uri="{BB962C8B-B14F-4D97-AF65-F5344CB8AC3E}">
        <p14:creationId xmlns:p14="http://schemas.microsoft.com/office/powerpoint/2010/main" val="4104934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Applications following alignment of NGS reads: </a:t>
            </a:r>
            <a:r>
              <a:rPr lang="en-US" dirty="0" smtClean="0"/>
              <a:t>peak calling </a:t>
            </a:r>
            <a:r>
              <a:rPr lang="en-US" dirty="0"/>
              <a:t>by </a:t>
            </a:r>
            <a:r>
              <a:rPr lang="en-US" dirty="0" smtClean="0"/>
              <a:t>CHIP-</a:t>
            </a:r>
            <a:r>
              <a:rPr lang="en-US" dirty="0" err="1" smtClean="0"/>
              <a:t>Seq</a:t>
            </a:r>
            <a:endParaRPr lang="en-US" dirty="0"/>
          </a:p>
        </p:txBody>
      </p:sp>
      <p:grpSp>
        <p:nvGrpSpPr>
          <p:cNvPr id="4" name="Group 3"/>
          <p:cNvGrpSpPr/>
          <p:nvPr/>
        </p:nvGrpSpPr>
        <p:grpSpPr>
          <a:xfrm>
            <a:off x="914400" y="2133600"/>
            <a:ext cx="7513320" cy="1289566"/>
            <a:chOff x="1493520" y="2971800"/>
            <a:chExt cx="7513320" cy="1289566"/>
          </a:xfrm>
        </p:grpSpPr>
        <p:sp>
          <p:nvSpPr>
            <p:cNvPr id="5" name="Rectangle 4"/>
            <p:cNvSpPr/>
            <p:nvPr/>
          </p:nvSpPr>
          <p:spPr>
            <a:xfrm>
              <a:off x="1493520" y="3962400"/>
              <a:ext cx="61722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848600" y="3892034"/>
              <a:ext cx="1158240" cy="369332"/>
            </a:xfrm>
            <a:prstGeom prst="rect">
              <a:avLst/>
            </a:prstGeom>
            <a:noFill/>
          </p:spPr>
          <p:txBody>
            <a:bodyPr wrap="square" rtlCol="0">
              <a:spAutoFit/>
            </a:bodyPr>
            <a:lstStyle/>
            <a:p>
              <a:r>
                <a:rPr lang="en-US" dirty="0" smtClean="0">
                  <a:solidFill>
                    <a:schemeClr val="tx2"/>
                  </a:solidFill>
                </a:rPr>
                <a:t>Reference</a:t>
              </a:r>
              <a:endParaRPr lang="en-US" dirty="0">
                <a:solidFill>
                  <a:schemeClr val="tx2"/>
                </a:solidFill>
              </a:endParaRPr>
            </a:p>
          </p:txBody>
        </p:sp>
        <p:sp>
          <p:nvSpPr>
            <p:cNvPr id="7" name="Rectangle 6"/>
            <p:cNvSpPr/>
            <p:nvPr/>
          </p:nvSpPr>
          <p:spPr>
            <a:xfrm>
              <a:off x="2286000" y="3048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Rectangle 7"/>
            <p:cNvSpPr/>
            <p:nvPr/>
          </p:nvSpPr>
          <p:spPr>
            <a:xfrm>
              <a:off x="2438400" y="32766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9" name="Rectangle 8"/>
            <p:cNvSpPr/>
            <p:nvPr/>
          </p:nvSpPr>
          <p:spPr>
            <a:xfrm>
              <a:off x="2133600" y="35052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0" name="Rectangle 9"/>
            <p:cNvSpPr/>
            <p:nvPr/>
          </p:nvSpPr>
          <p:spPr>
            <a:xfrm>
              <a:off x="2362200" y="3733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1" name="Rectangle 10"/>
            <p:cNvSpPr/>
            <p:nvPr/>
          </p:nvSpPr>
          <p:spPr>
            <a:xfrm>
              <a:off x="3886200" y="3429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2" name="Rectangle 11"/>
            <p:cNvSpPr/>
            <p:nvPr/>
          </p:nvSpPr>
          <p:spPr>
            <a:xfrm>
              <a:off x="4038600" y="32004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3" name="Rectangle 12"/>
            <p:cNvSpPr/>
            <p:nvPr/>
          </p:nvSpPr>
          <p:spPr>
            <a:xfrm>
              <a:off x="4038600" y="2971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4" name="Rectangle 13"/>
            <p:cNvSpPr/>
            <p:nvPr/>
          </p:nvSpPr>
          <p:spPr>
            <a:xfrm>
              <a:off x="3733800" y="3733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5" name="TextBox 14"/>
            <p:cNvSpPr txBox="1"/>
            <p:nvPr/>
          </p:nvSpPr>
          <p:spPr>
            <a:xfrm>
              <a:off x="7848600" y="3200400"/>
              <a:ext cx="1158240" cy="646331"/>
            </a:xfrm>
            <a:prstGeom prst="rect">
              <a:avLst/>
            </a:prstGeom>
            <a:noFill/>
          </p:spPr>
          <p:txBody>
            <a:bodyPr wrap="square" rtlCol="0">
              <a:spAutoFit/>
            </a:bodyPr>
            <a:lstStyle/>
            <a:p>
              <a:r>
                <a:rPr lang="en-US" dirty="0" smtClean="0">
                  <a:solidFill>
                    <a:srgbClr val="C00000"/>
                  </a:solidFill>
                </a:rPr>
                <a:t>Mapped</a:t>
              </a:r>
              <a:r>
                <a:rPr lang="en-US" dirty="0" smtClean="0"/>
                <a:t> Reads</a:t>
              </a:r>
              <a:endParaRPr lang="en-US" dirty="0"/>
            </a:p>
          </p:txBody>
        </p:sp>
      </p:grpSp>
      <p:sp>
        <p:nvSpPr>
          <p:cNvPr id="16" name="TextBox 15"/>
          <p:cNvSpPr txBox="1"/>
          <p:nvPr/>
        </p:nvSpPr>
        <p:spPr>
          <a:xfrm>
            <a:off x="1066800" y="6312932"/>
            <a:ext cx="7802880" cy="369332"/>
          </a:xfrm>
          <a:prstGeom prst="rect">
            <a:avLst/>
          </a:prstGeom>
          <a:noFill/>
        </p:spPr>
        <p:txBody>
          <a:bodyPr wrap="square" rtlCol="0">
            <a:spAutoFit/>
          </a:bodyPr>
          <a:lstStyle/>
          <a:p>
            <a:r>
              <a:rPr lang="en-US" dirty="0" smtClean="0"/>
              <a:t>Use protein-bound DNA as input (e.g., </a:t>
            </a:r>
            <a:r>
              <a:rPr lang="en-US" dirty="0"/>
              <a:t>t</a:t>
            </a:r>
            <a:r>
              <a:rPr lang="en-US" dirty="0" smtClean="0"/>
              <a:t>ranscriptional factor binding DNAs)</a:t>
            </a:r>
            <a:endParaRPr lang="en-US" dirty="0"/>
          </a:p>
        </p:txBody>
      </p:sp>
      <p:sp>
        <p:nvSpPr>
          <p:cNvPr id="17" name="Curved Left Arrow 16"/>
          <p:cNvSpPr/>
          <p:nvPr/>
        </p:nvSpPr>
        <p:spPr>
          <a:xfrm>
            <a:off x="7178040" y="3368040"/>
            <a:ext cx="441960" cy="150876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TextBox 17"/>
          <p:cNvSpPr txBox="1"/>
          <p:nvPr/>
        </p:nvSpPr>
        <p:spPr>
          <a:xfrm>
            <a:off x="7757160" y="3962400"/>
            <a:ext cx="1386840" cy="646331"/>
          </a:xfrm>
          <a:prstGeom prst="rect">
            <a:avLst/>
          </a:prstGeom>
          <a:noFill/>
        </p:spPr>
        <p:txBody>
          <a:bodyPr wrap="square" rtlCol="0">
            <a:spAutoFit/>
          </a:bodyPr>
          <a:lstStyle/>
          <a:p>
            <a:r>
              <a:rPr lang="en-US" dirty="0" smtClean="0"/>
              <a:t>Peak </a:t>
            </a:r>
          </a:p>
          <a:p>
            <a:r>
              <a:rPr lang="en-US" dirty="0" smtClean="0"/>
              <a:t>Calling</a:t>
            </a:r>
            <a:endParaRPr lang="en-US" dirty="0"/>
          </a:p>
        </p:txBody>
      </p:sp>
      <p:grpSp>
        <p:nvGrpSpPr>
          <p:cNvPr id="19" name="Group 18"/>
          <p:cNvGrpSpPr/>
          <p:nvPr/>
        </p:nvGrpSpPr>
        <p:grpSpPr>
          <a:xfrm>
            <a:off x="1021080" y="4730234"/>
            <a:ext cx="7513320" cy="1289566"/>
            <a:chOff x="1493520" y="2971800"/>
            <a:chExt cx="7513320" cy="1289566"/>
          </a:xfrm>
        </p:grpSpPr>
        <p:sp>
          <p:nvSpPr>
            <p:cNvPr id="20" name="Rectangle 19"/>
            <p:cNvSpPr/>
            <p:nvPr/>
          </p:nvSpPr>
          <p:spPr>
            <a:xfrm>
              <a:off x="1493520" y="3962400"/>
              <a:ext cx="61722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7848600" y="3892034"/>
              <a:ext cx="1158240" cy="369332"/>
            </a:xfrm>
            <a:prstGeom prst="rect">
              <a:avLst/>
            </a:prstGeom>
            <a:noFill/>
          </p:spPr>
          <p:txBody>
            <a:bodyPr wrap="square" rtlCol="0">
              <a:spAutoFit/>
            </a:bodyPr>
            <a:lstStyle/>
            <a:p>
              <a:r>
                <a:rPr lang="en-US" dirty="0" smtClean="0">
                  <a:solidFill>
                    <a:schemeClr val="tx2"/>
                  </a:solidFill>
                </a:rPr>
                <a:t>Reference</a:t>
              </a:r>
              <a:endParaRPr lang="en-US" dirty="0">
                <a:solidFill>
                  <a:schemeClr val="tx2"/>
                </a:solidFill>
              </a:endParaRPr>
            </a:p>
          </p:txBody>
        </p:sp>
        <p:sp>
          <p:nvSpPr>
            <p:cNvPr id="22" name="Rectangle 21"/>
            <p:cNvSpPr/>
            <p:nvPr/>
          </p:nvSpPr>
          <p:spPr>
            <a:xfrm>
              <a:off x="2286000" y="3048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3" name="Rectangle 22"/>
            <p:cNvSpPr/>
            <p:nvPr/>
          </p:nvSpPr>
          <p:spPr>
            <a:xfrm>
              <a:off x="2438400" y="32766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4" name="Rectangle 23"/>
            <p:cNvSpPr/>
            <p:nvPr/>
          </p:nvSpPr>
          <p:spPr>
            <a:xfrm>
              <a:off x="2133600" y="35052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5" name="Rectangle 24"/>
            <p:cNvSpPr/>
            <p:nvPr/>
          </p:nvSpPr>
          <p:spPr>
            <a:xfrm>
              <a:off x="2362200" y="3733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6" name="Rectangle 25"/>
            <p:cNvSpPr/>
            <p:nvPr/>
          </p:nvSpPr>
          <p:spPr>
            <a:xfrm>
              <a:off x="3886200" y="3429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7" name="Rectangle 26"/>
            <p:cNvSpPr/>
            <p:nvPr/>
          </p:nvSpPr>
          <p:spPr>
            <a:xfrm>
              <a:off x="4038600" y="32004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8" name="Rectangle 27"/>
            <p:cNvSpPr/>
            <p:nvPr/>
          </p:nvSpPr>
          <p:spPr>
            <a:xfrm>
              <a:off x="4038600" y="2971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9" name="Rectangle 28"/>
            <p:cNvSpPr/>
            <p:nvPr/>
          </p:nvSpPr>
          <p:spPr>
            <a:xfrm>
              <a:off x="3733800" y="3733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0" name="TextBox 29"/>
            <p:cNvSpPr txBox="1"/>
            <p:nvPr/>
          </p:nvSpPr>
          <p:spPr>
            <a:xfrm>
              <a:off x="6873240" y="3200400"/>
              <a:ext cx="2133600" cy="646331"/>
            </a:xfrm>
            <a:prstGeom prst="rect">
              <a:avLst/>
            </a:prstGeom>
            <a:noFill/>
          </p:spPr>
          <p:txBody>
            <a:bodyPr wrap="square" rtlCol="0">
              <a:spAutoFit/>
            </a:bodyPr>
            <a:lstStyle/>
            <a:p>
              <a:r>
                <a:rPr lang="en-US" dirty="0" smtClean="0">
                  <a:solidFill>
                    <a:srgbClr val="C00000"/>
                  </a:solidFill>
                </a:rPr>
                <a:t>                       Peaks</a:t>
              </a:r>
            </a:p>
            <a:p>
              <a:r>
                <a:rPr lang="en-US" dirty="0" smtClean="0">
                  <a:solidFill>
                    <a:srgbClr val="C00000"/>
                  </a:solidFill>
                </a:rPr>
                <a:t> (intensity of signals)</a:t>
              </a:r>
              <a:endParaRPr lang="en-US" dirty="0"/>
            </a:p>
          </p:txBody>
        </p:sp>
      </p:grpSp>
      <p:sp>
        <p:nvSpPr>
          <p:cNvPr id="32" name="Freeform 31"/>
          <p:cNvSpPr/>
          <p:nvPr/>
        </p:nvSpPr>
        <p:spPr>
          <a:xfrm>
            <a:off x="1508760" y="4362331"/>
            <a:ext cx="1249740" cy="1353225"/>
          </a:xfrm>
          <a:custGeom>
            <a:avLst/>
            <a:gdLst>
              <a:gd name="connsiteX0" fmla="*/ 0 w 1249740"/>
              <a:gd name="connsiteY0" fmla="*/ 1261229 h 1353225"/>
              <a:gd name="connsiteX1" fmla="*/ 289560 w 1249740"/>
              <a:gd name="connsiteY1" fmla="*/ 57269 h 1353225"/>
              <a:gd name="connsiteX2" fmla="*/ 1082040 w 1249740"/>
              <a:gd name="connsiteY2" fmla="*/ 301109 h 1353225"/>
              <a:gd name="connsiteX3" fmla="*/ 1249680 w 1249740"/>
              <a:gd name="connsiteY3" fmla="*/ 1245989 h 1353225"/>
              <a:gd name="connsiteX4" fmla="*/ 1097280 w 1249740"/>
              <a:gd name="connsiteY4" fmla="*/ 1291709 h 1353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740" h="1353225">
                <a:moveTo>
                  <a:pt x="0" y="1261229"/>
                </a:moveTo>
                <a:cubicBezTo>
                  <a:pt x="54610" y="739259"/>
                  <a:pt x="109220" y="217289"/>
                  <a:pt x="289560" y="57269"/>
                </a:cubicBezTo>
                <a:cubicBezTo>
                  <a:pt x="469900" y="-102751"/>
                  <a:pt x="922020" y="102989"/>
                  <a:pt x="1082040" y="301109"/>
                </a:cubicBezTo>
                <a:cubicBezTo>
                  <a:pt x="1242060" y="499229"/>
                  <a:pt x="1247140" y="1080889"/>
                  <a:pt x="1249680" y="1245989"/>
                </a:cubicBezTo>
                <a:cubicBezTo>
                  <a:pt x="1252220" y="1411089"/>
                  <a:pt x="1174750" y="1351399"/>
                  <a:pt x="1097280" y="129170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32"/>
          <p:cNvSpPr/>
          <p:nvPr/>
        </p:nvSpPr>
        <p:spPr>
          <a:xfrm>
            <a:off x="3139440" y="4291311"/>
            <a:ext cx="1178443" cy="1408449"/>
          </a:xfrm>
          <a:custGeom>
            <a:avLst/>
            <a:gdLst>
              <a:gd name="connsiteX0" fmla="*/ 0 w 1178443"/>
              <a:gd name="connsiteY0" fmla="*/ 1332249 h 1408449"/>
              <a:gd name="connsiteX1" fmla="*/ 213360 w 1178443"/>
              <a:gd name="connsiteY1" fmla="*/ 204489 h 1408449"/>
              <a:gd name="connsiteX2" fmla="*/ 1066800 w 1178443"/>
              <a:gd name="connsiteY2" fmla="*/ 113049 h 1408449"/>
              <a:gd name="connsiteX3" fmla="*/ 1143000 w 1178443"/>
              <a:gd name="connsiteY3" fmla="*/ 1408449 h 1408449"/>
            </a:gdLst>
            <a:ahLst/>
            <a:cxnLst>
              <a:cxn ang="0">
                <a:pos x="connsiteX0" y="connsiteY0"/>
              </a:cxn>
              <a:cxn ang="0">
                <a:pos x="connsiteX1" y="connsiteY1"/>
              </a:cxn>
              <a:cxn ang="0">
                <a:pos x="connsiteX2" y="connsiteY2"/>
              </a:cxn>
              <a:cxn ang="0">
                <a:pos x="connsiteX3" y="connsiteY3"/>
              </a:cxn>
            </a:cxnLst>
            <a:rect l="l" t="t" r="r" b="b"/>
            <a:pathLst>
              <a:path w="1178443" h="1408449">
                <a:moveTo>
                  <a:pt x="0" y="1332249"/>
                </a:moveTo>
                <a:cubicBezTo>
                  <a:pt x="17780" y="869969"/>
                  <a:pt x="35560" y="407689"/>
                  <a:pt x="213360" y="204489"/>
                </a:cubicBezTo>
                <a:cubicBezTo>
                  <a:pt x="391160" y="1289"/>
                  <a:pt x="911860" y="-87611"/>
                  <a:pt x="1066800" y="113049"/>
                </a:cubicBezTo>
                <a:cubicBezTo>
                  <a:pt x="1221740" y="313709"/>
                  <a:pt x="1182370" y="861079"/>
                  <a:pt x="1143000" y="140844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8594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067800" cy="1143000"/>
          </a:xfrm>
        </p:spPr>
        <p:txBody>
          <a:bodyPr>
            <a:normAutofit fontScale="90000"/>
          </a:bodyPr>
          <a:lstStyle/>
          <a:p>
            <a:r>
              <a:rPr lang="en-US" dirty="0"/>
              <a:t>Applications following alignment of NGS reads: </a:t>
            </a:r>
            <a:r>
              <a:rPr lang="en-US" dirty="0" smtClean="0"/>
              <a:t>gene expression by </a:t>
            </a:r>
            <a:r>
              <a:rPr lang="en-US" dirty="0" err="1" smtClean="0"/>
              <a:t>RNASeq</a:t>
            </a:r>
            <a:endParaRPr lang="en-US" dirty="0"/>
          </a:p>
        </p:txBody>
      </p:sp>
      <p:sp>
        <p:nvSpPr>
          <p:cNvPr id="5" name="Rectangle 4"/>
          <p:cNvSpPr/>
          <p:nvPr/>
        </p:nvSpPr>
        <p:spPr>
          <a:xfrm>
            <a:off x="914400" y="3124200"/>
            <a:ext cx="61722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269480" y="3053834"/>
            <a:ext cx="1158240" cy="369332"/>
          </a:xfrm>
          <a:prstGeom prst="rect">
            <a:avLst/>
          </a:prstGeom>
          <a:noFill/>
        </p:spPr>
        <p:txBody>
          <a:bodyPr wrap="square" rtlCol="0">
            <a:spAutoFit/>
          </a:bodyPr>
          <a:lstStyle/>
          <a:p>
            <a:r>
              <a:rPr lang="en-US" dirty="0" smtClean="0">
                <a:solidFill>
                  <a:schemeClr val="tx2"/>
                </a:solidFill>
              </a:rPr>
              <a:t>Reference</a:t>
            </a:r>
            <a:endParaRPr lang="en-US" dirty="0">
              <a:solidFill>
                <a:schemeClr val="tx2"/>
              </a:solidFill>
            </a:endParaRPr>
          </a:p>
        </p:txBody>
      </p:sp>
      <p:sp>
        <p:nvSpPr>
          <p:cNvPr id="7" name="Rectangle 6"/>
          <p:cNvSpPr/>
          <p:nvPr/>
        </p:nvSpPr>
        <p:spPr>
          <a:xfrm>
            <a:off x="1706880" y="2209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Rectangle 7"/>
          <p:cNvSpPr/>
          <p:nvPr/>
        </p:nvSpPr>
        <p:spPr>
          <a:xfrm>
            <a:off x="1859280" y="24384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9" name="Rectangle 8"/>
          <p:cNvSpPr/>
          <p:nvPr/>
        </p:nvSpPr>
        <p:spPr>
          <a:xfrm>
            <a:off x="1554480" y="26670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0" name="Rectangle 9"/>
          <p:cNvSpPr/>
          <p:nvPr/>
        </p:nvSpPr>
        <p:spPr>
          <a:xfrm>
            <a:off x="1783080" y="28956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1" name="Rectangle 10"/>
          <p:cNvSpPr/>
          <p:nvPr/>
        </p:nvSpPr>
        <p:spPr>
          <a:xfrm>
            <a:off x="3307080" y="2590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2" name="Rectangle 11"/>
          <p:cNvSpPr/>
          <p:nvPr/>
        </p:nvSpPr>
        <p:spPr>
          <a:xfrm>
            <a:off x="3459480" y="23622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3" name="Rectangle 12"/>
          <p:cNvSpPr/>
          <p:nvPr/>
        </p:nvSpPr>
        <p:spPr>
          <a:xfrm>
            <a:off x="3459480" y="21336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4" name="Rectangle 13"/>
          <p:cNvSpPr/>
          <p:nvPr/>
        </p:nvSpPr>
        <p:spPr>
          <a:xfrm>
            <a:off x="3154680" y="28956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5" name="TextBox 14"/>
          <p:cNvSpPr txBox="1"/>
          <p:nvPr/>
        </p:nvSpPr>
        <p:spPr>
          <a:xfrm>
            <a:off x="7269480" y="2362200"/>
            <a:ext cx="1158240" cy="646331"/>
          </a:xfrm>
          <a:prstGeom prst="rect">
            <a:avLst/>
          </a:prstGeom>
          <a:noFill/>
        </p:spPr>
        <p:txBody>
          <a:bodyPr wrap="square" rtlCol="0">
            <a:spAutoFit/>
          </a:bodyPr>
          <a:lstStyle/>
          <a:p>
            <a:r>
              <a:rPr lang="en-US" dirty="0" smtClean="0">
                <a:solidFill>
                  <a:srgbClr val="C00000"/>
                </a:solidFill>
              </a:rPr>
              <a:t>Mapped</a:t>
            </a:r>
            <a:r>
              <a:rPr lang="en-US" dirty="0" smtClean="0"/>
              <a:t> Reads</a:t>
            </a:r>
            <a:endParaRPr lang="en-US" dirty="0"/>
          </a:p>
        </p:txBody>
      </p:sp>
      <p:sp>
        <p:nvSpPr>
          <p:cNvPr id="16" name="TextBox 15"/>
          <p:cNvSpPr txBox="1"/>
          <p:nvPr/>
        </p:nvSpPr>
        <p:spPr>
          <a:xfrm>
            <a:off x="5996940" y="6312932"/>
            <a:ext cx="2545080" cy="369332"/>
          </a:xfrm>
          <a:prstGeom prst="rect">
            <a:avLst/>
          </a:prstGeom>
          <a:noFill/>
        </p:spPr>
        <p:txBody>
          <a:bodyPr wrap="square" rtlCol="0">
            <a:spAutoFit/>
          </a:bodyPr>
          <a:lstStyle/>
          <a:p>
            <a:r>
              <a:rPr lang="en-US" dirty="0" smtClean="0"/>
              <a:t>Using RNA as input</a:t>
            </a:r>
            <a:endParaRPr lang="en-US" dirty="0"/>
          </a:p>
        </p:txBody>
      </p:sp>
      <p:sp>
        <p:nvSpPr>
          <p:cNvPr id="17" name="Curved Left Arrow 16"/>
          <p:cNvSpPr/>
          <p:nvPr/>
        </p:nvSpPr>
        <p:spPr>
          <a:xfrm>
            <a:off x="7178040" y="3368040"/>
            <a:ext cx="441960" cy="150876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TextBox 17"/>
          <p:cNvSpPr txBox="1"/>
          <p:nvPr/>
        </p:nvSpPr>
        <p:spPr>
          <a:xfrm>
            <a:off x="7757160" y="3962400"/>
            <a:ext cx="1386840" cy="1200329"/>
          </a:xfrm>
          <a:prstGeom prst="rect">
            <a:avLst/>
          </a:prstGeom>
          <a:noFill/>
        </p:spPr>
        <p:txBody>
          <a:bodyPr wrap="square" rtlCol="0">
            <a:spAutoFit/>
          </a:bodyPr>
          <a:lstStyle/>
          <a:p>
            <a:r>
              <a:rPr lang="en-US" dirty="0" smtClean="0"/>
              <a:t>Reads count</a:t>
            </a:r>
          </a:p>
          <a:p>
            <a:r>
              <a:rPr lang="en-US" dirty="0" smtClean="0"/>
              <a:t>(gene expression analysis)</a:t>
            </a:r>
            <a:endParaRPr lang="en-US" dirty="0"/>
          </a:p>
        </p:txBody>
      </p:sp>
      <p:sp>
        <p:nvSpPr>
          <p:cNvPr id="34" name="Rectangle 33"/>
          <p:cNvSpPr/>
          <p:nvPr/>
        </p:nvSpPr>
        <p:spPr>
          <a:xfrm>
            <a:off x="3429000" y="18288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5" name="Rectangle 34"/>
          <p:cNvSpPr/>
          <p:nvPr/>
        </p:nvSpPr>
        <p:spPr>
          <a:xfrm>
            <a:off x="5410200" y="2819400"/>
            <a:ext cx="609600" cy="152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 name="Rectangle 2"/>
          <p:cNvSpPr/>
          <p:nvPr/>
        </p:nvSpPr>
        <p:spPr>
          <a:xfrm>
            <a:off x="1447800" y="3124200"/>
            <a:ext cx="1219200" cy="228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Gene 1</a:t>
            </a:r>
            <a:endParaRPr lang="en-US" dirty="0"/>
          </a:p>
        </p:txBody>
      </p:sp>
      <p:sp>
        <p:nvSpPr>
          <p:cNvPr id="36" name="Rectangle 35"/>
          <p:cNvSpPr/>
          <p:nvPr/>
        </p:nvSpPr>
        <p:spPr>
          <a:xfrm>
            <a:off x="3048000" y="3124200"/>
            <a:ext cx="1219200" cy="228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Gene 2</a:t>
            </a:r>
            <a:endParaRPr lang="en-US" dirty="0"/>
          </a:p>
        </p:txBody>
      </p:sp>
      <p:sp>
        <p:nvSpPr>
          <p:cNvPr id="37" name="Rectangle 36"/>
          <p:cNvSpPr/>
          <p:nvPr/>
        </p:nvSpPr>
        <p:spPr>
          <a:xfrm>
            <a:off x="5257800" y="3124200"/>
            <a:ext cx="1219200" cy="228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Gene 3</a:t>
            </a:r>
            <a:endParaRPr lang="en-US" dirty="0"/>
          </a:p>
        </p:txBody>
      </p:sp>
      <p:graphicFrame>
        <p:nvGraphicFramePr>
          <p:cNvPr id="31" name="Table 30"/>
          <p:cNvGraphicFramePr>
            <a:graphicFrameLocks noGrp="1"/>
          </p:cNvGraphicFramePr>
          <p:nvPr>
            <p:extLst>
              <p:ext uri="{D42A27DB-BD31-4B8C-83A1-F6EECF244321}">
                <p14:modId xmlns:p14="http://schemas.microsoft.com/office/powerpoint/2010/main" val="2902952357"/>
              </p:ext>
            </p:extLst>
          </p:nvPr>
        </p:nvGraphicFramePr>
        <p:xfrm>
          <a:off x="990600" y="4562564"/>
          <a:ext cx="6096000" cy="1483360"/>
        </p:xfrm>
        <a:graphic>
          <a:graphicData uri="http://schemas.openxmlformats.org/drawingml/2006/table">
            <a:tbl>
              <a:tblPr firstRow="1" bandRow="1">
                <a:tableStyleId>{5C22544A-7EE6-4342-B048-85BDC9FD1C3A}</a:tableStyleId>
              </a:tblPr>
              <a:tblGrid>
                <a:gridCol w="3048000"/>
                <a:gridCol w="3048000"/>
              </a:tblGrid>
              <a:tr h="370840">
                <a:tc>
                  <a:txBody>
                    <a:bodyPr/>
                    <a:lstStyle/>
                    <a:p>
                      <a:endParaRPr lang="en-US" dirty="0"/>
                    </a:p>
                  </a:txBody>
                  <a:tcPr/>
                </a:tc>
                <a:tc>
                  <a:txBody>
                    <a:bodyPr/>
                    <a:lstStyle/>
                    <a:p>
                      <a:r>
                        <a:rPr lang="en-US" dirty="0" smtClean="0"/>
                        <a:t>Reads count</a:t>
                      </a:r>
                      <a:endParaRPr lang="en-US" dirty="0"/>
                    </a:p>
                  </a:txBody>
                  <a:tcPr/>
                </a:tc>
              </a:tr>
              <a:tr h="370840">
                <a:tc>
                  <a:txBody>
                    <a:bodyPr/>
                    <a:lstStyle/>
                    <a:p>
                      <a:r>
                        <a:rPr lang="en-US" dirty="0" smtClean="0"/>
                        <a:t>Gene 1</a:t>
                      </a:r>
                      <a:endParaRPr lang="en-US" dirty="0"/>
                    </a:p>
                  </a:txBody>
                  <a:tcPr/>
                </a:tc>
                <a:tc>
                  <a:txBody>
                    <a:bodyPr/>
                    <a:lstStyle/>
                    <a:p>
                      <a:r>
                        <a:rPr lang="en-US" dirty="0" smtClean="0"/>
                        <a:t>3</a:t>
                      </a:r>
                      <a:endParaRPr lang="en-US" dirty="0"/>
                    </a:p>
                  </a:txBody>
                  <a:tcPr/>
                </a:tc>
              </a:tr>
              <a:tr h="370840">
                <a:tc>
                  <a:txBody>
                    <a:bodyPr/>
                    <a:lstStyle/>
                    <a:p>
                      <a:r>
                        <a:rPr lang="en-US" dirty="0" smtClean="0"/>
                        <a:t>Gene 2</a:t>
                      </a:r>
                      <a:endParaRPr lang="en-US" dirty="0"/>
                    </a:p>
                  </a:txBody>
                  <a:tcPr/>
                </a:tc>
                <a:tc>
                  <a:txBody>
                    <a:bodyPr/>
                    <a:lstStyle/>
                    <a:p>
                      <a:r>
                        <a:rPr lang="en-US" dirty="0" smtClean="0"/>
                        <a:t>5</a:t>
                      </a:r>
                      <a:endParaRPr lang="en-US" dirty="0"/>
                    </a:p>
                  </a:txBody>
                  <a:tcPr/>
                </a:tc>
              </a:tr>
              <a:tr h="370840">
                <a:tc>
                  <a:txBody>
                    <a:bodyPr/>
                    <a:lstStyle/>
                    <a:p>
                      <a:r>
                        <a:rPr lang="en-US" dirty="0" smtClean="0"/>
                        <a:t>Gene 3</a:t>
                      </a:r>
                      <a:endParaRPr lang="en-US" dirty="0"/>
                    </a:p>
                  </a:txBody>
                  <a:tcPr/>
                </a:tc>
                <a:tc>
                  <a:txBody>
                    <a:bodyPr/>
                    <a:lstStyle/>
                    <a:p>
                      <a:r>
                        <a:rPr lang="en-US" dirty="0" smtClean="0"/>
                        <a:t>1</a:t>
                      </a:r>
                      <a:endParaRPr lang="en-US" dirty="0"/>
                    </a:p>
                  </a:txBody>
                  <a:tcPr/>
                </a:tc>
              </a:tr>
            </a:tbl>
          </a:graphicData>
        </a:graphic>
      </p:graphicFrame>
    </p:spTree>
    <p:extLst>
      <p:ext uri="{BB962C8B-B14F-4D97-AF65-F5344CB8AC3E}">
        <p14:creationId xmlns:p14="http://schemas.microsoft.com/office/powerpoint/2010/main" val="3302146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Variant discovery in NGS using GATK (</a:t>
            </a:r>
            <a:r>
              <a:rPr lang="en-US" b="1" dirty="0" smtClean="0"/>
              <a:t>G</a:t>
            </a:r>
            <a:r>
              <a:rPr lang="en-US" dirty="0" smtClean="0"/>
              <a:t>enome </a:t>
            </a:r>
            <a:r>
              <a:rPr lang="en-US" b="1" dirty="0" smtClean="0"/>
              <a:t>A</a:t>
            </a:r>
            <a:r>
              <a:rPr lang="en-US" dirty="0" smtClean="0"/>
              <a:t>nalysis </a:t>
            </a:r>
            <a:r>
              <a:rPr lang="en-US" b="1" dirty="0" smtClean="0"/>
              <a:t>T</a:t>
            </a:r>
            <a:r>
              <a:rPr lang="en-US" dirty="0" smtClean="0"/>
              <a:t>ool</a:t>
            </a:r>
            <a:r>
              <a:rPr lang="en-US" b="1" dirty="0" smtClean="0"/>
              <a:t>k</a:t>
            </a:r>
            <a:r>
              <a:rPr lang="en-US" dirty="0" smtClean="0"/>
              <a:t>it)</a:t>
            </a:r>
            <a:endParaRPr lang="en-US" dirty="0"/>
          </a:p>
        </p:txBody>
      </p:sp>
      <p:pic>
        <p:nvPicPr>
          <p:cNvPr id="1026" name="Picture 2" descr="Pipeline overview"/>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312998"/>
            <a:ext cx="9029700" cy="139693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800600" y="6248400"/>
            <a:ext cx="4062138" cy="369332"/>
          </a:xfrm>
          <a:prstGeom prst="rect">
            <a:avLst/>
          </a:prstGeom>
        </p:spPr>
        <p:txBody>
          <a:bodyPr wrap="none">
            <a:spAutoFit/>
          </a:bodyPr>
          <a:lstStyle/>
          <a:p>
            <a:r>
              <a:rPr lang="en-US" dirty="0"/>
              <a:t>https://software.broadinstitute.org/gatk/</a:t>
            </a:r>
          </a:p>
        </p:txBody>
      </p:sp>
      <p:sp>
        <p:nvSpPr>
          <p:cNvPr id="3" name="TextBox 2"/>
          <p:cNvSpPr txBox="1"/>
          <p:nvPr/>
        </p:nvSpPr>
        <p:spPr>
          <a:xfrm>
            <a:off x="1981200" y="4331732"/>
            <a:ext cx="5638800" cy="369332"/>
          </a:xfrm>
          <a:prstGeom prst="rect">
            <a:avLst/>
          </a:prstGeom>
          <a:noFill/>
        </p:spPr>
        <p:txBody>
          <a:bodyPr wrap="square" rtlCol="0">
            <a:spAutoFit/>
          </a:bodyPr>
          <a:lstStyle/>
          <a:p>
            <a:r>
              <a:rPr lang="en-US" dirty="0" smtClean="0"/>
              <a:t>The most commonly used toolkit in DNA-</a:t>
            </a:r>
            <a:r>
              <a:rPr lang="en-US" dirty="0" err="1" smtClean="0"/>
              <a:t>Seq</a:t>
            </a:r>
            <a:r>
              <a:rPr lang="en-US" dirty="0" smtClean="0"/>
              <a:t> analysis</a:t>
            </a:r>
            <a:endParaRPr lang="en-US" dirty="0"/>
          </a:p>
        </p:txBody>
      </p:sp>
    </p:spTree>
    <p:extLst>
      <p:ext uri="{BB962C8B-B14F-4D97-AF65-F5344CB8AC3E}">
        <p14:creationId xmlns:p14="http://schemas.microsoft.com/office/powerpoint/2010/main" val="1895820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Autofit/>
          </a:bodyPr>
          <a:lstStyle/>
          <a:p>
            <a:r>
              <a:rPr lang="en-US" sz="3200" dirty="0" smtClean="0"/>
              <a:t>Simplified DNA-</a:t>
            </a:r>
            <a:r>
              <a:rPr lang="en-US" sz="3200" dirty="0" err="1" smtClean="0"/>
              <a:t>Seq</a:t>
            </a:r>
            <a:r>
              <a:rPr lang="en-US" sz="3200" dirty="0" smtClean="0"/>
              <a:t> variant analysis workflow example</a:t>
            </a:r>
            <a:endParaRPr lang="en-US" sz="3200" dirty="0"/>
          </a:p>
        </p:txBody>
      </p:sp>
      <p:sp>
        <p:nvSpPr>
          <p:cNvPr id="5" name="Rounded Rectangle 4"/>
          <p:cNvSpPr/>
          <p:nvPr/>
        </p:nvSpPr>
        <p:spPr>
          <a:xfrm>
            <a:off x="3886200" y="1676400"/>
            <a:ext cx="2209800" cy="990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Sequencing files </a:t>
            </a:r>
          </a:p>
          <a:p>
            <a:pPr algn="ctr"/>
            <a:r>
              <a:rPr lang="en-US" dirty="0" smtClean="0"/>
              <a:t>(FASTQ format)</a:t>
            </a:r>
            <a:endParaRPr lang="en-US" dirty="0"/>
          </a:p>
        </p:txBody>
      </p:sp>
      <p:sp>
        <p:nvSpPr>
          <p:cNvPr id="6" name="Rounded Rectangle 5"/>
          <p:cNvSpPr/>
          <p:nvPr/>
        </p:nvSpPr>
        <p:spPr>
          <a:xfrm>
            <a:off x="3886200" y="3276600"/>
            <a:ext cx="2209800" cy="990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Alignment files </a:t>
            </a:r>
          </a:p>
          <a:p>
            <a:pPr algn="ctr"/>
            <a:r>
              <a:rPr lang="en-US" dirty="0" smtClean="0"/>
              <a:t>(BAM format)</a:t>
            </a:r>
            <a:endParaRPr lang="en-US" dirty="0"/>
          </a:p>
        </p:txBody>
      </p:sp>
      <p:sp>
        <p:nvSpPr>
          <p:cNvPr id="7" name="Rounded Rectangle 6"/>
          <p:cNvSpPr/>
          <p:nvPr/>
        </p:nvSpPr>
        <p:spPr>
          <a:xfrm>
            <a:off x="3886200" y="4800600"/>
            <a:ext cx="2209800" cy="990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Variant  files </a:t>
            </a:r>
          </a:p>
          <a:p>
            <a:pPr algn="ctr"/>
            <a:r>
              <a:rPr lang="en-US" dirty="0" smtClean="0"/>
              <a:t>(VCF format)</a:t>
            </a:r>
            <a:endParaRPr lang="en-US" dirty="0"/>
          </a:p>
        </p:txBody>
      </p:sp>
      <p:sp>
        <p:nvSpPr>
          <p:cNvPr id="8" name="Down Arrow 7"/>
          <p:cNvSpPr/>
          <p:nvPr/>
        </p:nvSpPr>
        <p:spPr>
          <a:xfrm>
            <a:off x="4800600" y="2819400"/>
            <a:ext cx="266700" cy="304800"/>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867400" y="2636520"/>
            <a:ext cx="2514600" cy="609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Alignment step</a:t>
            </a:r>
          </a:p>
          <a:p>
            <a:pPr algn="ctr"/>
            <a:r>
              <a:rPr lang="en-US" dirty="0" smtClean="0"/>
              <a:t>Using BWA</a:t>
            </a:r>
            <a:endParaRPr lang="en-US" dirty="0"/>
          </a:p>
        </p:txBody>
      </p:sp>
      <p:sp>
        <p:nvSpPr>
          <p:cNvPr id="11" name="Down Arrow 10"/>
          <p:cNvSpPr/>
          <p:nvPr/>
        </p:nvSpPr>
        <p:spPr>
          <a:xfrm>
            <a:off x="4800600" y="4419600"/>
            <a:ext cx="266700" cy="304800"/>
          </a:xfrm>
          <a:prstGeom prst="down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5867400" y="4267200"/>
            <a:ext cx="2514600" cy="6096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Mutation calling step using GATK</a:t>
            </a:r>
            <a:endParaRPr lang="en-US" dirty="0"/>
          </a:p>
        </p:txBody>
      </p:sp>
      <p:sp>
        <p:nvSpPr>
          <p:cNvPr id="15" name="Left Arrow 14"/>
          <p:cNvSpPr/>
          <p:nvPr/>
        </p:nvSpPr>
        <p:spPr>
          <a:xfrm>
            <a:off x="2057400" y="3771900"/>
            <a:ext cx="1676400" cy="304800"/>
          </a:xfrm>
          <a:prstGeom prst="leftArrow">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1371600" y="3124200"/>
            <a:ext cx="2514600" cy="60960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Visualization using IGV</a:t>
            </a:r>
            <a:endParaRPr lang="en-US"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3864768"/>
            <a:ext cx="1947335" cy="1414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0384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FASTQ file format</a:t>
            </a:r>
            <a:endParaRPr lang="en-US" dirty="0"/>
          </a:p>
        </p:txBody>
      </p:sp>
      <p:sp>
        <p:nvSpPr>
          <p:cNvPr id="4" name="Rectangle 3"/>
          <p:cNvSpPr/>
          <p:nvPr/>
        </p:nvSpPr>
        <p:spPr>
          <a:xfrm>
            <a:off x="4267200" y="6096000"/>
            <a:ext cx="4572000" cy="646331"/>
          </a:xfrm>
          <a:prstGeom prst="rect">
            <a:avLst/>
          </a:prstGeom>
        </p:spPr>
        <p:txBody>
          <a:bodyPr>
            <a:spAutoFit/>
          </a:bodyPr>
          <a:lstStyle/>
          <a:p>
            <a:r>
              <a:rPr lang="en-US" dirty="0"/>
              <a:t>https://binf.snipcademy.com/lessons/sequence-file-formats/fastq</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0338"/>
            <a:ext cx="7073263" cy="1566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21920" y="1327666"/>
            <a:ext cx="6812280" cy="646331"/>
          </a:xfrm>
          <a:prstGeom prst="rect">
            <a:avLst/>
          </a:prstGeom>
          <a:noFill/>
        </p:spPr>
        <p:txBody>
          <a:bodyPr wrap="square" rtlCol="0">
            <a:spAutoFit/>
          </a:bodyPr>
          <a:lstStyle/>
          <a:p>
            <a:r>
              <a:rPr lang="en-US" dirty="0" smtClean="0"/>
              <a:t>Example FASTQ file for one read (a typical FASTQ file contains millions of such reads, and one read consists of 4 lines of records as below )</a:t>
            </a:r>
            <a:endParaRPr lang="en-US" dirty="0"/>
          </a:p>
        </p:txBody>
      </p:sp>
      <p:cxnSp>
        <p:nvCxnSpPr>
          <p:cNvPr id="9" name="Straight Arrow Connector 8"/>
          <p:cNvCxnSpPr/>
          <p:nvPr/>
        </p:nvCxnSpPr>
        <p:spPr>
          <a:xfrm flipV="1">
            <a:off x="1066800" y="2362200"/>
            <a:ext cx="16002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2895600" y="2133600"/>
            <a:ext cx="3733800" cy="56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Sequence identifier starting with @</a:t>
            </a:r>
            <a:endParaRPr lang="en-US" dirty="0"/>
          </a:p>
        </p:txBody>
      </p:sp>
      <p:cxnSp>
        <p:nvCxnSpPr>
          <p:cNvPr id="12" name="Straight Arrow Connector 11"/>
          <p:cNvCxnSpPr/>
          <p:nvPr/>
        </p:nvCxnSpPr>
        <p:spPr>
          <a:xfrm>
            <a:off x="6629400" y="3352800"/>
            <a:ext cx="914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7696200" y="2874169"/>
            <a:ext cx="1143000" cy="783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Sequence</a:t>
            </a:r>
            <a:endParaRPr lang="en-US" dirty="0"/>
          </a:p>
        </p:txBody>
      </p:sp>
      <p:cxnSp>
        <p:nvCxnSpPr>
          <p:cNvPr id="15" name="Straight Arrow Connector 14"/>
          <p:cNvCxnSpPr/>
          <p:nvPr/>
        </p:nvCxnSpPr>
        <p:spPr>
          <a:xfrm>
            <a:off x="381000" y="3657600"/>
            <a:ext cx="685800" cy="990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629400" y="3962400"/>
            <a:ext cx="3429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6934200" y="4702969"/>
            <a:ext cx="1143000" cy="783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Sequence</a:t>
            </a:r>
          </a:p>
          <a:p>
            <a:pPr algn="ctr"/>
            <a:r>
              <a:rPr lang="en-US" dirty="0" smtClean="0"/>
              <a:t>quality</a:t>
            </a:r>
            <a:endParaRPr lang="en-US" dirty="0"/>
          </a:p>
        </p:txBody>
      </p:sp>
      <p:sp>
        <p:nvSpPr>
          <p:cNvPr id="21" name="Rectangle 20"/>
          <p:cNvSpPr/>
          <p:nvPr/>
        </p:nvSpPr>
        <p:spPr>
          <a:xfrm>
            <a:off x="106680" y="4724400"/>
            <a:ext cx="3520440" cy="10317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Line 3 starts with a “+” character and is optionally followed by the same sequence </a:t>
            </a:r>
            <a:r>
              <a:rPr lang="en-US" dirty="0" smtClean="0"/>
              <a:t>identifier</a:t>
            </a:r>
            <a:endParaRPr lang="en-US" dirty="0"/>
          </a:p>
        </p:txBody>
      </p:sp>
    </p:spTree>
    <p:extLst>
      <p:ext uri="{BB962C8B-B14F-4D97-AF65-F5344CB8AC3E}">
        <p14:creationId xmlns:p14="http://schemas.microsoft.com/office/powerpoint/2010/main" val="932866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score in FASTQ files</a:t>
            </a:r>
            <a:endParaRPr lang="en-US" dirty="0"/>
          </a:p>
        </p:txBody>
      </p:sp>
      <p:sp>
        <p:nvSpPr>
          <p:cNvPr id="4" name="Rectangle 3"/>
          <p:cNvSpPr/>
          <p:nvPr/>
        </p:nvSpPr>
        <p:spPr>
          <a:xfrm>
            <a:off x="1630680" y="6465332"/>
            <a:ext cx="7543800" cy="369332"/>
          </a:xfrm>
          <a:prstGeom prst="rect">
            <a:avLst/>
          </a:prstGeom>
        </p:spPr>
        <p:txBody>
          <a:bodyPr wrap="square">
            <a:spAutoFit/>
          </a:bodyPr>
          <a:lstStyle/>
          <a:p>
            <a:r>
              <a:rPr lang="en-US" dirty="0"/>
              <a:t>https://binf.snipcademy.com/lessons/sequence-file-formats/fastq</a:t>
            </a:r>
          </a:p>
        </p:txBody>
      </p:sp>
      <p:sp>
        <p:nvSpPr>
          <p:cNvPr id="5" name="Content Placeholder 2"/>
          <p:cNvSpPr>
            <a:spLocks noGrp="1"/>
          </p:cNvSpPr>
          <p:nvPr>
            <p:ph idx="1"/>
          </p:nvPr>
        </p:nvSpPr>
        <p:spPr>
          <a:xfrm>
            <a:off x="381000" y="1371600"/>
            <a:ext cx="8229600" cy="3276600"/>
          </a:xfrm>
        </p:spPr>
        <p:txBody>
          <a:bodyPr>
            <a:normAutofit fontScale="70000" lnSpcReduction="20000"/>
          </a:bodyPr>
          <a:lstStyle/>
          <a:p>
            <a:r>
              <a:rPr lang="en-US" dirty="0" smtClean="0"/>
              <a:t>The 4</a:t>
            </a:r>
            <a:r>
              <a:rPr lang="en-US" baseline="30000" dirty="0" smtClean="0"/>
              <a:t>th</a:t>
            </a:r>
            <a:r>
              <a:rPr lang="en-US" dirty="0" smtClean="0"/>
              <a:t> line encodes the quality scores per each base call. This line must have the same length as the sequence in line 2.</a:t>
            </a:r>
          </a:p>
          <a:p>
            <a:endParaRPr lang="en-US" dirty="0" smtClean="0"/>
          </a:p>
          <a:p>
            <a:r>
              <a:rPr lang="en-US" dirty="0" smtClean="0"/>
              <a:t> Scores range from “!” being the lowest quality and “~” being the highest. These values come from the ASCII table values 33~126 (next slide).</a:t>
            </a:r>
          </a:p>
          <a:p>
            <a:endParaRPr lang="en-US" dirty="0"/>
          </a:p>
          <a:p>
            <a:r>
              <a:rPr lang="en-US" dirty="0" smtClean="0"/>
              <a:t>We can use python to </a:t>
            </a:r>
            <a:r>
              <a:rPr lang="en-US" dirty="0"/>
              <a:t>map the FASTQ quality score to numeric values</a:t>
            </a:r>
            <a:r>
              <a:rPr lang="en-US" dirty="0" smtClean="0"/>
              <a:t>:</a:t>
            </a:r>
            <a:endParaRPr lang="en-US"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962400"/>
            <a:ext cx="1905000" cy="2408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575657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score in FASTQ files</a:t>
            </a:r>
            <a:endParaRPr lang="en-US" dirty="0"/>
          </a:p>
        </p:txBody>
      </p:sp>
      <p:sp>
        <p:nvSpPr>
          <p:cNvPr id="4" name="Rectangle 3"/>
          <p:cNvSpPr/>
          <p:nvPr/>
        </p:nvSpPr>
        <p:spPr>
          <a:xfrm>
            <a:off x="2362200" y="6471642"/>
            <a:ext cx="6602730" cy="369332"/>
          </a:xfrm>
          <a:prstGeom prst="rect">
            <a:avLst/>
          </a:prstGeom>
        </p:spPr>
        <p:txBody>
          <a:bodyPr wrap="square">
            <a:spAutoFit/>
          </a:bodyPr>
          <a:lstStyle/>
          <a:p>
            <a:r>
              <a:rPr lang="en-US" dirty="0"/>
              <a:t>https://binf.snipcademy.com/lessons/sequence-file-formats/fastq</a:t>
            </a:r>
          </a:p>
        </p:txBody>
      </p:sp>
      <p:sp>
        <p:nvSpPr>
          <p:cNvPr id="5" name="Content Placeholder 2"/>
          <p:cNvSpPr>
            <a:spLocks noGrp="1"/>
          </p:cNvSpPr>
          <p:nvPr>
            <p:ph idx="1"/>
          </p:nvPr>
        </p:nvSpPr>
        <p:spPr>
          <a:xfrm>
            <a:off x="6248400" y="4267200"/>
            <a:ext cx="2895600" cy="1905000"/>
          </a:xfrm>
        </p:spPr>
        <p:txBody>
          <a:bodyPr>
            <a:normAutofit/>
          </a:bodyPr>
          <a:lstStyle/>
          <a:p>
            <a:r>
              <a:rPr lang="en-US" sz="1800" dirty="0" smtClean="0"/>
              <a:t>For more details about FASTQ files, check its </a:t>
            </a:r>
            <a:r>
              <a:rPr lang="en-US" sz="1800" dirty="0" err="1" smtClean="0"/>
              <a:t>wikipedia</a:t>
            </a:r>
            <a:r>
              <a:rPr lang="en-US" sz="1800" dirty="0"/>
              <a:t> page: </a:t>
            </a:r>
            <a:r>
              <a:rPr lang="en-US" sz="1800" dirty="0">
                <a:hlinkClick r:id="rId2"/>
              </a:rPr>
              <a:t>https://</a:t>
            </a:r>
            <a:r>
              <a:rPr lang="en-US" sz="1800" dirty="0" smtClean="0">
                <a:hlinkClick r:id="rId2"/>
              </a:rPr>
              <a:t>en.wikipedia.org/wiki/FASTQ_format#Quality</a:t>
            </a:r>
            <a:endParaRPr lang="en-US" sz="1800" dirty="0" smtClean="0"/>
          </a:p>
          <a:p>
            <a:endParaRPr lang="en-US" sz="1800" dirty="0" smtClean="0"/>
          </a:p>
          <a:p>
            <a:pPr marL="0" indent="0">
              <a:buNone/>
            </a:pPr>
            <a:endParaRPr lang="en-US" sz="1800" dirty="0" smtClean="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 y="1200388"/>
            <a:ext cx="6368100" cy="52407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278072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fontScale="90000"/>
          </a:bodyPr>
          <a:lstStyle/>
          <a:p>
            <a:r>
              <a:rPr lang="en-US" dirty="0" smtClean="0"/>
              <a:t>Commonly used tools for alignment related tasks</a:t>
            </a:r>
            <a:endParaRPr lang="en-US" dirty="0"/>
          </a:p>
        </p:txBody>
      </p:sp>
      <p:sp>
        <p:nvSpPr>
          <p:cNvPr id="4" name="Content Placeholder 2"/>
          <p:cNvSpPr>
            <a:spLocks noGrp="1"/>
          </p:cNvSpPr>
          <p:nvPr>
            <p:ph idx="1"/>
          </p:nvPr>
        </p:nvSpPr>
        <p:spPr>
          <a:xfrm>
            <a:off x="457200" y="1600200"/>
            <a:ext cx="8229600" cy="4525963"/>
          </a:xfrm>
        </p:spPr>
        <p:txBody>
          <a:bodyPr>
            <a:normAutofit fontScale="70000" lnSpcReduction="20000"/>
          </a:bodyPr>
          <a:lstStyle/>
          <a:p>
            <a:r>
              <a:rPr lang="en-US" dirty="0" smtClean="0"/>
              <a:t>An alignment tool maps reads (FASTQ format) to a reference sequence and generates the alignment file (SAM format); SAM files can be converted into a binary representation (BAM format), which can be visualized and used for downstream analysis.</a:t>
            </a:r>
          </a:p>
          <a:p>
            <a:endParaRPr lang="en-US" dirty="0"/>
          </a:p>
          <a:p>
            <a:r>
              <a:rPr lang="en-US" dirty="0" smtClean="0"/>
              <a:t>DNA-</a:t>
            </a:r>
            <a:r>
              <a:rPr lang="en-US" dirty="0" err="1" smtClean="0"/>
              <a:t>Seq</a:t>
            </a:r>
            <a:r>
              <a:rPr lang="en-US" dirty="0" smtClean="0"/>
              <a:t> aligners: BWA, Bowtie2</a:t>
            </a:r>
          </a:p>
          <a:p>
            <a:endParaRPr lang="en-US" dirty="0" smtClean="0"/>
          </a:p>
          <a:p>
            <a:r>
              <a:rPr lang="en-US" dirty="0" smtClean="0"/>
              <a:t>RNA-</a:t>
            </a:r>
            <a:r>
              <a:rPr lang="en-US" dirty="0" err="1" smtClean="0"/>
              <a:t>Seq</a:t>
            </a:r>
            <a:r>
              <a:rPr lang="en-US" dirty="0" smtClean="0"/>
              <a:t> aligners: STAR, </a:t>
            </a:r>
            <a:r>
              <a:rPr lang="en-US" dirty="0" err="1" smtClean="0"/>
              <a:t>Tophat</a:t>
            </a:r>
            <a:endParaRPr lang="en-US" dirty="0" smtClean="0"/>
          </a:p>
          <a:p>
            <a:endParaRPr lang="en-US" dirty="0"/>
          </a:p>
          <a:p>
            <a:r>
              <a:rPr lang="en-US" dirty="0" smtClean="0"/>
              <a:t>SAM/BAM file formats manipulations (conversion, index, sort, </a:t>
            </a:r>
            <a:r>
              <a:rPr lang="en-US" dirty="0" err="1" smtClean="0"/>
              <a:t>etc</a:t>
            </a:r>
            <a:r>
              <a:rPr lang="en-US" dirty="0" smtClean="0"/>
              <a:t>): </a:t>
            </a:r>
            <a:r>
              <a:rPr lang="en-US" dirty="0" err="1" smtClean="0"/>
              <a:t>Samtools</a:t>
            </a:r>
            <a:endParaRPr lang="en-US" dirty="0" smtClean="0"/>
          </a:p>
          <a:p>
            <a:endParaRPr lang="en-US" dirty="0"/>
          </a:p>
          <a:p>
            <a:r>
              <a:rPr lang="en-US" dirty="0" smtClean="0"/>
              <a:t>Alignment visualization: IGV </a:t>
            </a:r>
            <a:endParaRPr lang="en-US" dirty="0"/>
          </a:p>
        </p:txBody>
      </p:sp>
    </p:spTree>
    <p:extLst>
      <p:ext uri="{BB962C8B-B14F-4D97-AF65-F5344CB8AC3E}">
        <p14:creationId xmlns:p14="http://schemas.microsoft.com/office/powerpoint/2010/main" val="25992929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 file format</a:t>
            </a:r>
            <a:endParaRPr lang="en-US" dirty="0"/>
          </a:p>
        </p:txBody>
      </p:sp>
      <p:sp>
        <p:nvSpPr>
          <p:cNvPr id="3" name="Content Placeholder 2"/>
          <p:cNvSpPr>
            <a:spLocks noGrp="1"/>
          </p:cNvSpPr>
          <p:nvPr>
            <p:ph idx="1"/>
          </p:nvPr>
        </p:nvSpPr>
        <p:spPr>
          <a:xfrm>
            <a:off x="381000" y="1648975"/>
            <a:ext cx="8229600" cy="4525963"/>
          </a:xfrm>
        </p:spPr>
        <p:txBody>
          <a:bodyPr>
            <a:noAutofit/>
          </a:bodyPr>
          <a:lstStyle/>
          <a:p>
            <a:r>
              <a:rPr lang="en-US" sz="2800" dirty="0" smtClean="0"/>
              <a:t>SAM stands for Sequence Alignment/Map format. It is a TAB-delimited text format consisting of a header section, which is optional and an alignment section.</a:t>
            </a:r>
          </a:p>
          <a:p>
            <a:endParaRPr lang="en-US" sz="2800" dirty="0" smtClean="0"/>
          </a:p>
          <a:p>
            <a:r>
              <a:rPr lang="en-US" sz="2800" dirty="0" smtClean="0"/>
              <a:t>Header lines start with “@”.</a:t>
            </a:r>
          </a:p>
          <a:p>
            <a:endParaRPr lang="en-US" sz="2800" dirty="0" smtClean="0"/>
          </a:p>
          <a:p>
            <a:r>
              <a:rPr lang="en-US" sz="2800" dirty="0" smtClean="0"/>
              <a:t>Each alignment line has 11 mandatory fields for essential alignment information such as mapping position and variable number of optional fields fir flexible or aligner specific information</a:t>
            </a:r>
            <a:endParaRPr lang="en-US" sz="2800" dirty="0"/>
          </a:p>
        </p:txBody>
      </p:sp>
      <p:sp>
        <p:nvSpPr>
          <p:cNvPr id="4" name="Rectangle 3"/>
          <p:cNvSpPr/>
          <p:nvPr/>
        </p:nvSpPr>
        <p:spPr>
          <a:xfrm>
            <a:off x="2362200" y="6373459"/>
            <a:ext cx="6477000" cy="369332"/>
          </a:xfrm>
          <a:prstGeom prst="rect">
            <a:avLst/>
          </a:prstGeom>
        </p:spPr>
        <p:txBody>
          <a:bodyPr wrap="square">
            <a:spAutoFit/>
          </a:bodyPr>
          <a:lstStyle/>
          <a:p>
            <a:r>
              <a:rPr lang="en-US" dirty="0"/>
              <a:t>https://samtools.github.io/hts-specs/SAMv1.pdf</a:t>
            </a:r>
          </a:p>
        </p:txBody>
      </p:sp>
    </p:spTree>
    <p:extLst>
      <p:ext uri="{BB962C8B-B14F-4D97-AF65-F5344CB8AC3E}">
        <p14:creationId xmlns:p14="http://schemas.microsoft.com/office/powerpoint/2010/main" val="30821681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 file format example</a:t>
            </a:r>
            <a:endParaRPr lang="en-US" dirty="0"/>
          </a:p>
        </p:txBody>
      </p:sp>
      <p:sp>
        <p:nvSpPr>
          <p:cNvPr id="3" name="Content Placeholder 2"/>
          <p:cNvSpPr>
            <a:spLocks noGrp="1"/>
          </p:cNvSpPr>
          <p:nvPr>
            <p:ph idx="1"/>
          </p:nvPr>
        </p:nvSpPr>
        <p:spPr>
          <a:xfrm>
            <a:off x="381000" y="1648975"/>
            <a:ext cx="8229600" cy="2770625"/>
          </a:xfrm>
        </p:spPr>
        <p:txBody>
          <a:bodyPr>
            <a:normAutofit/>
          </a:bodyPr>
          <a:lstStyle/>
          <a:p>
            <a:r>
              <a:rPr lang="en-US" sz="2400" dirty="0" smtClean="0"/>
              <a:t>Example:</a:t>
            </a:r>
          </a:p>
          <a:p>
            <a:pPr lvl="1"/>
            <a:r>
              <a:rPr lang="en-US" sz="2400" dirty="0" smtClean="0"/>
              <a:t> suppose we have the following alignment with bases in lower cases clipped from the alignment. Read r001/1 and r001/2 constitute a read pair; r003 is a chimeric read; r004 represents a split alignment.</a:t>
            </a:r>
            <a:endParaRPr lang="en-US" sz="2400" dirty="0"/>
          </a:p>
        </p:txBody>
      </p:sp>
      <p:sp>
        <p:nvSpPr>
          <p:cNvPr id="4" name="Rectangle 3"/>
          <p:cNvSpPr/>
          <p:nvPr/>
        </p:nvSpPr>
        <p:spPr>
          <a:xfrm>
            <a:off x="2362200" y="6373459"/>
            <a:ext cx="6477000" cy="369332"/>
          </a:xfrm>
          <a:prstGeom prst="rect">
            <a:avLst/>
          </a:prstGeom>
        </p:spPr>
        <p:txBody>
          <a:bodyPr wrap="square">
            <a:spAutoFit/>
          </a:bodyPr>
          <a:lstStyle/>
          <a:p>
            <a:r>
              <a:rPr lang="en-US" dirty="0"/>
              <a:t>https://samtools.github.io/hts-specs/SAMv1.pdf</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4010025"/>
            <a:ext cx="5143500" cy="2009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035829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 file format example</a:t>
            </a:r>
            <a:endParaRPr lang="en-US" dirty="0"/>
          </a:p>
        </p:txBody>
      </p:sp>
      <p:sp>
        <p:nvSpPr>
          <p:cNvPr id="3" name="Content Placeholder 2"/>
          <p:cNvSpPr>
            <a:spLocks noGrp="1"/>
          </p:cNvSpPr>
          <p:nvPr>
            <p:ph idx="1"/>
          </p:nvPr>
        </p:nvSpPr>
        <p:spPr>
          <a:xfrm>
            <a:off x="381000" y="1648975"/>
            <a:ext cx="8229600" cy="789425"/>
          </a:xfrm>
        </p:spPr>
        <p:txBody>
          <a:bodyPr>
            <a:normAutofit lnSpcReduction="10000"/>
          </a:bodyPr>
          <a:lstStyle/>
          <a:p>
            <a:r>
              <a:rPr lang="en-US" sz="2400" dirty="0" smtClean="0"/>
              <a:t>The corresponding SAM format for the example in the last slide is: </a:t>
            </a:r>
            <a:endParaRPr lang="en-US" sz="2400" dirty="0"/>
          </a:p>
        </p:txBody>
      </p:sp>
      <p:sp>
        <p:nvSpPr>
          <p:cNvPr id="4" name="Rectangle 3"/>
          <p:cNvSpPr/>
          <p:nvPr/>
        </p:nvSpPr>
        <p:spPr>
          <a:xfrm>
            <a:off x="2362200" y="6373459"/>
            <a:ext cx="6477000" cy="369332"/>
          </a:xfrm>
          <a:prstGeom prst="rect">
            <a:avLst/>
          </a:prstGeom>
        </p:spPr>
        <p:txBody>
          <a:bodyPr wrap="square">
            <a:spAutoFit/>
          </a:bodyPr>
          <a:lstStyle/>
          <a:p>
            <a:r>
              <a:rPr lang="en-US" dirty="0"/>
              <a:t>https://samtools.github.io/hts-specs/SAMv1.pdf</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 y="2476500"/>
            <a:ext cx="9153525" cy="2324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47574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 file format</a:t>
            </a:r>
            <a:endParaRPr lang="en-US" dirty="0"/>
          </a:p>
        </p:txBody>
      </p:sp>
      <p:sp>
        <p:nvSpPr>
          <p:cNvPr id="3" name="Content Placeholder 2"/>
          <p:cNvSpPr>
            <a:spLocks noGrp="1"/>
          </p:cNvSpPr>
          <p:nvPr>
            <p:ph idx="1"/>
          </p:nvPr>
        </p:nvSpPr>
        <p:spPr>
          <a:xfrm>
            <a:off x="381000" y="1648975"/>
            <a:ext cx="8229600" cy="789425"/>
          </a:xfrm>
        </p:spPr>
        <p:txBody>
          <a:bodyPr>
            <a:normAutofit/>
          </a:bodyPr>
          <a:lstStyle/>
          <a:p>
            <a:r>
              <a:rPr lang="en-US" sz="2400" dirty="0" smtClean="0"/>
              <a:t>The mandatory fields in the alignment section:</a:t>
            </a:r>
            <a:endParaRPr lang="en-US" sz="2400" dirty="0"/>
          </a:p>
        </p:txBody>
      </p:sp>
      <p:sp>
        <p:nvSpPr>
          <p:cNvPr id="4" name="Rectangle 3"/>
          <p:cNvSpPr/>
          <p:nvPr/>
        </p:nvSpPr>
        <p:spPr>
          <a:xfrm>
            <a:off x="2362200" y="6373459"/>
            <a:ext cx="6477000" cy="369332"/>
          </a:xfrm>
          <a:prstGeom prst="rect">
            <a:avLst/>
          </a:prstGeom>
        </p:spPr>
        <p:txBody>
          <a:bodyPr wrap="square">
            <a:spAutoFit/>
          </a:bodyPr>
          <a:lstStyle/>
          <a:p>
            <a:r>
              <a:rPr lang="en-US" dirty="0"/>
              <a:t>https://samtools.github.io/hts-specs/SAMv1.pdf</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738" y="2043113"/>
            <a:ext cx="8010525" cy="2771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381000" y="5181600"/>
            <a:ext cx="8763000" cy="646331"/>
          </a:xfrm>
          <a:prstGeom prst="rect">
            <a:avLst/>
          </a:prstGeom>
          <a:noFill/>
        </p:spPr>
        <p:txBody>
          <a:bodyPr wrap="square" rtlCol="0">
            <a:spAutoFit/>
          </a:bodyPr>
          <a:lstStyle/>
          <a:p>
            <a:r>
              <a:rPr lang="en-US" dirty="0" smtClean="0"/>
              <a:t>For detailed explanations of the different fields as well as other details of the SAM format, check the pdf file listed below (the official </a:t>
            </a:r>
            <a:r>
              <a:rPr lang="en-US" dirty="0" err="1" smtClean="0"/>
              <a:t>samtools</a:t>
            </a:r>
            <a:r>
              <a:rPr lang="en-US" dirty="0" smtClean="0"/>
              <a:t> manual).</a:t>
            </a:r>
            <a:endParaRPr lang="en-US" dirty="0"/>
          </a:p>
        </p:txBody>
      </p:sp>
    </p:spTree>
    <p:extLst>
      <p:ext uri="{BB962C8B-B14F-4D97-AF65-F5344CB8AC3E}">
        <p14:creationId xmlns:p14="http://schemas.microsoft.com/office/powerpoint/2010/main" val="28427915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BAM file format</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BGZF is block compression implemented on top of the standard </a:t>
            </a:r>
            <a:r>
              <a:rPr lang="en-US" dirty="0" err="1" smtClean="0"/>
              <a:t>gzip</a:t>
            </a:r>
            <a:r>
              <a:rPr lang="en-US" dirty="0" smtClean="0"/>
              <a:t> file format. The goal of BGZF is to provide good compression while allowing efficient random access to the BAM file for indexed queries.</a:t>
            </a:r>
          </a:p>
          <a:p>
            <a:endParaRPr lang="en-US" dirty="0"/>
          </a:p>
          <a:p>
            <a:r>
              <a:rPr lang="en-US" dirty="0" smtClean="0"/>
              <a:t>A BAM file is a SAM file compressed in the BGZF format. </a:t>
            </a:r>
          </a:p>
          <a:p>
            <a:endParaRPr lang="en-US" dirty="0"/>
          </a:p>
          <a:p>
            <a:r>
              <a:rPr lang="en-US" dirty="0" smtClean="0"/>
              <a:t>Indexing of a BAM file creates a BAI file (BAM index), which allows the BAM files to be randomly accessed and visualized. </a:t>
            </a:r>
            <a:endParaRPr lang="en-US" dirty="0"/>
          </a:p>
        </p:txBody>
      </p:sp>
      <p:sp>
        <p:nvSpPr>
          <p:cNvPr id="4" name="Rectangle 3"/>
          <p:cNvSpPr/>
          <p:nvPr/>
        </p:nvSpPr>
        <p:spPr>
          <a:xfrm>
            <a:off x="2362200" y="6373459"/>
            <a:ext cx="6477000" cy="369332"/>
          </a:xfrm>
          <a:prstGeom prst="rect">
            <a:avLst/>
          </a:prstGeom>
        </p:spPr>
        <p:txBody>
          <a:bodyPr wrap="square">
            <a:spAutoFit/>
          </a:bodyPr>
          <a:lstStyle/>
          <a:p>
            <a:r>
              <a:rPr lang="en-US" dirty="0"/>
              <a:t>https://samtools.github.io/hts-specs/SAMv1.pdf</a:t>
            </a:r>
          </a:p>
        </p:txBody>
      </p:sp>
    </p:spTree>
    <p:extLst>
      <p:ext uri="{BB962C8B-B14F-4D97-AF65-F5344CB8AC3E}">
        <p14:creationId xmlns:p14="http://schemas.microsoft.com/office/powerpoint/2010/main" val="2629303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alignment using BWA</a:t>
            </a:r>
            <a:endParaRPr lang="en-US" dirty="0"/>
          </a:p>
        </p:txBody>
      </p:sp>
      <p:sp>
        <p:nvSpPr>
          <p:cNvPr id="3" name="Content Placeholder 2"/>
          <p:cNvSpPr>
            <a:spLocks noGrp="1"/>
          </p:cNvSpPr>
          <p:nvPr>
            <p:ph idx="1"/>
          </p:nvPr>
        </p:nvSpPr>
        <p:spPr/>
        <p:txBody>
          <a:bodyPr/>
          <a:lstStyle/>
          <a:p>
            <a:r>
              <a:rPr lang="en-US" dirty="0" smtClean="0"/>
              <a:t>BWA: Burrows-Wheeler Alignment tool</a:t>
            </a:r>
          </a:p>
          <a:p>
            <a:r>
              <a:rPr lang="en-US" dirty="0" smtClean="0"/>
              <a:t>Example usages:</a:t>
            </a:r>
            <a:endParaRPr lang="en-US" dirty="0"/>
          </a:p>
        </p:txBody>
      </p:sp>
      <p:sp>
        <p:nvSpPr>
          <p:cNvPr id="4" name="Rectangle 3"/>
          <p:cNvSpPr/>
          <p:nvPr/>
        </p:nvSpPr>
        <p:spPr>
          <a:xfrm>
            <a:off x="4556760" y="6324600"/>
            <a:ext cx="4181466" cy="369332"/>
          </a:xfrm>
          <a:prstGeom prst="rect">
            <a:avLst/>
          </a:prstGeom>
        </p:spPr>
        <p:txBody>
          <a:bodyPr wrap="none">
            <a:spAutoFit/>
          </a:bodyPr>
          <a:lstStyle/>
          <a:p>
            <a:r>
              <a:rPr lang="en-US" dirty="0"/>
              <a:t>http://bio-bwa.sourceforge.net/bwa.shtml</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436" y="2971800"/>
            <a:ext cx="7350564"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630253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Manipulate SAM/BAM files with </a:t>
            </a:r>
            <a:r>
              <a:rPr lang="en-US" dirty="0" err="1" smtClean="0"/>
              <a:t>Samtools</a:t>
            </a:r>
            <a:endParaRPr lang="en-US" dirty="0"/>
          </a:p>
        </p:txBody>
      </p:sp>
      <p:sp>
        <p:nvSpPr>
          <p:cNvPr id="3" name="Content Placeholder 2"/>
          <p:cNvSpPr>
            <a:spLocks noGrp="1"/>
          </p:cNvSpPr>
          <p:nvPr>
            <p:ph idx="1"/>
          </p:nvPr>
        </p:nvSpPr>
        <p:spPr/>
        <p:txBody>
          <a:bodyPr>
            <a:normAutofit/>
          </a:bodyPr>
          <a:lstStyle/>
          <a:p>
            <a:r>
              <a:rPr lang="en-US" sz="2400" dirty="0" err="1" smtClean="0"/>
              <a:t>Samtools</a:t>
            </a:r>
            <a:r>
              <a:rPr lang="en-US" sz="2400" dirty="0" smtClean="0"/>
              <a:t>: utilities for the Sequence Alignment/MAP (SAM) format</a:t>
            </a:r>
          </a:p>
          <a:p>
            <a:r>
              <a:rPr lang="en-US" sz="2400" dirty="0" smtClean="0"/>
              <a:t>Example usages:</a:t>
            </a:r>
            <a:endParaRPr lang="en-US" sz="2400" dirty="0"/>
          </a:p>
        </p:txBody>
      </p:sp>
      <p:sp>
        <p:nvSpPr>
          <p:cNvPr id="4" name="Rectangle 3"/>
          <p:cNvSpPr/>
          <p:nvPr/>
        </p:nvSpPr>
        <p:spPr>
          <a:xfrm>
            <a:off x="152400" y="6233160"/>
            <a:ext cx="4098558" cy="369332"/>
          </a:xfrm>
          <a:prstGeom prst="rect">
            <a:avLst/>
          </a:prstGeom>
        </p:spPr>
        <p:txBody>
          <a:bodyPr wrap="none">
            <a:spAutoFit/>
          </a:bodyPr>
          <a:lstStyle/>
          <a:p>
            <a:r>
              <a:rPr lang="en-US" dirty="0"/>
              <a:t>http://www.htslib.org/doc/samtools.html</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2194321"/>
            <a:ext cx="3321289" cy="46572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99796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Visualize BAM files with IGV</a:t>
            </a:r>
            <a:endParaRPr lang="en-US" dirty="0"/>
          </a:p>
        </p:txBody>
      </p:sp>
      <p:pic>
        <p:nvPicPr>
          <p:cNvPr id="20482" name="Picture 2" descr="http://software.broadinstitute.org/software/igv/sites/cancerinformatics.org.igv/files/downsampled4_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600200"/>
            <a:ext cx="5715000" cy="34290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07920" y="5840492"/>
            <a:ext cx="6553200" cy="369332"/>
          </a:xfrm>
          <a:prstGeom prst="rect">
            <a:avLst/>
          </a:prstGeom>
        </p:spPr>
        <p:txBody>
          <a:bodyPr wrap="square">
            <a:spAutoFit/>
          </a:bodyPr>
          <a:lstStyle/>
          <a:p>
            <a:r>
              <a:rPr lang="en-US" dirty="0"/>
              <a:t>http://software.broadinstitute.org/software/igv/AlignmentData</a:t>
            </a:r>
          </a:p>
        </p:txBody>
      </p:sp>
    </p:spTree>
    <p:extLst>
      <p:ext uri="{BB962C8B-B14F-4D97-AF65-F5344CB8AC3E}">
        <p14:creationId xmlns:p14="http://schemas.microsoft.com/office/powerpoint/2010/main" val="20458105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VCF file format</a:t>
            </a:r>
            <a:endParaRPr lang="en-US" dirty="0"/>
          </a:p>
        </p:txBody>
      </p:sp>
      <p:sp>
        <p:nvSpPr>
          <p:cNvPr id="3" name="Content Placeholder 2"/>
          <p:cNvSpPr>
            <a:spLocks noGrp="1"/>
          </p:cNvSpPr>
          <p:nvPr>
            <p:ph idx="1"/>
          </p:nvPr>
        </p:nvSpPr>
        <p:spPr>
          <a:xfrm>
            <a:off x="457200" y="1600201"/>
            <a:ext cx="8229600" cy="1371599"/>
          </a:xfrm>
        </p:spPr>
        <p:txBody>
          <a:bodyPr>
            <a:normAutofit/>
          </a:bodyPr>
          <a:lstStyle/>
          <a:p>
            <a:r>
              <a:rPr lang="en-US" sz="2400" dirty="0" smtClean="0"/>
              <a:t>VCF is a text file format, which contains meta-information lines, a header line and then data lines each containing information about a position in the genome. Example:</a:t>
            </a:r>
            <a:endParaRPr lang="en-US" sz="2400" dirty="0"/>
          </a:p>
        </p:txBody>
      </p:sp>
      <p:sp>
        <p:nvSpPr>
          <p:cNvPr id="4" name="Rectangle 3"/>
          <p:cNvSpPr/>
          <p:nvPr/>
        </p:nvSpPr>
        <p:spPr>
          <a:xfrm>
            <a:off x="2667000" y="6417826"/>
            <a:ext cx="6324600" cy="369332"/>
          </a:xfrm>
          <a:prstGeom prst="rect">
            <a:avLst/>
          </a:prstGeom>
        </p:spPr>
        <p:txBody>
          <a:bodyPr wrap="square">
            <a:spAutoFit/>
          </a:bodyPr>
          <a:lstStyle/>
          <a:p>
            <a:r>
              <a:rPr lang="en-US" dirty="0"/>
              <a:t>http://www.internationalgenome.org/wiki/Analysis/vcf4.0/</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743199"/>
            <a:ext cx="5943600" cy="36916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45885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Details of VCF file format</a:t>
            </a:r>
            <a:endParaRPr lang="en-US" dirty="0"/>
          </a:p>
        </p:txBody>
      </p:sp>
      <p:sp>
        <p:nvSpPr>
          <p:cNvPr id="3" name="Content Placeholder 2"/>
          <p:cNvSpPr>
            <a:spLocks noGrp="1"/>
          </p:cNvSpPr>
          <p:nvPr>
            <p:ph idx="1"/>
          </p:nvPr>
        </p:nvSpPr>
        <p:spPr>
          <a:xfrm>
            <a:off x="457200" y="1600201"/>
            <a:ext cx="8229600" cy="4724399"/>
          </a:xfrm>
        </p:spPr>
        <p:txBody>
          <a:bodyPr>
            <a:normAutofit/>
          </a:bodyPr>
          <a:lstStyle/>
          <a:p>
            <a:r>
              <a:rPr lang="en-US" sz="2400" dirty="0" smtClean="0"/>
              <a:t>Meta-information lines</a:t>
            </a:r>
          </a:p>
          <a:p>
            <a:pPr lvl="1"/>
            <a:r>
              <a:rPr lang="en-US" sz="2000" dirty="0" smtClean="0"/>
              <a:t>Each line stars with “##”, often as key=value pairs</a:t>
            </a:r>
          </a:p>
          <a:p>
            <a:r>
              <a:rPr lang="en-US" sz="2400" dirty="0" smtClean="0"/>
              <a:t>Header line syntax (has 8 fixed mandatory columns)</a:t>
            </a:r>
          </a:p>
          <a:p>
            <a:pPr lvl="1"/>
            <a:endParaRPr lang="en-US" sz="2000" dirty="0" smtClean="0"/>
          </a:p>
          <a:p>
            <a:pPr lvl="1"/>
            <a:endParaRPr lang="en-US" sz="2000" dirty="0"/>
          </a:p>
          <a:p>
            <a:pPr lvl="1"/>
            <a:endParaRPr lang="en-US" sz="2000" dirty="0" smtClean="0"/>
          </a:p>
          <a:p>
            <a:pPr lvl="1"/>
            <a:endParaRPr lang="en-US" sz="2000" dirty="0" smtClean="0"/>
          </a:p>
          <a:p>
            <a:r>
              <a:rPr lang="en-US" sz="2400" dirty="0" smtClean="0"/>
              <a:t>Data lines</a:t>
            </a:r>
          </a:p>
          <a:p>
            <a:pPr lvl="1"/>
            <a:r>
              <a:rPr lang="en-US" sz="2000" dirty="0" smtClean="0"/>
              <a:t>There are 8 fixed fields per record. The values of the different fields correspond to the header line </a:t>
            </a:r>
            <a:endParaRPr lang="en-US" sz="2000" dirty="0"/>
          </a:p>
          <a:p>
            <a:r>
              <a:rPr lang="en-US" sz="2400" dirty="0" smtClean="0"/>
              <a:t>For more details, check the reference below.</a:t>
            </a:r>
            <a:endParaRPr lang="en-US" sz="2400" dirty="0"/>
          </a:p>
        </p:txBody>
      </p:sp>
      <p:sp>
        <p:nvSpPr>
          <p:cNvPr id="4" name="Rectangle 3"/>
          <p:cNvSpPr/>
          <p:nvPr/>
        </p:nvSpPr>
        <p:spPr>
          <a:xfrm>
            <a:off x="2667000" y="6417826"/>
            <a:ext cx="6324600" cy="369332"/>
          </a:xfrm>
          <a:prstGeom prst="rect">
            <a:avLst/>
          </a:prstGeom>
        </p:spPr>
        <p:txBody>
          <a:bodyPr wrap="square">
            <a:spAutoFit/>
          </a:bodyPr>
          <a:lstStyle/>
          <a:p>
            <a:r>
              <a:rPr lang="en-US" dirty="0"/>
              <a:t>http://www.internationalgenome.org/wiki/Analysis/vcf4.0/</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819400"/>
            <a:ext cx="828675" cy="1562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98476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Mutation calling</a:t>
            </a:r>
            <a:endParaRPr lang="en-US" dirty="0"/>
          </a:p>
        </p:txBody>
      </p:sp>
      <p:sp>
        <p:nvSpPr>
          <p:cNvPr id="3" name="Content Placeholder 2"/>
          <p:cNvSpPr>
            <a:spLocks noGrp="1"/>
          </p:cNvSpPr>
          <p:nvPr>
            <p:ph idx="1"/>
          </p:nvPr>
        </p:nvSpPr>
        <p:spPr/>
        <p:txBody>
          <a:bodyPr/>
          <a:lstStyle/>
          <a:p>
            <a:r>
              <a:rPr lang="en-US" dirty="0" smtClean="0"/>
              <a:t>For variants analysis using DNA-</a:t>
            </a:r>
            <a:r>
              <a:rPr lang="en-US" dirty="0" err="1" smtClean="0"/>
              <a:t>Seq</a:t>
            </a:r>
            <a:r>
              <a:rPr lang="en-US" dirty="0" smtClean="0"/>
              <a:t>, we can call variants after sequence alignment using various algorithms. The called variants are often represented in the VCF format.</a:t>
            </a:r>
          </a:p>
          <a:p>
            <a:endParaRPr lang="en-US" dirty="0"/>
          </a:p>
          <a:p>
            <a:r>
              <a:rPr lang="en-US" dirty="0" smtClean="0"/>
              <a:t>We will dive into the details of germline and somatic mutation calling next week.</a:t>
            </a:r>
            <a:endParaRPr lang="en-US" dirty="0"/>
          </a:p>
        </p:txBody>
      </p:sp>
    </p:spTree>
    <p:extLst>
      <p:ext uri="{BB962C8B-B14F-4D97-AF65-F5344CB8AC3E}">
        <p14:creationId xmlns:p14="http://schemas.microsoft.com/office/powerpoint/2010/main" val="9170701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BED format</a:t>
            </a:r>
            <a:endParaRPr lang="en-US" dirty="0"/>
          </a:p>
        </p:txBody>
      </p:sp>
      <p:sp>
        <p:nvSpPr>
          <p:cNvPr id="3" name="Content Placeholder 2"/>
          <p:cNvSpPr>
            <a:spLocks noGrp="1"/>
          </p:cNvSpPr>
          <p:nvPr>
            <p:ph idx="1"/>
          </p:nvPr>
        </p:nvSpPr>
        <p:spPr>
          <a:xfrm>
            <a:off x="457200" y="1600201"/>
            <a:ext cx="8229600" cy="3581400"/>
          </a:xfrm>
        </p:spPr>
        <p:txBody>
          <a:bodyPr>
            <a:normAutofit lnSpcReduction="10000"/>
          </a:bodyPr>
          <a:lstStyle/>
          <a:p>
            <a:r>
              <a:rPr lang="en-US" altLang="zh-CN" sz="2400" dirty="0" smtClean="0"/>
              <a:t>BED stands for Browser Extensible Data format, which provides a flexible way to define the data lines that are displayed in an annotation track. </a:t>
            </a:r>
          </a:p>
          <a:p>
            <a:endParaRPr lang="en-US" altLang="zh-CN" sz="2400" dirty="0" smtClean="0"/>
          </a:p>
          <a:p>
            <a:r>
              <a:rPr lang="en-US" altLang="zh-CN" sz="2400" dirty="0" smtClean="0"/>
              <a:t>BED lines have three required fields and nine additional optional fields. </a:t>
            </a:r>
          </a:p>
          <a:p>
            <a:endParaRPr lang="en-US" altLang="zh-CN" sz="2400" dirty="0"/>
          </a:p>
          <a:p>
            <a:r>
              <a:rPr lang="en-US" altLang="zh-CN" sz="2400" dirty="0" smtClean="0"/>
              <a:t>The number of fields per line must be consistent throughout any single set of data in an annotation track.</a:t>
            </a:r>
            <a:endParaRPr lang="en-US" sz="2400" dirty="0"/>
          </a:p>
        </p:txBody>
      </p:sp>
      <p:sp>
        <p:nvSpPr>
          <p:cNvPr id="4" name="Rectangle 3"/>
          <p:cNvSpPr/>
          <p:nvPr/>
        </p:nvSpPr>
        <p:spPr>
          <a:xfrm>
            <a:off x="2667000" y="6324600"/>
            <a:ext cx="6248400" cy="369332"/>
          </a:xfrm>
          <a:prstGeom prst="rect">
            <a:avLst/>
          </a:prstGeom>
        </p:spPr>
        <p:txBody>
          <a:bodyPr wrap="square">
            <a:spAutoFit/>
          </a:bodyPr>
          <a:lstStyle/>
          <a:p>
            <a:r>
              <a:rPr lang="en-US" dirty="0"/>
              <a:t>https://genome.ucsc.edu/FAQ/FAQformat.html#format1</a:t>
            </a:r>
          </a:p>
        </p:txBody>
      </p:sp>
    </p:spTree>
    <p:extLst>
      <p:ext uri="{BB962C8B-B14F-4D97-AF65-F5344CB8AC3E}">
        <p14:creationId xmlns:p14="http://schemas.microsoft.com/office/powerpoint/2010/main" val="42291743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Details of the BED format</a:t>
            </a:r>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29536"/>
            <a:ext cx="9143999" cy="36378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2667000" y="6324600"/>
            <a:ext cx="6248400" cy="369332"/>
          </a:xfrm>
          <a:prstGeom prst="rect">
            <a:avLst/>
          </a:prstGeom>
        </p:spPr>
        <p:txBody>
          <a:bodyPr wrap="square">
            <a:spAutoFit/>
          </a:bodyPr>
          <a:lstStyle/>
          <a:p>
            <a:r>
              <a:rPr lang="en-US" dirty="0"/>
              <a:t>https://genome.ucsc.edu/FAQ/FAQformat.html#format1</a:t>
            </a:r>
          </a:p>
        </p:txBody>
      </p:sp>
    </p:spTree>
    <p:extLst>
      <p:ext uri="{BB962C8B-B14F-4D97-AF65-F5344CB8AC3E}">
        <p14:creationId xmlns:p14="http://schemas.microsoft.com/office/powerpoint/2010/main" val="28574997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BED file</a:t>
            </a:r>
            <a:endParaRPr lang="en-US" dirty="0"/>
          </a:p>
        </p:txBody>
      </p:sp>
      <p:sp>
        <p:nvSpPr>
          <p:cNvPr id="3" name="Content Placeholder 2"/>
          <p:cNvSpPr>
            <a:spLocks noGrp="1"/>
          </p:cNvSpPr>
          <p:nvPr>
            <p:ph idx="1"/>
          </p:nvPr>
        </p:nvSpPr>
        <p:spPr/>
        <p:txBody>
          <a:bodyPr/>
          <a:lstStyle/>
          <a:p>
            <a:r>
              <a:rPr lang="en-US" dirty="0" smtClean="0"/>
              <a:t>This example shows an annotation track that uses the </a:t>
            </a:r>
            <a:r>
              <a:rPr lang="en-US" dirty="0" err="1" smtClean="0"/>
              <a:t>itemRgb</a:t>
            </a:r>
            <a:r>
              <a:rPr lang="en-US" dirty="0" smtClean="0"/>
              <a:t> attribute to individually color each data line:</a:t>
            </a:r>
            <a:endParaRPr lang="en-US" dirty="0"/>
          </a:p>
        </p:txBody>
      </p:sp>
      <p:sp>
        <p:nvSpPr>
          <p:cNvPr id="4" name="Rectangle 3"/>
          <p:cNvSpPr/>
          <p:nvPr/>
        </p:nvSpPr>
        <p:spPr>
          <a:xfrm>
            <a:off x="2667000" y="6324600"/>
            <a:ext cx="6248400" cy="369332"/>
          </a:xfrm>
          <a:prstGeom prst="rect">
            <a:avLst/>
          </a:prstGeom>
        </p:spPr>
        <p:txBody>
          <a:bodyPr wrap="square">
            <a:spAutoFit/>
          </a:bodyPr>
          <a:lstStyle/>
          <a:p>
            <a:r>
              <a:rPr lang="en-US" dirty="0"/>
              <a:t>https://genome.ucsc.edu/FAQ/FAQformat.html#format1</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650" y="3200400"/>
            <a:ext cx="7124700" cy="2247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133360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Visualize BED files with UCSC genome browser</a:t>
            </a:r>
          </a:p>
        </p:txBody>
      </p:sp>
      <p:sp>
        <p:nvSpPr>
          <p:cNvPr id="3" name="Content Placeholder 2"/>
          <p:cNvSpPr>
            <a:spLocks noGrp="1"/>
          </p:cNvSpPr>
          <p:nvPr>
            <p:ph idx="1"/>
          </p:nvPr>
        </p:nvSpPr>
        <p:spPr>
          <a:xfrm>
            <a:off x="457200" y="1600201"/>
            <a:ext cx="8229600" cy="1143000"/>
          </a:xfrm>
        </p:spPr>
        <p:txBody>
          <a:bodyPr/>
          <a:lstStyle/>
          <a:p>
            <a:r>
              <a:rPr lang="en-US" dirty="0" smtClean="0"/>
              <a:t>Visualize the BED file in the previous slide:</a:t>
            </a:r>
            <a:endParaRPr lang="en-US" dirty="0"/>
          </a:p>
        </p:txBody>
      </p:sp>
      <p:sp>
        <p:nvSpPr>
          <p:cNvPr id="4" name="Rectangle 3"/>
          <p:cNvSpPr/>
          <p:nvPr/>
        </p:nvSpPr>
        <p:spPr>
          <a:xfrm>
            <a:off x="533400" y="5486400"/>
            <a:ext cx="8229600" cy="1200329"/>
          </a:xfrm>
          <a:prstGeom prst="rect">
            <a:avLst/>
          </a:prstGeom>
        </p:spPr>
        <p:txBody>
          <a:bodyPr wrap="square">
            <a:spAutoFit/>
          </a:bodyPr>
          <a:lstStyle/>
          <a:p>
            <a:r>
              <a:rPr lang="en-US" dirty="0"/>
              <a:t>https://genome.ucsc.edu/cgi-bin/hgTracks?db=hg19&amp;lastVirtModeType=default&amp;lastVirtModeExtraState=&amp;virtModeType=default&amp;virtMode=0&amp;nonVirtPosition=&amp;position=chr7%3A127471196-127495720&amp;hgsid=700062233_xunK0ELZfPhtbEaGpwXbRkWD6H3a</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62200"/>
            <a:ext cx="8382000" cy="21511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0179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representation using BED formats</a:t>
            </a:r>
          </a:p>
        </p:txBody>
      </p:sp>
      <p:sp>
        <p:nvSpPr>
          <p:cNvPr id="3" name="Content Placeholder 2"/>
          <p:cNvSpPr>
            <a:spLocks noGrp="1"/>
          </p:cNvSpPr>
          <p:nvPr>
            <p:ph idx="1"/>
          </p:nvPr>
        </p:nvSpPr>
        <p:spPr/>
        <p:txBody>
          <a:bodyPr>
            <a:normAutofit fontScale="77500" lnSpcReduction="20000"/>
          </a:bodyPr>
          <a:lstStyle/>
          <a:p>
            <a:r>
              <a:rPr lang="en-US" dirty="0" smtClean="0"/>
              <a:t>BED files can be used to represent two major types of data:</a:t>
            </a:r>
          </a:p>
          <a:p>
            <a:pPr lvl="1"/>
            <a:r>
              <a:rPr lang="en-US" dirty="0" smtClean="0"/>
              <a:t>(1) Sequencing data: called peaks (such as CHIP-</a:t>
            </a:r>
            <a:r>
              <a:rPr lang="en-US" dirty="0" err="1" smtClean="0"/>
              <a:t>Seq</a:t>
            </a:r>
            <a:r>
              <a:rPr lang="en-US" dirty="0" smtClean="0"/>
              <a:t>), coverage tracks</a:t>
            </a:r>
          </a:p>
          <a:p>
            <a:pPr lvl="1"/>
            <a:r>
              <a:rPr lang="en-US" dirty="0" smtClean="0"/>
              <a:t>(2) Annotation/feature data: annotation information about genes, exons, promoter, etc.</a:t>
            </a:r>
          </a:p>
          <a:p>
            <a:endParaRPr lang="en-US" dirty="0"/>
          </a:p>
          <a:p>
            <a:r>
              <a:rPr lang="en-US" dirty="0" smtClean="0"/>
              <a:t>By combining the sequencing data and annotation data, we can annotate the sequencing data according to our needs, such as gene annotation, promoter mapping, </a:t>
            </a:r>
            <a:r>
              <a:rPr lang="en-US" dirty="0" err="1" smtClean="0"/>
              <a:t>exonic</a:t>
            </a:r>
            <a:r>
              <a:rPr lang="en-US" dirty="0" smtClean="0"/>
              <a:t> region extraction, 3’UTR extraction, etc.</a:t>
            </a:r>
          </a:p>
          <a:p>
            <a:endParaRPr lang="en-US" dirty="0"/>
          </a:p>
          <a:p>
            <a:r>
              <a:rPr lang="en-US" dirty="0" smtClean="0"/>
              <a:t>A very good software tool to perform such tasks is </a:t>
            </a:r>
            <a:r>
              <a:rPr lang="en-US" dirty="0" err="1" smtClean="0"/>
              <a:t>Bedtools</a:t>
            </a:r>
            <a:r>
              <a:rPr lang="en-US" dirty="0" smtClean="0"/>
              <a:t>.</a:t>
            </a:r>
            <a:endParaRPr lang="en-US" dirty="0"/>
          </a:p>
        </p:txBody>
      </p:sp>
    </p:spTree>
    <p:extLst>
      <p:ext uri="{BB962C8B-B14F-4D97-AF65-F5344CB8AC3E}">
        <p14:creationId xmlns:p14="http://schemas.microsoft.com/office/powerpoint/2010/main" val="3848438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Manipulate BED files with </a:t>
            </a:r>
            <a:r>
              <a:rPr lang="en-US" dirty="0" err="1" smtClean="0"/>
              <a:t>BEDtools</a:t>
            </a:r>
            <a:endParaRPr lang="en-US" dirty="0"/>
          </a:p>
        </p:txBody>
      </p:sp>
      <p:sp>
        <p:nvSpPr>
          <p:cNvPr id="4" name="Rectangle 3"/>
          <p:cNvSpPr/>
          <p:nvPr/>
        </p:nvSpPr>
        <p:spPr>
          <a:xfrm>
            <a:off x="2057400" y="6324600"/>
            <a:ext cx="6858000" cy="369332"/>
          </a:xfrm>
          <a:prstGeom prst="rect">
            <a:avLst/>
          </a:prstGeom>
        </p:spPr>
        <p:txBody>
          <a:bodyPr wrap="square">
            <a:spAutoFit/>
          </a:bodyPr>
          <a:lstStyle/>
          <a:p>
            <a:r>
              <a:rPr lang="en-US" dirty="0"/>
              <a:t>https://bedtools.readthedocs.io/en/latest/content/overview.html</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264920"/>
            <a:ext cx="4793370"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5631570" y="2514600"/>
            <a:ext cx="2445630" cy="646331"/>
          </a:xfrm>
          <a:prstGeom prst="rect">
            <a:avLst/>
          </a:prstGeom>
          <a:noFill/>
        </p:spPr>
        <p:txBody>
          <a:bodyPr wrap="square" rtlCol="0">
            <a:spAutoFit/>
          </a:bodyPr>
          <a:lstStyle/>
          <a:p>
            <a:r>
              <a:rPr lang="en-US" dirty="0" smtClean="0"/>
              <a:t>Some of the many </a:t>
            </a:r>
            <a:r>
              <a:rPr lang="en-US" dirty="0" err="1" smtClean="0"/>
              <a:t>BEDtools</a:t>
            </a:r>
            <a:r>
              <a:rPr lang="en-US" dirty="0" smtClean="0"/>
              <a:t> utilities</a:t>
            </a:r>
            <a:endParaRPr lang="en-US" dirty="0"/>
          </a:p>
        </p:txBody>
      </p:sp>
    </p:spTree>
    <p:extLst>
      <p:ext uri="{BB962C8B-B14F-4D97-AF65-F5344CB8AC3E}">
        <p14:creationId xmlns:p14="http://schemas.microsoft.com/office/powerpoint/2010/main" val="1677852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usage of </a:t>
            </a:r>
            <a:r>
              <a:rPr lang="en-US" dirty="0" err="1" smtClean="0"/>
              <a:t>BEDtools</a:t>
            </a:r>
            <a:endParaRPr lang="en-US" dirty="0"/>
          </a:p>
        </p:txBody>
      </p:sp>
      <p:sp>
        <p:nvSpPr>
          <p:cNvPr id="3" name="Content Placeholder 2"/>
          <p:cNvSpPr>
            <a:spLocks noGrp="1"/>
          </p:cNvSpPr>
          <p:nvPr>
            <p:ph idx="1"/>
          </p:nvPr>
        </p:nvSpPr>
        <p:spPr/>
        <p:txBody>
          <a:bodyPr>
            <a:normAutofit/>
          </a:bodyPr>
          <a:lstStyle/>
          <a:p>
            <a:r>
              <a:rPr lang="en-US" sz="2800" dirty="0"/>
              <a:t>A</a:t>
            </a:r>
            <a:r>
              <a:rPr lang="en-US" sz="2800" dirty="0" smtClean="0"/>
              <a:t>ll </a:t>
            </a:r>
            <a:r>
              <a:rPr lang="en-US" sz="2800" dirty="0" err="1"/>
              <a:t>bedtools</a:t>
            </a:r>
            <a:r>
              <a:rPr lang="en-US" sz="2800" dirty="0"/>
              <a:t> that compare features contained in two distinct files refer to one file as feature set “A” and the other file as feature set “B”. This is mainly in the interest of brevity, but it also has its roots in set theory. </a:t>
            </a:r>
            <a:endParaRPr lang="en-US" sz="2800" dirty="0" smtClean="0"/>
          </a:p>
          <a:p>
            <a:r>
              <a:rPr lang="en-US" sz="2800" dirty="0" smtClean="0"/>
              <a:t>As </a:t>
            </a:r>
            <a:r>
              <a:rPr lang="en-US" sz="2800" dirty="0"/>
              <a:t>an example, if one wanted to look for SNPs (file A) that overlap with exons (file B), one would use </a:t>
            </a:r>
            <a:r>
              <a:rPr lang="en-US" sz="2800" dirty="0" err="1"/>
              <a:t>bedtools</a:t>
            </a:r>
            <a:r>
              <a:rPr lang="en-US" sz="2800" dirty="0"/>
              <a:t> intersect in the following manner:</a:t>
            </a:r>
            <a:endParaRPr lang="en-US" sz="2800" dirty="0"/>
          </a:p>
        </p:txBody>
      </p:sp>
      <p:sp>
        <p:nvSpPr>
          <p:cNvPr id="4" name="Rectangle 3"/>
          <p:cNvSpPr/>
          <p:nvPr/>
        </p:nvSpPr>
        <p:spPr>
          <a:xfrm>
            <a:off x="2057400" y="6324600"/>
            <a:ext cx="6858000" cy="369332"/>
          </a:xfrm>
          <a:prstGeom prst="rect">
            <a:avLst/>
          </a:prstGeom>
        </p:spPr>
        <p:txBody>
          <a:bodyPr wrap="square">
            <a:spAutoFit/>
          </a:bodyPr>
          <a:lstStyle/>
          <a:p>
            <a:r>
              <a:rPr lang="en-US" dirty="0"/>
              <a:t>https://bedtools.readthedocs.io/en/latest/content/overview.html</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6312" y="5334000"/>
            <a:ext cx="7191375"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73902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a:bodyPr>
          <a:lstStyle/>
          <a:p>
            <a:r>
              <a:rPr lang="en-US" dirty="0" smtClean="0"/>
              <a:t>We covered many commonly used file types in bioinformatics: FASTQ, SAM, BAM, VCF, BED.</a:t>
            </a:r>
          </a:p>
          <a:p>
            <a:endParaRPr lang="en-US" dirty="0"/>
          </a:p>
          <a:p>
            <a:r>
              <a:rPr lang="en-US" dirty="0" smtClean="0"/>
              <a:t>There are correspondingly many useful software tools: aligners (e.g., BWA), SAM/BAM manipulator (</a:t>
            </a:r>
            <a:r>
              <a:rPr lang="en-US" dirty="0" err="1" smtClean="0"/>
              <a:t>Samtools</a:t>
            </a:r>
            <a:r>
              <a:rPr lang="en-US" dirty="0" smtClean="0"/>
              <a:t>), mutation callers (such as GATK), BED handler (</a:t>
            </a:r>
            <a:r>
              <a:rPr lang="en-US" dirty="0" err="1" smtClean="0"/>
              <a:t>BEDtools</a:t>
            </a:r>
            <a:r>
              <a:rPr lang="en-US" dirty="0" smtClean="0"/>
              <a:t>) and visualizers (IGV and UCSC genome browser).</a:t>
            </a:r>
            <a:endParaRPr lang="en-US" dirty="0"/>
          </a:p>
        </p:txBody>
      </p:sp>
    </p:spTree>
    <p:extLst>
      <p:ext uri="{BB962C8B-B14F-4D97-AF65-F5344CB8AC3E}">
        <p14:creationId xmlns:p14="http://schemas.microsoft.com/office/powerpoint/2010/main" val="22085849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TotalTime>
  <Words>1434</Words>
  <Application>Microsoft Office PowerPoint</Application>
  <PresentationFormat>On-screen Show (4:3)</PresentationFormat>
  <Paragraphs>241</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Biological Sequence Analysis</vt:lpstr>
      <vt:lpstr>Outline</vt:lpstr>
      <vt:lpstr>First step in NGS analysis</vt:lpstr>
      <vt:lpstr>Applications following alignment of NGS reads: genotyping by DNA-Seq</vt:lpstr>
      <vt:lpstr>Applications following alignment of NGS reads: somatic mutation calling by DNA-Seq</vt:lpstr>
      <vt:lpstr>Applications following alignment of NGS reads: peak calling by CHIP-Seq</vt:lpstr>
      <vt:lpstr>Applications following alignment of NGS reads: gene expression by RNASeq</vt:lpstr>
      <vt:lpstr>Variant discovery in NGS using GATK (Genome Analysis Toolkit)</vt:lpstr>
      <vt:lpstr>Simplified DNA-Seq variant analysis workflow example</vt:lpstr>
      <vt:lpstr>FASTQ file format</vt:lpstr>
      <vt:lpstr>Quality score in FASTQ files</vt:lpstr>
      <vt:lpstr>Quality score in FASTQ files</vt:lpstr>
      <vt:lpstr>Commonly used tools for alignment related tasks</vt:lpstr>
      <vt:lpstr>SAM file format</vt:lpstr>
      <vt:lpstr>SAM file format example</vt:lpstr>
      <vt:lpstr>SAM file format example</vt:lpstr>
      <vt:lpstr>SAM file format</vt:lpstr>
      <vt:lpstr>BAM file format</vt:lpstr>
      <vt:lpstr>Sequence alignment using BWA</vt:lpstr>
      <vt:lpstr>Manipulate SAM/BAM files with Samtools</vt:lpstr>
      <vt:lpstr>Visualize BAM files with IGV</vt:lpstr>
      <vt:lpstr>VCF file format</vt:lpstr>
      <vt:lpstr>Details of VCF file format</vt:lpstr>
      <vt:lpstr>Mutation calling</vt:lpstr>
      <vt:lpstr>BED format</vt:lpstr>
      <vt:lpstr>Details of the BED format</vt:lpstr>
      <vt:lpstr>Example BED file</vt:lpstr>
      <vt:lpstr>Visualize BED files with UCSC genome browser</vt:lpstr>
      <vt:lpstr>Data representation using BED formats</vt:lpstr>
      <vt:lpstr>Manipulate BED files with BEDtools</vt:lpstr>
      <vt:lpstr>Example usage of BEDtools</vt:lpstr>
      <vt:lpstr>Summary</vt:lpstr>
    </vt:vector>
  </TitlesOfParts>
  <Company>Eisai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Biological Sequence Analysis</dc:title>
  <dc:creator>Windows User</dc:creator>
  <cp:lastModifiedBy>Windows User</cp:lastModifiedBy>
  <cp:revision>41</cp:revision>
  <dcterms:created xsi:type="dcterms:W3CDTF">2018-11-18T01:42:17Z</dcterms:created>
  <dcterms:modified xsi:type="dcterms:W3CDTF">2018-11-26T19:34:17Z</dcterms:modified>
</cp:coreProperties>
</file>