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1" r:id="rId4"/>
    <p:sldId id="269" r:id="rId5"/>
    <p:sldId id="270" r:id="rId6"/>
    <p:sldId id="276" r:id="rId7"/>
    <p:sldId id="271" r:id="rId8"/>
    <p:sldId id="274" r:id="rId9"/>
    <p:sldId id="272" r:id="rId10"/>
    <p:sldId id="277" r:id="rId11"/>
    <p:sldId id="279" r:id="rId12"/>
    <p:sldId id="268" r:id="rId13"/>
    <p:sldId id="278" r:id="rId14"/>
    <p:sldId id="262" r:id="rId15"/>
    <p:sldId id="263" r:id="rId16"/>
    <p:sldId id="280" r:id="rId17"/>
    <p:sldId id="281" r:id="rId18"/>
    <p:sldId id="282" r:id="rId19"/>
    <p:sldId id="265" r:id="rId20"/>
    <p:sldId id="283" r:id="rId21"/>
    <p:sldId id="259" r:id="rId22"/>
    <p:sldId id="266" r:id="rId23"/>
    <p:sldId id="26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119F9DF-9D47-4B2C-A5BB-0319810BDE76}" type="datetimeFigureOut">
              <a:rPr lang="en-US" smtClean="0"/>
              <a:t>12/19/2018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1257318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19F9DF-9D47-4B2C-A5BB-0319810BDE76}" type="datetimeFigureOut">
              <a:rPr lang="en-US" smtClean="0"/>
              <a:t>12/19/2018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1734865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119F9DF-9D47-4B2C-A5BB-0319810BDE76}" type="datetimeFigureOut">
              <a:rPr lang="en-US" smtClean="0"/>
              <a:t>12/19/2018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31097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119F9DF-9D47-4B2C-A5BB-0319810BDE76}" type="datetimeFigureOut">
              <a:rPr lang="en-US" smtClean="0"/>
              <a:t>12/19/2018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2117496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119F9DF-9D47-4B2C-A5BB-0319810BDE76}" type="datetimeFigureOut">
              <a:rPr lang="en-US" smtClean="0"/>
              <a:t>12/19/2018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494087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119F9DF-9D47-4B2C-A5BB-0319810BDE76}" type="datetimeFigureOut">
              <a:rPr lang="en-US" smtClean="0"/>
              <a:t>12/19/2018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20405286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19F9DF-9D47-4B2C-A5BB-0319810BDE76}" type="datetimeFigureOut">
              <a:rPr lang="en-US" smtClean="0"/>
              <a:t>12/19/2018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3319491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19F9DF-9D47-4B2C-A5BB-0319810BDE76}" type="datetimeFigureOut">
              <a:rPr lang="en-US" smtClean="0"/>
              <a:t>12/19/2018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721216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119F9DF-9D47-4B2C-A5BB-0319810BDE76}" type="datetimeFigureOut">
              <a:rPr lang="en-US" smtClean="0"/>
              <a:t>12/19/2018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21116880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19F9DF-9D47-4B2C-A5BB-0319810BDE76}" type="datetimeFigureOut">
              <a:rPr lang="en-US" smtClean="0"/>
              <a:t>12/19/2018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2068036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119F9DF-9D47-4B2C-A5BB-0319810BDE76}" type="datetimeFigureOut">
              <a:rPr lang="en-US" smtClean="0"/>
              <a:t>12/19/2018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A574D91-EAE7-474C-AB9D-86957A9EE91A}" type="slidenum">
              <a:rPr lang="en-US" smtClean="0"/>
              <a:t>‹#›</a:t>
            </a:fld>
            <a:endParaRPr lang="en-US"/>
          </a:p>
        </p:txBody>
      </p:sp>
    </p:spTree>
    <p:extLst>
      <p:ext uri="{BB962C8B-B14F-4D97-AF65-F5344CB8AC3E}">
        <p14:creationId xmlns:p14="http://schemas.microsoft.com/office/powerpoint/2010/main" val="23317671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19F9DF-9D47-4B2C-A5BB-0319810BDE76}" type="datetimeFigureOut">
              <a:rPr lang="en-US" smtClean="0"/>
              <a:t>12/19/2018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574D91-EAE7-474C-AB9D-86957A9EE91A}" type="slidenum">
              <a:rPr lang="en-US" smtClean="0"/>
              <a:t>‹#›</a:t>
            </a:fld>
            <a:endParaRPr lang="en-US"/>
          </a:p>
        </p:txBody>
      </p:sp>
    </p:spTree>
    <p:extLst>
      <p:ext uri="{BB962C8B-B14F-4D97-AF65-F5344CB8AC3E}">
        <p14:creationId xmlns:p14="http://schemas.microsoft.com/office/powerpoint/2010/main" val="2634791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igm.univ-mlv.fr/~lecroq/string/"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meme-suite.org/tools/meme"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Biological Sequence Analysis</a:t>
            </a:r>
            <a:endParaRPr lang="en-US" dirty="0"/>
          </a:p>
        </p:txBody>
      </p:sp>
      <p:sp>
        <p:nvSpPr>
          <p:cNvPr id="3" name="Subtitle 2"/>
          <p:cNvSpPr>
            <a:spLocks noGrp="1"/>
          </p:cNvSpPr>
          <p:nvPr>
            <p:ph type="subTitle" idx="1"/>
          </p:nvPr>
        </p:nvSpPr>
        <p:spPr/>
        <p:txBody>
          <a:bodyPr/>
          <a:lstStyle/>
          <a:p>
            <a:r>
              <a:rPr lang="en-US" dirty="0" smtClean="0"/>
              <a:t>Motif discovery</a:t>
            </a:r>
            <a:endParaRPr lang="en-US" dirty="0"/>
          </a:p>
        </p:txBody>
      </p:sp>
    </p:spTree>
    <p:extLst>
      <p:ext uri="{BB962C8B-B14F-4D97-AF65-F5344CB8AC3E}">
        <p14:creationId xmlns:p14="http://schemas.microsoft.com/office/powerpoint/2010/main" val="272037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smtClean="0"/>
              <a:t>Exact string search algorithm</a:t>
            </a:r>
          </a:p>
          <a:p>
            <a:pPr lvl="1"/>
            <a:r>
              <a:rPr lang="en-US" dirty="0" smtClean="0"/>
              <a:t>Naïve algorithm</a:t>
            </a:r>
          </a:p>
          <a:p>
            <a:pPr lvl="1"/>
            <a:r>
              <a:rPr lang="en-US" dirty="0" smtClean="0"/>
              <a:t>KMP algorithm</a:t>
            </a:r>
          </a:p>
          <a:p>
            <a:pPr lvl="1"/>
            <a:r>
              <a:rPr lang="en-US" dirty="0" smtClean="0"/>
              <a:t>RK algorithm</a:t>
            </a:r>
            <a:endParaRPr lang="en-US" dirty="0"/>
          </a:p>
          <a:p>
            <a:endParaRPr lang="en-US" dirty="0" smtClean="0"/>
          </a:p>
          <a:p>
            <a:r>
              <a:rPr lang="en-US" dirty="0" smtClean="0"/>
              <a:t>Motif discovery</a:t>
            </a:r>
          </a:p>
          <a:p>
            <a:pPr lvl="1"/>
            <a:r>
              <a:rPr lang="en-US" dirty="0" smtClean="0"/>
              <a:t>Example</a:t>
            </a:r>
          </a:p>
          <a:p>
            <a:pPr lvl="1"/>
            <a:r>
              <a:rPr lang="en-US" dirty="0" smtClean="0"/>
              <a:t>Motif discovery methods and common tools</a:t>
            </a:r>
            <a:endParaRPr lang="en-US" dirty="0"/>
          </a:p>
        </p:txBody>
      </p:sp>
    </p:spTree>
    <p:extLst>
      <p:ext uri="{BB962C8B-B14F-4D97-AF65-F5344CB8AC3E}">
        <p14:creationId xmlns:p14="http://schemas.microsoft.com/office/powerpoint/2010/main" val="2179808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 searching or matching</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bioinformatics, string search means finding the occurrence of a sequence (query, with the length m) or a pattern within another sequence (target, with the length n). The sequences could be DNA, RNA or protein.</a:t>
            </a:r>
          </a:p>
          <a:p>
            <a:endParaRPr lang="en-US" dirty="0"/>
          </a:p>
          <a:p>
            <a:r>
              <a:rPr lang="en-US" dirty="0" smtClean="0"/>
              <a:t>Many bioinformatics analysis need string searching or matching. For example, checking whether a sequence contains a particular motif requires string matching.</a:t>
            </a:r>
            <a:endParaRPr lang="en-US" dirty="0"/>
          </a:p>
        </p:txBody>
      </p:sp>
    </p:spTree>
    <p:extLst>
      <p:ext uri="{BB962C8B-B14F-4D97-AF65-F5344CB8AC3E}">
        <p14:creationId xmlns:p14="http://schemas.microsoft.com/office/powerpoint/2010/main" val="6613713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Common exact string search algorithm</a:t>
            </a:r>
            <a:endParaRPr lang="en-US" dirty="0"/>
          </a:p>
        </p:txBody>
      </p:sp>
      <p:sp>
        <p:nvSpPr>
          <p:cNvPr id="3" name="Content Placeholder 2"/>
          <p:cNvSpPr>
            <a:spLocks noGrp="1"/>
          </p:cNvSpPr>
          <p:nvPr>
            <p:ph idx="1"/>
          </p:nvPr>
        </p:nvSpPr>
        <p:spPr/>
        <p:txBody>
          <a:bodyPr/>
          <a:lstStyle/>
          <a:p>
            <a:r>
              <a:rPr lang="en-US" dirty="0" smtClean="0"/>
              <a:t>Brute force algorithm</a:t>
            </a:r>
          </a:p>
          <a:p>
            <a:r>
              <a:rPr lang="en-US" dirty="0" smtClean="0"/>
              <a:t>Knuth-Morris-Pratt algorithm</a:t>
            </a:r>
          </a:p>
          <a:p>
            <a:r>
              <a:rPr lang="en-US" dirty="0" smtClean="0"/>
              <a:t>Rabin-Karp algorithm</a:t>
            </a:r>
          </a:p>
          <a:p>
            <a:endParaRPr lang="en-US" dirty="0"/>
          </a:p>
        </p:txBody>
      </p:sp>
    </p:spTree>
    <p:extLst>
      <p:ext uri="{BB962C8B-B14F-4D97-AF65-F5344CB8AC3E}">
        <p14:creationId xmlns:p14="http://schemas.microsoft.com/office/powerpoint/2010/main" val="2236430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Brute force string search algorithm</a:t>
            </a:r>
            <a:endParaRPr lang="en-US" dirty="0"/>
          </a:p>
        </p:txBody>
      </p:sp>
      <p:sp>
        <p:nvSpPr>
          <p:cNvPr id="3" name="Content Placeholder 2"/>
          <p:cNvSpPr>
            <a:spLocks noGrp="1"/>
          </p:cNvSpPr>
          <p:nvPr>
            <p:ph idx="1"/>
          </p:nvPr>
        </p:nvSpPr>
        <p:spPr/>
        <p:txBody>
          <a:bodyPr/>
          <a:lstStyle/>
          <a:p>
            <a:r>
              <a:rPr lang="en-US" dirty="0" smtClean="0"/>
              <a:t>The brute force algorithm, also called the naïve algorithm, checks at  all positions in the target between 0 and n-m to determine whether there is an occurrence of the query starting there.</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1000" y="5153527"/>
            <a:ext cx="1952874" cy="63767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48600" y="4315327"/>
            <a:ext cx="4452200" cy="899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1262800" y="4687661"/>
            <a:ext cx="914400" cy="381000"/>
          </a:xfrm>
          <a:prstGeom prst="rect">
            <a:avLst/>
          </a:prstGeom>
          <a:noFill/>
        </p:spPr>
        <p:txBody>
          <a:bodyPr wrap="square" rtlCol="0">
            <a:spAutoFit/>
          </a:bodyPr>
          <a:lstStyle/>
          <a:p>
            <a:r>
              <a:rPr lang="en-US" dirty="0" smtClean="0"/>
              <a:t>Target</a:t>
            </a:r>
            <a:endParaRPr lang="en-US" dirty="0"/>
          </a:p>
        </p:txBody>
      </p:sp>
      <p:sp>
        <p:nvSpPr>
          <p:cNvPr id="7" name="TextBox 6"/>
          <p:cNvSpPr txBox="1"/>
          <p:nvPr/>
        </p:nvSpPr>
        <p:spPr>
          <a:xfrm>
            <a:off x="1262800" y="5281863"/>
            <a:ext cx="914400" cy="381000"/>
          </a:xfrm>
          <a:prstGeom prst="rect">
            <a:avLst/>
          </a:prstGeom>
          <a:noFill/>
        </p:spPr>
        <p:txBody>
          <a:bodyPr wrap="square" rtlCol="0">
            <a:spAutoFit/>
          </a:bodyPr>
          <a:lstStyle/>
          <a:p>
            <a:r>
              <a:rPr lang="en-US" dirty="0" smtClean="0"/>
              <a:t>Query</a:t>
            </a:r>
            <a:endParaRPr lang="en-US" dirty="0"/>
          </a:p>
        </p:txBody>
      </p:sp>
    </p:spTree>
    <p:extLst>
      <p:ext uri="{BB962C8B-B14F-4D97-AF65-F5344CB8AC3E}">
        <p14:creationId xmlns:p14="http://schemas.microsoft.com/office/powerpoint/2010/main" val="2853566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Brute force algorithm</a:t>
            </a:r>
            <a:endParaRPr 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7620" y="2638927"/>
            <a:ext cx="2027980" cy="662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040" y="1828800"/>
            <a:ext cx="4452200" cy="899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5240" y="2201134"/>
            <a:ext cx="914400" cy="381000"/>
          </a:xfrm>
          <a:prstGeom prst="rect">
            <a:avLst/>
          </a:prstGeom>
          <a:noFill/>
        </p:spPr>
        <p:txBody>
          <a:bodyPr wrap="square" rtlCol="0">
            <a:spAutoFit/>
          </a:bodyPr>
          <a:lstStyle/>
          <a:p>
            <a:r>
              <a:rPr lang="en-US" dirty="0" smtClean="0"/>
              <a:t>Target</a:t>
            </a:r>
            <a:endParaRPr lang="en-US" dirty="0"/>
          </a:p>
        </p:txBody>
      </p:sp>
      <p:sp>
        <p:nvSpPr>
          <p:cNvPr id="8" name="TextBox 7"/>
          <p:cNvSpPr txBox="1"/>
          <p:nvPr/>
        </p:nvSpPr>
        <p:spPr>
          <a:xfrm>
            <a:off x="15240" y="2795336"/>
            <a:ext cx="914400" cy="381000"/>
          </a:xfrm>
          <a:prstGeom prst="rect">
            <a:avLst/>
          </a:prstGeom>
          <a:noFill/>
        </p:spPr>
        <p:txBody>
          <a:bodyPr wrap="square" rtlCol="0">
            <a:spAutoFit/>
          </a:bodyPr>
          <a:lstStyle/>
          <a:p>
            <a:r>
              <a:rPr lang="en-US" dirty="0" smtClean="0"/>
              <a:t>Query</a:t>
            </a:r>
            <a:endParaRPr lang="en-US" dirty="0"/>
          </a:p>
        </p:txBody>
      </p:sp>
      <p:sp>
        <p:nvSpPr>
          <p:cNvPr id="5" name="TextBox 4"/>
          <p:cNvSpPr txBox="1"/>
          <p:nvPr/>
        </p:nvSpPr>
        <p:spPr>
          <a:xfrm>
            <a:off x="6720840" y="2727802"/>
            <a:ext cx="1600200" cy="369332"/>
          </a:xfrm>
          <a:prstGeom prst="rect">
            <a:avLst/>
          </a:prstGeom>
          <a:noFill/>
        </p:spPr>
        <p:txBody>
          <a:bodyPr wrap="square" rtlCol="0">
            <a:spAutoFit/>
          </a:bodyPr>
          <a:lstStyle/>
          <a:p>
            <a:r>
              <a:rPr lang="en-US" dirty="0" smtClean="0"/>
              <a:t>Step 1</a:t>
            </a:r>
            <a:endParaRPr lang="en-US" dirty="0"/>
          </a:p>
        </p:txBody>
      </p:sp>
      <p:sp>
        <p:nvSpPr>
          <p:cNvPr id="15" name="TextBox 14"/>
          <p:cNvSpPr txBox="1"/>
          <p:nvPr/>
        </p:nvSpPr>
        <p:spPr>
          <a:xfrm>
            <a:off x="6720840" y="3364468"/>
            <a:ext cx="1600200" cy="369332"/>
          </a:xfrm>
          <a:prstGeom prst="rect">
            <a:avLst/>
          </a:prstGeom>
          <a:noFill/>
        </p:spPr>
        <p:txBody>
          <a:bodyPr wrap="square" rtlCol="0">
            <a:spAutoFit/>
          </a:bodyPr>
          <a:lstStyle/>
          <a:p>
            <a:r>
              <a:rPr lang="en-US" dirty="0" smtClean="0"/>
              <a:t>Step 2</a:t>
            </a:r>
            <a:endParaRPr lang="en-US" dirty="0"/>
          </a:p>
        </p:txBody>
      </p:sp>
      <p:sp>
        <p:nvSpPr>
          <p:cNvPr id="16" name="TextBox 15"/>
          <p:cNvSpPr txBox="1"/>
          <p:nvPr/>
        </p:nvSpPr>
        <p:spPr>
          <a:xfrm>
            <a:off x="6705600" y="3897868"/>
            <a:ext cx="1600200" cy="369332"/>
          </a:xfrm>
          <a:prstGeom prst="rect">
            <a:avLst/>
          </a:prstGeom>
          <a:noFill/>
        </p:spPr>
        <p:txBody>
          <a:bodyPr wrap="square" rtlCol="0">
            <a:spAutoFit/>
          </a:bodyPr>
          <a:lstStyle/>
          <a:p>
            <a:r>
              <a:rPr lang="en-US" dirty="0" smtClean="0"/>
              <a:t>Step 3</a:t>
            </a:r>
            <a:endParaRPr lang="en-US" dirty="0"/>
          </a:p>
        </p:txBody>
      </p:sp>
      <p:sp>
        <p:nvSpPr>
          <p:cNvPr id="17" name="TextBox 16"/>
          <p:cNvSpPr txBox="1"/>
          <p:nvPr/>
        </p:nvSpPr>
        <p:spPr>
          <a:xfrm>
            <a:off x="6705600" y="4419600"/>
            <a:ext cx="1600200" cy="369332"/>
          </a:xfrm>
          <a:prstGeom prst="rect">
            <a:avLst/>
          </a:prstGeom>
          <a:noFill/>
        </p:spPr>
        <p:txBody>
          <a:bodyPr wrap="square" rtlCol="0">
            <a:spAutoFit/>
          </a:bodyPr>
          <a:lstStyle/>
          <a:p>
            <a:r>
              <a:rPr lang="en-US" dirty="0" smtClean="0"/>
              <a:t>Step 4</a:t>
            </a:r>
            <a:endParaRPr lang="en-US" dirty="0"/>
          </a:p>
        </p:txBody>
      </p:sp>
      <p:sp>
        <p:nvSpPr>
          <p:cNvPr id="18" name="TextBox 17"/>
          <p:cNvSpPr txBox="1"/>
          <p:nvPr/>
        </p:nvSpPr>
        <p:spPr>
          <a:xfrm>
            <a:off x="6781800" y="5128736"/>
            <a:ext cx="1600200" cy="369332"/>
          </a:xfrm>
          <a:prstGeom prst="rect">
            <a:avLst/>
          </a:prstGeom>
          <a:noFill/>
        </p:spPr>
        <p:txBody>
          <a:bodyPr wrap="square" rtlCol="0">
            <a:spAutoFit/>
          </a:bodyPr>
          <a:lstStyle/>
          <a:p>
            <a:r>
              <a:rPr lang="en-US" dirty="0" smtClean="0"/>
              <a:t>Step 5</a:t>
            </a:r>
            <a:endParaRPr lang="en-US" dirty="0"/>
          </a:p>
        </p:txBody>
      </p:sp>
      <p:sp>
        <p:nvSpPr>
          <p:cNvPr id="19" name="TextBox 18"/>
          <p:cNvSpPr txBox="1"/>
          <p:nvPr/>
        </p:nvSpPr>
        <p:spPr>
          <a:xfrm>
            <a:off x="6781800" y="5650468"/>
            <a:ext cx="1600200" cy="369332"/>
          </a:xfrm>
          <a:prstGeom prst="rect">
            <a:avLst/>
          </a:prstGeom>
          <a:noFill/>
        </p:spPr>
        <p:txBody>
          <a:bodyPr wrap="square" rtlCol="0">
            <a:spAutoFit/>
          </a:bodyPr>
          <a:lstStyle/>
          <a:p>
            <a:r>
              <a:rPr lang="en-US" dirty="0" smtClean="0"/>
              <a:t>Step 6, bingo!</a:t>
            </a:r>
            <a:endParaRPr lang="en-US" dirty="0"/>
          </a:p>
        </p:txBody>
      </p:sp>
      <p:sp>
        <p:nvSpPr>
          <p:cNvPr id="6" name="Right Arrow 5"/>
          <p:cNvSpPr/>
          <p:nvPr/>
        </p:nvSpPr>
        <p:spPr>
          <a:xfrm>
            <a:off x="472440" y="5610727"/>
            <a:ext cx="1143000" cy="4090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596514" y="5029200"/>
            <a:ext cx="1323726" cy="646331"/>
          </a:xfrm>
          <a:prstGeom prst="rect">
            <a:avLst/>
          </a:prstGeom>
          <a:noFill/>
        </p:spPr>
        <p:txBody>
          <a:bodyPr wrap="square" rtlCol="0">
            <a:spAutoFit/>
          </a:bodyPr>
          <a:lstStyle/>
          <a:p>
            <a:r>
              <a:rPr lang="en-US" dirty="0" smtClean="0"/>
              <a:t>Shift the query</a:t>
            </a:r>
            <a:endParaRPr lang="en-US" dirty="0"/>
          </a:p>
        </p:txBody>
      </p:sp>
      <p:pic>
        <p:nvPicPr>
          <p:cNvPr id="2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620" y="3300203"/>
            <a:ext cx="2027980" cy="662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3909803"/>
            <a:ext cx="2027980" cy="662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671803"/>
            <a:ext cx="2027980" cy="662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7820" y="5510003"/>
            <a:ext cx="2027980" cy="662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35713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Knuth-Morris-Pratt </a:t>
            </a:r>
            <a:r>
              <a:rPr lang="en-US" dirty="0" smtClean="0"/>
              <a:t>algorithm</a:t>
            </a:r>
            <a:endParaRPr lang="en-US" dirty="0"/>
          </a:p>
        </p:txBody>
      </p:sp>
      <p:sp>
        <p:nvSpPr>
          <p:cNvPr id="3" name="Content Placeholder 2"/>
          <p:cNvSpPr>
            <a:spLocks noGrp="1"/>
          </p:cNvSpPr>
          <p:nvPr>
            <p:ph idx="1"/>
          </p:nvPr>
        </p:nvSpPr>
        <p:spPr/>
        <p:txBody>
          <a:bodyPr>
            <a:normAutofit/>
          </a:bodyPr>
          <a:lstStyle/>
          <a:p>
            <a:r>
              <a:rPr lang="en-US" dirty="0"/>
              <a:t>Slide a sliding window of length m </a:t>
            </a:r>
            <a:r>
              <a:rPr lang="en-US" dirty="0" smtClean="0"/>
              <a:t>(query) </a:t>
            </a:r>
            <a:r>
              <a:rPr lang="en-US" dirty="0"/>
              <a:t>over the </a:t>
            </a:r>
            <a:r>
              <a:rPr lang="en-US" dirty="0" smtClean="0"/>
              <a:t>target (of length n) </a:t>
            </a:r>
            <a:r>
              <a:rPr lang="en-US" dirty="0"/>
              <a:t>from left to </a:t>
            </a:r>
            <a:r>
              <a:rPr lang="en-US" dirty="0" smtClean="0"/>
              <a:t>right.</a:t>
            </a:r>
          </a:p>
          <a:p>
            <a:r>
              <a:rPr lang="en-US" dirty="0" smtClean="0"/>
              <a:t>Within </a:t>
            </a:r>
            <a:r>
              <a:rPr lang="en-US" dirty="0"/>
              <a:t>the </a:t>
            </a:r>
            <a:r>
              <a:rPr lang="en-US" dirty="0" smtClean="0"/>
              <a:t>window, compare </a:t>
            </a:r>
            <a:r>
              <a:rPr lang="en-US" dirty="0"/>
              <a:t>successive characters from left to right until a mismatch is hit</a:t>
            </a:r>
            <a:r>
              <a:rPr lang="en-US" dirty="0" smtClean="0"/>
              <a:t>.</a:t>
            </a:r>
          </a:p>
          <a:p>
            <a:r>
              <a:rPr lang="en-US" dirty="0"/>
              <a:t>When a mismatch </a:t>
            </a:r>
            <a:r>
              <a:rPr lang="en-US" dirty="0" smtClean="0"/>
              <a:t>hits</a:t>
            </a:r>
            <a:r>
              <a:rPr lang="en-US" dirty="0"/>
              <a:t>, the </a:t>
            </a:r>
            <a:r>
              <a:rPr lang="en-US" dirty="0" smtClean="0"/>
              <a:t>query </a:t>
            </a:r>
            <a:r>
              <a:rPr lang="en-US" dirty="0"/>
              <a:t>itself is used to determine where to jump to the next meaningful position to </a:t>
            </a:r>
            <a:r>
              <a:rPr lang="en-US" dirty="0" smtClean="0"/>
              <a:t>continue</a:t>
            </a:r>
            <a:r>
              <a:rPr lang="en-US" dirty="0"/>
              <a:t>.</a:t>
            </a:r>
          </a:p>
        </p:txBody>
      </p:sp>
    </p:spTree>
    <p:extLst>
      <p:ext uri="{BB962C8B-B14F-4D97-AF65-F5344CB8AC3E}">
        <p14:creationId xmlns:p14="http://schemas.microsoft.com/office/powerpoint/2010/main" val="2982767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Knuth-Morris-Pratt algorithm</a:t>
            </a:r>
          </a:p>
        </p:txBody>
      </p:sp>
      <p:sp>
        <p:nvSpPr>
          <p:cNvPr id="3" name="Content Placeholder 2"/>
          <p:cNvSpPr>
            <a:spLocks noGrp="1"/>
          </p:cNvSpPr>
          <p:nvPr>
            <p:ph idx="1"/>
          </p:nvPr>
        </p:nvSpPr>
        <p:spPr>
          <a:xfrm>
            <a:off x="457200" y="1600201"/>
            <a:ext cx="8229600" cy="838200"/>
          </a:xfrm>
        </p:spPr>
        <p:txBody>
          <a:bodyPr/>
          <a:lstStyle/>
          <a:p>
            <a:r>
              <a:rPr lang="en-US" dirty="0" smtClean="0"/>
              <a:t>Smart skip</a:t>
            </a:r>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362200"/>
            <a:ext cx="4452200" cy="8990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228600" y="2734534"/>
            <a:ext cx="914400" cy="381000"/>
          </a:xfrm>
          <a:prstGeom prst="rect">
            <a:avLst/>
          </a:prstGeom>
          <a:noFill/>
        </p:spPr>
        <p:txBody>
          <a:bodyPr wrap="square" rtlCol="0">
            <a:spAutoFit/>
          </a:bodyPr>
          <a:lstStyle/>
          <a:p>
            <a:r>
              <a:rPr lang="en-US" dirty="0" smtClean="0"/>
              <a:t>Target</a:t>
            </a:r>
            <a:endParaRPr lang="en-US" dirty="0"/>
          </a:p>
        </p:txBody>
      </p:sp>
      <p:sp>
        <p:nvSpPr>
          <p:cNvPr id="7" name="TextBox 6"/>
          <p:cNvSpPr txBox="1"/>
          <p:nvPr/>
        </p:nvSpPr>
        <p:spPr>
          <a:xfrm>
            <a:off x="228600" y="3328736"/>
            <a:ext cx="914400" cy="381000"/>
          </a:xfrm>
          <a:prstGeom prst="rect">
            <a:avLst/>
          </a:prstGeom>
          <a:noFill/>
        </p:spPr>
        <p:txBody>
          <a:bodyPr wrap="square" rtlCol="0">
            <a:spAutoFit/>
          </a:bodyPr>
          <a:lstStyle/>
          <a:p>
            <a:r>
              <a:rPr lang="en-US" dirty="0" smtClean="0"/>
              <a:t>Query</a:t>
            </a:r>
            <a:endParaRPr lang="en-US" dirty="0"/>
          </a:p>
        </p:txBody>
      </p:sp>
      <p:sp>
        <p:nvSpPr>
          <p:cNvPr id="8" name="TextBox 7"/>
          <p:cNvSpPr txBox="1"/>
          <p:nvPr/>
        </p:nvSpPr>
        <p:spPr>
          <a:xfrm>
            <a:off x="6934200" y="3261202"/>
            <a:ext cx="1600200" cy="369332"/>
          </a:xfrm>
          <a:prstGeom prst="rect">
            <a:avLst/>
          </a:prstGeom>
          <a:noFill/>
        </p:spPr>
        <p:txBody>
          <a:bodyPr wrap="square" rtlCol="0">
            <a:spAutoFit/>
          </a:bodyPr>
          <a:lstStyle/>
          <a:p>
            <a:r>
              <a:rPr lang="en-US" dirty="0" smtClean="0"/>
              <a:t>Step 1</a:t>
            </a:r>
            <a:endParaRPr lang="en-US" dirty="0"/>
          </a:p>
        </p:txBody>
      </p:sp>
      <p:pic>
        <p:nvPicPr>
          <p:cNvPr id="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3897868"/>
            <a:ext cx="2150503" cy="7022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TextBox 9"/>
          <p:cNvSpPr txBox="1"/>
          <p:nvPr/>
        </p:nvSpPr>
        <p:spPr>
          <a:xfrm>
            <a:off x="6934200" y="3897868"/>
            <a:ext cx="1600200" cy="369332"/>
          </a:xfrm>
          <a:prstGeom prst="rect">
            <a:avLst/>
          </a:prstGeom>
          <a:noFill/>
        </p:spPr>
        <p:txBody>
          <a:bodyPr wrap="square" rtlCol="0">
            <a:spAutoFit/>
          </a:bodyPr>
          <a:lstStyle/>
          <a:p>
            <a:r>
              <a:rPr lang="en-US" dirty="0" smtClean="0"/>
              <a:t>Step 2, bingo!</a:t>
            </a:r>
            <a:endParaRPr lang="en-US" dirty="0"/>
          </a:p>
        </p:txBody>
      </p:sp>
      <p:sp>
        <p:nvSpPr>
          <p:cNvPr id="11" name="Right Arrow 10"/>
          <p:cNvSpPr/>
          <p:nvPr/>
        </p:nvSpPr>
        <p:spPr>
          <a:xfrm>
            <a:off x="190500" y="3962400"/>
            <a:ext cx="1143000" cy="4090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427532" y="4371473"/>
            <a:ext cx="1811936" cy="369332"/>
          </a:xfrm>
          <a:prstGeom prst="rect">
            <a:avLst/>
          </a:prstGeom>
          <a:noFill/>
        </p:spPr>
        <p:txBody>
          <a:bodyPr wrap="square" rtlCol="0">
            <a:spAutoFit/>
          </a:bodyPr>
          <a:lstStyle/>
          <a:p>
            <a:r>
              <a:rPr lang="en-US" dirty="0" smtClean="0"/>
              <a:t>Shift the query</a:t>
            </a:r>
            <a:endParaRPr lang="en-US" dirty="0"/>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2520" y="3195915"/>
            <a:ext cx="2027980" cy="662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228600" y="5562600"/>
            <a:ext cx="8534400" cy="923330"/>
          </a:xfrm>
          <a:prstGeom prst="rect">
            <a:avLst/>
          </a:prstGeom>
          <a:noFill/>
        </p:spPr>
        <p:txBody>
          <a:bodyPr wrap="square" rtlCol="0">
            <a:spAutoFit/>
          </a:bodyPr>
          <a:lstStyle/>
          <a:p>
            <a:r>
              <a:rPr lang="en-US" dirty="0" smtClean="0"/>
              <a:t>For more details on how a smart skip is achieved, check out </a:t>
            </a:r>
            <a:r>
              <a:rPr lang="en-US" dirty="0"/>
              <a:t>the example here</a:t>
            </a:r>
            <a:r>
              <a:rPr lang="en-US" dirty="0" smtClean="0"/>
              <a:t>: https</a:t>
            </a:r>
            <a:r>
              <a:rPr lang="en-US" dirty="0"/>
              <a:t>://en.wikipedia.org/wiki/Knuth%E2%80%93Morris%E2%80%93Pratt_algorithm#KMP_algorithm</a:t>
            </a:r>
          </a:p>
        </p:txBody>
      </p:sp>
    </p:spTree>
    <p:extLst>
      <p:ext uri="{BB962C8B-B14F-4D97-AF65-F5344CB8AC3E}">
        <p14:creationId xmlns:p14="http://schemas.microsoft.com/office/powerpoint/2010/main" val="11917449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Rabin-</a:t>
            </a:r>
            <a:r>
              <a:rPr lang="en-US" dirty="0"/>
              <a:t>K</a:t>
            </a:r>
            <a:r>
              <a:rPr lang="en-US" dirty="0" smtClean="0"/>
              <a:t>arp algorithm</a:t>
            </a:r>
            <a:endParaRPr lang="en-US" dirty="0"/>
          </a:p>
        </p:txBody>
      </p:sp>
      <p:sp>
        <p:nvSpPr>
          <p:cNvPr id="3" name="Content Placeholder 2"/>
          <p:cNvSpPr>
            <a:spLocks noGrp="1"/>
          </p:cNvSpPr>
          <p:nvPr>
            <p:ph idx="1"/>
          </p:nvPr>
        </p:nvSpPr>
        <p:spPr>
          <a:xfrm>
            <a:off x="457200" y="1600200"/>
            <a:ext cx="8229600" cy="4876800"/>
          </a:xfrm>
        </p:spPr>
        <p:txBody>
          <a:bodyPr>
            <a:normAutofit fontScale="85000" lnSpcReduction="20000"/>
          </a:bodyPr>
          <a:lstStyle/>
          <a:p>
            <a:r>
              <a:rPr lang="en-US" dirty="0" smtClean="0"/>
              <a:t>Rabin-Karp algorithm uses hashing to speed up string search.</a:t>
            </a:r>
          </a:p>
          <a:p>
            <a:r>
              <a:rPr lang="en-US" dirty="0" smtClean="0"/>
              <a:t>Hashing converts a string (hash key) into a numeric value (hash value). If two strings are the same, their hash values are also the same (the opposite is not true).</a:t>
            </a:r>
          </a:p>
          <a:p>
            <a:r>
              <a:rPr lang="en-US" dirty="0" smtClean="0"/>
              <a:t>We can compute the hash value of the query as well as the hash values of all the substrings of the target. We can check the hash values to find substrings within the target that matches with the query (the sequences of the hit and the query will be compared to get rid of the false ones, because the same hash value does not always correspond to the same hash keys ).</a:t>
            </a:r>
          </a:p>
        </p:txBody>
      </p:sp>
    </p:spTree>
    <p:extLst>
      <p:ext uri="{BB962C8B-B14F-4D97-AF65-F5344CB8AC3E}">
        <p14:creationId xmlns:p14="http://schemas.microsoft.com/office/powerpoint/2010/main" val="3739941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Toy example of Rabin-Karp algorithm</a:t>
            </a:r>
            <a:endParaRPr lang="en-US" dirty="0"/>
          </a:p>
        </p:txBody>
      </p:sp>
      <p:sp>
        <p:nvSpPr>
          <p:cNvPr id="3" name="Content Placeholder 2"/>
          <p:cNvSpPr>
            <a:spLocks noGrp="1"/>
          </p:cNvSpPr>
          <p:nvPr>
            <p:ph idx="1"/>
          </p:nvPr>
        </p:nvSpPr>
        <p:spPr/>
        <p:txBody>
          <a:bodyPr/>
          <a:lstStyle/>
          <a:p>
            <a:r>
              <a:rPr lang="en-US" dirty="0" smtClean="0"/>
              <a:t>The choice of a good hash function is key for the Rabin-Karp algorithm. </a:t>
            </a:r>
          </a:p>
          <a:p>
            <a:r>
              <a:rPr lang="en-US" dirty="0" smtClean="0"/>
              <a:t>Here, I am just going to use a very simple hash function to illustrate the algorithm. For a DNA string, its hash value equals the sum of the mappings of each nucleotide, where the mapping is {‘A’:1,’T’:2,’G’:3,’C’:4}</a:t>
            </a:r>
            <a:endParaRPr lang="en-US" dirty="0"/>
          </a:p>
        </p:txBody>
      </p:sp>
    </p:spTree>
    <p:extLst>
      <p:ext uri="{BB962C8B-B14F-4D97-AF65-F5344CB8AC3E}">
        <p14:creationId xmlns:p14="http://schemas.microsoft.com/office/powerpoint/2010/main" val="22509037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Toy example of Rabin-Karp algorithm</a:t>
            </a:r>
            <a:endParaRPr lang="en-US" dirty="0"/>
          </a:p>
        </p:txBody>
      </p:sp>
      <p:sp>
        <p:nvSpPr>
          <p:cNvPr id="6" name="TextBox 5"/>
          <p:cNvSpPr txBox="1"/>
          <p:nvPr/>
        </p:nvSpPr>
        <p:spPr>
          <a:xfrm>
            <a:off x="364700" y="1759320"/>
            <a:ext cx="914400" cy="381000"/>
          </a:xfrm>
          <a:prstGeom prst="rect">
            <a:avLst/>
          </a:prstGeom>
          <a:noFill/>
        </p:spPr>
        <p:txBody>
          <a:bodyPr wrap="square" rtlCol="0">
            <a:spAutoFit/>
          </a:bodyPr>
          <a:lstStyle/>
          <a:p>
            <a:r>
              <a:rPr lang="en-US" dirty="0" smtClean="0"/>
              <a:t>Target</a:t>
            </a:r>
            <a:endParaRPr lang="en-US" dirty="0"/>
          </a:p>
        </p:txBody>
      </p:sp>
      <p:sp>
        <p:nvSpPr>
          <p:cNvPr id="7" name="TextBox 6"/>
          <p:cNvSpPr txBox="1"/>
          <p:nvPr/>
        </p:nvSpPr>
        <p:spPr>
          <a:xfrm>
            <a:off x="364700" y="2353522"/>
            <a:ext cx="914400" cy="381000"/>
          </a:xfrm>
          <a:prstGeom prst="rect">
            <a:avLst/>
          </a:prstGeom>
          <a:noFill/>
        </p:spPr>
        <p:txBody>
          <a:bodyPr wrap="square" rtlCol="0">
            <a:spAutoFit/>
          </a:bodyPr>
          <a:lstStyle/>
          <a:p>
            <a:r>
              <a:rPr lang="en-US" dirty="0" smtClean="0"/>
              <a:t>Query</a:t>
            </a:r>
            <a:endParaRPr lang="en-US" dirty="0"/>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8620" y="1562989"/>
            <a:ext cx="2027980" cy="66219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Box 8"/>
          <p:cNvSpPr txBox="1"/>
          <p:nvPr/>
        </p:nvSpPr>
        <p:spPr>
          <a:xfrm>
            <a:off x="5273040" y="2414336"/>
            <a:ext cx="3886200" cy="369332"/>
          </a:xfrm>
          <a:prstGeom prst="rect">
            <a:avLst/>
          </a:prstGeom>
          <a:noFill/>
        </p:spPr>
        <p:txBody>
          <a:bodyPr wrap="square" rtlCol="0">
            <a:spAutoFit/>
          </a:bodyPr>
          <a:lstStyle/>
          <a:p>
            <a:r>
              <a:rPr lang="en-US" dirty="0" smtClean="0"/>
              <a:t>Hash(query=GCC) =3+4+4 = </a:t>
            </a:r>
            <a:r>
              <a:rPr lang="en-US" dirty="0" smtClean="0">
                <a:solidFill>
                  <a:srgbClr val="FF0000"/>
                </a:solidFill>
              </a:rPr>
              <a:t>11</a:t>
            </a:r>
            <a:endParaRPr lang="en-US" dirty="0">
              <a:solidFill>
                <a:srgbClr val="FF0000"/>
              </a:solidFill>
            </a:endParaRPr>
          </a:p>
        </p:txBody>
      </p:sp>
      <p:sp>
        <p:nvSpPr>
          <p:cNvPr id="10" name="Rectangle 9"/>
          <p:cNvSpPr/>
          <p:nvPr/>
        </p:nvSpPr>
        <p:spPr>
          <a:xfrm>
            <a:off x="6446520" y="1831802"/>
            <a:ext cx="2121671" cy="369332"/>
          </a:xfrm>
          <a:prstGeom prst="rect">
            <a:avLst/>
          </a:prstGeom>
        </p:spPr>
        <p:txBody>
          <a:bodyPr wrap="none">
            <a:spAutoFit/>
          </a:bodyPr>
          <a:lstStyle/>
          <a:p>
            <a:r>
              <a:rPr lang="en-US" dirty="0"/>
              <a:t>{‘A’:1,’T’:2,’G’:3,’C’:4}</a:t>
            </a:r>
          </a:p>
        </p:txBody>
      </p:sp>
      <p:sp>
        <p:nvSpPr>
          <p:cNvPr id="11" name="TextBox 10"/>
          <p:cNvSpPr txBox="1"/>
          <p:nvPr/>
        </p:nvSpPr>
        <p:spPr>
          <a:xfrm>
            <a:off x="5029200" y="1831802"/>
            <a:ext cx="1219200" cy="369332"/>
          </a:xfrm>
          <a:prstGeom prst="rect">
            <a:avLst/>
          </a:prstGeom>
          <a:noFill/>
        </p:spPr>
        <p:txBody>
          <a:bodyPr wrap="square" rtlCol="0">
            <a:spAutoFit/>
          </a:bodyPr>
          <a:lstStyle/>
          <a:p>
            <a:r>
              <a:rPr lang="en-US" dirty="0" smtClean="0"/>
              <a:t>Mapping:</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877315809"/>
              </p:ext>
            </p:extLst>
          </p:nvPr>
        </p:nvGraphicFramePr>
        <p:xfrm>
          <a:off x="821900" y="3810000"/>
          <a:ext cx="7063740" cy="2138107"/>
        </p:xfrm>
        <a:graphic>
          <a:graphicData uri="http://schemas.openxmlformats.org/drawingml/2006/table">
            <a:tbl>
              <a:tblPr firstRow="1" bandRow="1">
                <a:tableStyleId>{5C22544A-7EE6-4342-B048-85BDC9FD1C3A}</a:tableStyleId>
              </a:tblPr>
              <a:tblGrid>
                <a:gridCol w="1412748">
                  <a:extLst>
                    <a:ext uri="{9D8B030D-6E8A-4147-A177-3AD203B41FA5}">
                      <a16:colId xmlns:a16="http://schemas.microsoft.com/office/drawing/2014/main" val="20000"/>
                    </a:ext>
                  </a:extLst>
                </a:gridCol>
                <a:gridCol w="1412748">
                  <a:extLst>
                    <a:ext uri="{9D8B030D-6E8A-4147-A177-3AD203B41FA5}">
                      <a16:colId xmlns:a16="http://schemas.microsoft.com/office/drawing/2014/main" val="20001"/>
                    </a:ext>
                  </a:extLst>
                </a:gridCol>
                <a:gridCol w="1412748">
                  <a:extLst>
                    <a:ext uri="{9D8B030D-6E8A-4147-A177-3AD203B41FA5}">
                      <a16:colId xmlns:a16="http://schemas.microsoft.com/office/drawing/2014/main" val="20002"/>
                    </a:ext>
                  </a:extLst>
                </a:gridCol>
                <a:gridCol w="1412748">
                  <a:extLst>
                    <a:ext uri="{9D8B030D-6E8A-4147-A177-3AD203B41FA5}">
                      <a16:colId xmlns:a16="http://schemas.microsoft.com/office/drawing/2014/main" val="20003"/>
                    </a:ext>
                  </a:extLst>
                </a:gridCol>
                <a:gridCol w="1412748">
                  <a:extLst>
                    <a:ext uri="{9D8B030D-6E8A-4147-A177-3AD203B41FA5}">
                      <a16:colId xmlns:a16="http://schemas.microsoft.com/office/drawing/2014/main" val="20004"/>
                    </a:ext>
                  </a:extLst>
                </a:gridCol>
              </a:tblGrid>
              <a:tr h="670690">
                <a:tc>
                  <a:txBody>
                    <a:bodyPr/>
                    <a:lstStyle/>
                    <a:p>
                      <a:r>
                        <a:rPr lang="en-US" dirty="0" smtClean="0"/>
                        <a:t>position</a:t>
                      </a:r>
                      <a:endParaRPr lang="en-US" dirty="0"/>
                    </a:p>
                  </a:txBody>
                  <a:tcPr/>
                </a:tc>
                <a:tc>
                  <a:txBody>
                    <a:bodyPr/>
                    <a:lstStyle/>
                    <a:p>
                      <a:r>
                        <a:rPr lang="en-US" dirty="0" smtClean="0"/>
                        <a:t>0</a:t>
                      </a:r>
                      <a:endParaRPr lang="en-US" dirty="0"/>
                    </a:p>
                  </a:txBody>
                  <a:tcPr/>
                </a:tc>
                <a:tc>
                  <a:txBody>
                    <a:bodyPr/>
                    <a:lstStyle/>
                    <a:p>
                      <a:r>
                        <a:rPr lang="en-US" dirty="0" smtClean="0"/>
                        <a:t>1</a:t>
                      </a:r>
                      <a:endParaRPr lang="en-US" dirty="0"/>
                    </a:p>
                  </a:txBody>
                  <a:tcPr/>
                </a:tc>
                <a:tc>
                  <a:txBody>
                    <a:bodyPr/>
                    <a:lstStyle/>
                    <a:p>
                      <a:r>
                        <a:rPr lang="en-US" dirty="0" smtClean="0"/>
                        <a:t>2</a:t>
                      </a:r>
                      <a:endParaRPr lang="en-US" dirty="0"/>
                    </a:p>
                  </a:txBody>
                  <a:tcPr/>
                </a:tc>
                <a:tc>
                  <a:txBody>
                    <a:bodyPr/>
                    <a:lstStyle/>
                    <a:p>
                      <a:r>
                        <a:rPr lang="en-US" dirty="0" smtClean="0"/>
                        <a:t>4</a:t>
                      </a:r>
                      <a:endParaRPr lang="en-US" dirty="0"/>
                    </a:p>
                  </a:txBody>
                  <a:tcPr/>
                </a:tc>
                <a:extLst>
                  <a:ext uri="{0D108BD9-81ED-4DB2-BD59-A6C34878D82A}">
                    <a16:rowId xmlns:a16="http://schemas.microsoft.com/office/drawing/2014/main" val="10000"/>
                  </a:ext>
                </a:extLst>
              </a:tr>
              <a:tr h="827337">
                <a:tc>
                  <a:txBody>
                    <a:bodyPr/>
                    <a:lstStyle/>
                    <a:p>
                      <a:r>
                        <a:rPr lang="en-US" dirty="0" smtClean="0"/>
                        <a:t>Sequence</a:t>
                      </a:r>
                      <a:r>
                        <a:rPr lang="en-US" baseline="0" dirty="0" smtClean="0"/>
                        <a:t> (hash key)</a:t>
                      </a:r>
                      <a:endParaRPr lang="en-US" dirty="0"/>
                    </a:p>
                  </a:txBody>
                  <a:tcPr/>
                </a:tc>
                <a:tc>
                  <a:txBody>
                    <a:bodyPr/>
                    <a:lstStyle/>
                    <a:p>
                      <a:r>
                        <a:rPr lang="en-US" dirty="0" smtClean="0"/>
                        <a:t>ATG</a:t>
                      </a:r>
                      <a:endParaRPr lang="en-US" dirty="0"/>
                    </a:p>
                  </a:txBody>
                  <a:tcPr/>
                </a:tc>
                <a:tc>
                  <a:txBody>
                    <a:bodyPr/>
                    <a:lstStyle/>
                    <a:p>
                      <a:r>
                        <a:rPr lang="en-US" dirty="0" smtClean="0"/>
                        <a:t>TGC</a:t>
                      </a:r>
                      <a:endParaRPr lang="en-US" dirty="0"/>
                    </a:p>
                  </a:txBody>
                  <a:tcPr/>
                </a:tc>
                <a:tc>
                  <a:txBody>
                    <a:bodyPr/>
                    <a:lstStyle/>
                    <a:p>
                      <a:r>
                        <a:rPr lang="en-US" dirty="0" smtClean="0"/>
                        <a:t>GCC</a:t>
                      </a:r>
                      <a:endParaRPr lang="en-US" dirty="0"/>
                    </a:p>
                  </a:txBody>
                  <a:tcPr/>
                </a:tc>
                <a:tc>
                  <a:txBody>
                    <a:bodyPr/>
                    <a:lstStyle/>
                    <a:p>
                      <a:r>
                        <a:rPr lang="en-US" dirty="0" smtClean="0"/>
                        <a:t>CCC</a:t>
                      </a:r>
                      <a:endParaRPr lang="en-US" dirty="0"/>
                    </a:p>
                  </a:txBody>
                  <a:tcPr/>
                </a:tc>
                <a:extLst>
                  <a:ext uri="{0D108BD9-81ED-4DB2-BD59-A6C34878D82A}">
                    <a16:rowId xmlns:a16="http://schemas.microsoft.com/office/drawing/2014/main" val="10001"/>
                  </a:ext>
                </a:extLst>
              </a:tr>
              <a:tr h="579136">
                <a:tc>
                  <a:txBody>
                    <a:bodyPr/>
                    <a:lstStyle/>
                    <a:p>
                      <a:r>
                        <a:rPr lang="en-US" dirty="0" smtClean="0"/>
                        <a:t>Hash value</a:t>
                      </a:r>
                      <a:endParaRPr lang="en-US" dirty="0"/>
                    </a:p>
                  </a:txBody>
                  <a:tcPr/>
                </a:tc>
                <a:tc>
                  <a:txBody>
                    <a:bodyPr/>
                    <a:lstStyle/>
                    <a:p>
                      <a:r>
                        <a:rPr lang="en-US" dirty="0" smtClean="0"/>
                        <a:t>6</a:t>
                      </a:r>
                    </a:p>
                    <a:p>
                      <a:r>
                        <a:rPr lang="en-US" dirty="0" smtClean="0"/>
                        <a:t>(=1+2+3)</a:t>
                      </a:r>
                      <a:endParaRPr lang="en-US" dirty="0"/>
                    </a:p>
                  </a:txBody>
                  <a:tcPr/>
                </a:tc>
                <a:tc>
                  <a:txBody>
                    <a:bodyPr/>
                    <a:lstStyle/>
                    <a:p>
                      <a:r>
                        <a:rPr lang="en-US" dirty="0" smtClean="0"/>
                        <a:t>9</a:t>
                      </a:r>
                    </a:p>
                    <a:p>
                      <a:r>
                        <a:rPr lang="en-US" dirty="0" smtClean="0"/>
                        <a:t>(=2+3+4)</a:t>
                      </a:r>
                      <a:endParaRPr lang="en-US" dirty="0"/>
                    </a:p>
                  </a:txBody>
                  <a:tcPr/>
                </a:tc>
                <a:tc>
                  <a:txBody>
                    <a:bodyPr/>
                    <a:lstStyle/>
                    <a:p>
                      <a:r>
                        <a:rPr lang="en-US" dirty="0" smtClean="0">
                          <a:solidFill>
                            <a:srgbClr val="FF0000"/>
                          </a:solidFill>
                        </a:rPr>
                        <a:t>11</a:t>
                      </a:r>
                    </a:p>
                    <a:p>
                      <a:r>
                        <a:rPr lang="en-US" dirty="0" smtClean="0"/>
                        <a:t>(=3+4+4)</a:t>
                      </a:r>
                      <a:endParaRPr lang="en-US" dirty="0"/>
                    </a:p>
                  </a:txBody>
                  <a:tcPr/>
                </a:tc>
                <a:tc>
                  <a:txBody>
                    <a:bodyPr/>
                    <a:lstStyle/>
                    <a:p>
                      <a:r>
                        <a:rPr lang="en-US" dirty="0" smtClean="0"/>
                        <a:t>12</a:t>
                      </a:r>
                    </a:p>
                    <a:p>
                      <a:r>
                        <a:rPr lang="en-US" dirty="0" smtClean="0"/>
                        <a:t>(=3+4+4)</a:t>
                      </a:r>
                      <a:endParaRPr lang="en-US" dirty="0"/>
                    </a:p>
                  </a:txBody>
                  <a:tcPr/>
                </a:tc>
                <a:extLst>
                  <a:ext uri="{0D108BD9-81ED-4DB2-BD59-A6C34878D82A}">
                    <a16:rowId xmlns:a16="http://schemas.microsoft.com/office/drawing/2014/main" val="10002"/>
                  </a:ext>
                </a:extLst>
              </a:tr>
            </a:tbl>
          </a:graphicData>
        </a:graphic>
      </p:graphicFrame>
      <p:sp>
        <p:nvSpPr>
          <p:cNvPr id="13" name="TextBox 12"/>
          <p:cNvSpPr txBox="1"/>
          <p:nvPr/>
        </p:nvSpPr>
        <p:spPr>
          <a:xfrm>
            <a:off x="791420" y="3388638"/>
            <a:ext cx="3886200" cy="369332"/>
          </a:xfrm>
          <a:prstGeom prst="rect">
            <a:avLst/>
          </a:prstGeom>
          <a:noFill/>
        </p:spPr>
        <p:txBody>
          <a:bodyPr wrap="square" rtlCol="0">
            <a:spAutoFit/>
          </a:bodyPr>
          <a:lstStyle/>
          <a:p>
            <a:r>
              <a:rPr lang="en-US" dirty="0" smtClean="0"/>
              <a:t>Table of hash values for the target</a:t>
            </a:r>
            <a:endParaRPr lang="en-US" dirty="0"/>
          </a:p>
        </p:txBody>
      </p:sp>
      <p:cxnSp>
        <p:nvCxnSpPr>
          <p:cNvPr id="15" name="Straight Arrow Connector 14"/>
          <p:cNvCxnSpPr/>
          <p:nvPr/>
        </p:nvCxnSpPr>
        <p:spPr>
          <a:xfrm flipH="1" flipV="1">
            <a:off x="8001000" y="2783668"/>
            <a:ext cx="381000" cy="13311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5638800" y="4343400"/>
            <a:ext cx="2929391"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8191500" y="4038600"/>
            <a:ext cx="876301" cy="369332"/>
          </a:xfrm>
          <a:prstGeom prst="rect">
            <a:avLst/>
          </a:prstGeom>
          <a:noFill/>
        </p:spPr>
        <p:txBody>
          <a:bodyPr wrap="square" rtlCol="0">
            <a:spAutoFit/>
          </a:bodyPr>
          <a:lstStyle/>
          <a:p>
            <a:r>
              <a:rPr lang="en-US" dirty="0" smtClean="0"/>
              <a:t>Bingo!</a:t>
            </a:r>
            <a:endParaRPr lang="en-US" dirty="0"/>
          </a:p>
        </p:txBody>
      </p:sp>
      <p:pic>
        <p:nvPicPr>
          <p:cNvPr id="3" name="Picture 2"/>
          <p:cNvPicPr>
            <a:picLocks noChangeAspect="1"/>
          </p:cNvPicPr>
          <p:nvPr/>
        </p:nvPicPr>
        <p:blipFill>
          <a:blip r:embed="rId3"/>
          <a:stretch>
            <a:fillRect/>
          </a:stretch>
        </p:blipFill>
        <p:spPr>
          <a:xfrm>
            <a:off x="2057400" y="2133600"/>
            <a:ext cx="838200" cy="628650"/>
          </a:xfrm>
          <a:prstGeom prst="rect">
            <a:avLst/>
          </a:prstGeom>
        </p:spPr>
      </p:pic>
    </p:spTree>
    <p:extLst>
      <p:ext uri="{BB962C8B-B14F-4D97-AF65-F5344CB8AC3E}">
        <p14:creationId xmlns:p14="http://schemas.microsoft.com/office/powerpoint/2010/main" val="2611430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collection of exact string search algorithms</a:t>
            </a:r>
            <a:endParaRPr lang="en-US" dirty="0"/>
          </a:p>
        </p:txBody>
      </p:sp>
      <p:sp>
        <p:nvSpPr>
          <p:cNvPr id="3" name="Content Placeholder 2"/>
          <p:cNvSpPr>
            <a:spLocks noGrp="1"/>
          </p:cNvSpPr>
          <p:nvPr>
            <p:ph idx="1"/>
          </p:nvPr>
        </p:nvSpPr>
        <p:spPr>
          <a:xfrm>
            <a:off x="457200" y="1600201"/>
            <a:ext cx="8229600" cy="2057399"/>
          </a:xfrm>
        </p:spPr>
        <p:txBody>
          <a:bodyPr/>
          <a:lstStyle/>
          <a:p>
            <a:pPr lvl="1">
              <a:buFont typeface="Arial" panose="020B0604020202020204" pitchFamily="34" charset="0"/>
              <a:buChar char="•"/>
            </a:pPr>
            <a:r>
              <a:rPr lang="en-US" dirty="0" smtClean="0">
                <a:hlinkClick r:id="rId2"/>
              </a:rPr>
              <a:t>http</a:t>
            </a:r>
            <a:r>
              <a:rPr lang="en-US" dirty="0">
                <a:hlinkClick r:id="rId2"/>
              </a:rPr>
              <a:t>://</a:t>
            </a:r>
            <a:r>
              <a:rPr lang="en-US" dirty="0" smtClean="0">
                <a:hlinkClick r:id="rId2"/>
              </a:rPr>
              <a:t>www-igm.univ-mlv.fr</a:t>
            </a:r>
            <a:r>
              <a:rPr lang="en-US" dirty="0">
                <a:hlinkClick r:id="rId2"/>
              </a:rPr>
              <a:t>/~lecroq/string</a:t>
            </a:r>
            <a:r>
              <a:rPr lang="en-US" dirty="0" smtClean="0">
                <a:hlinkClick r:id="rId2"/>
              </a:rPr>
              <a:t>/</a:t>
            </a:r>
            <a:endParaRPr lang="en-US" dirty="0" smtClean="0"/>
          </a:p>
          <a:p>
            <a:pPr lvl="1">
              <a:buFont typeface="Arial" panose="020B0604020202020204" pitchFamily="34" charset="0"/>
              <a:buChar char="•"/>
            </a:pPr>
            <a:r>
              <a:rPr lang="en-US" dirty="0" smtClean="0"/>
              <a:t>Each algorithm comes with a description, an implementation in C and an example</a:t>
            </a:r>
          </a:p>
          <a:p>
            <a:pPr lvl="1">
              <a:buFont typeface="Arial" panose="020B0604020202020204" pitchFamily="34" charset="0"/>
              <a:buChar char="•"/>
            </a:pPr>
            <a:r>
              <a:rPr lang="en-US" dirty="0" smtClean="0"/>
              <a:t>Available methods:</a:t>
            </a:r>
            <a:endParaRPr lang="en-US" dirty="0"/>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7300" y="3581400"/>
            <a:ext cx="2209800" cy="29432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1520" y="3590925"/>
            <a:ext cx="2705100" cy="280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042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Implement two algorithms</a:t>
            </a:r>
            <a:endParaRPr lang="en-US" dirty="0"/>
          </a:p>
        </p:txBody>
      </p:sp>
      <p:sp>
        <p:nvSpPr>
          <p:cNvPr id="3" name="Content Placeholder 2"/>
          <p:cNvSpPr>
            <a:spLocks noGrp="1"/>
          </p:cNvSpPr>
          <p:nvPr>
            <p:ph idx="1"/>
          </p:nvPr>
        </p:nvSpPr>
        <p:spPr/>
        <p:txBody>
          <a:bodyPr/>
          <a:lstStyle/>
          <a:p>
            <a:r>
              <a:rPr lang="en-US" dirty="0" smtClean="0"/>
              <a:t>Two algorithms</a:t>
            </a:r>
          </a:p>
          <a:p>
            <a:pPr lvl="1"/>
            <a:r>
              <a:rPr lang="en-US" dirty="0" smtClean="0"/>
              <a:t>Brute force algorithm</a:t>
            </a:r>
          </a:p>
          <a:p>
            <a:pPr lvl="1"/>
            <a:r>
              <a:rPr lang="en-US" dirty="0" smtClean="0"/>
              <a:t>Rabin-Karp algorithm</a:t>
            </a:r>
          </a:p>
          <a:p>
            <a:pPr lvl="1"/>
            <a:endParaRPr lang="en-US" dirty="0"/>
          </a:p>
          <a:p>
            <a:r>
              <a:rPr lang="en-US" dirty="0" smtClean="0"/>
              <a:t>Evaluate their efficiencies in terms of speed</a:t>
            </a:r>
            <a:endParaRPr lang="en-US" dirty="0"/>
          </a:p>
        </p:txBody>
      </p:sp>
    </p:spTree>
    <p:extLst>
      <p:ext uri="{BB962C8B-B14F-4D97-AF65-F5344CB8AC3E}">
        <p14:creationId xmlns:p14="http://schemas.microsoft.com/office/powerpoint/2010/main" val="3400806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Sequence motif</a:t>
            </a:r>
            <a:endParaRPr lang="en-US" dirty="0"/>
          </a:p>
        </p:txBody>
      </p:sp>
      <p:sp>
        <p:nvSpPr>
          <p:cNvPr id="3" name="Content Placeholder 2"/>
          <p:cNvSpPr>
            <a:spLocks noGrp="1"/>
          </p:cNvSpPr>
          <p:nvPr>
            <p:ph idx="1"/>
          </p:nvPr>
        </p:nvSpPr>
        <p:spPr/>
        <p:txBody>
          <a:bodyPr>
            <a:normAutofit lnSpcReduction="10000"/>
          </a:bodyPr>
          <a:lstStyle/>
          <a:p>
            <a:r>
              <a:rPr lang="en-US" dirty="0" smtClean="0"/>
              <a:t>A sequence motif is a DNA, RNA or protein sequence pattern.</a:t>
            </a:r>
          </a:p>
          <a:p>
            <a:endParaRPr lang="en-US" dirty="0"/>
          </a:p>
          <a:p>
            <a:r>
              <a:rPr lang="en-US" dirty="0" smtClean="0"/>
              <a:t>When a sequence pattern is known, we can use string search algorithms (such as Boyer-Moore, Rabin-Karp, etc.) to find it in the sequences of interest .</a:t>
            </a:r>
          </a:p>
          <a:p>
            <a:endParaRPr lang="en-US" dirty="0"/>
          </a:p>
          <a:p>
            <a:r>
              <a:rPr lang="en-US" dirty="0" smtClean="0"/>
              <a:t>How can we discover the motif?</a:t>
            </a:r>
            <a:endParaRPr lang="en-US" dirty="0"/>
          </a:p>
        </p:txBody>
      </p:sp>
    </p:spTree>
    <p:extLst>
      <p:ext uri="{BB962C8B-B14F-4D97-AF65-F5344CB8AC3E}">
        <p14:creationId xmlns:p14="http://schemas.microsoft.com/office/powerpoint/2010/main" val="1376149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 example of DNA motifs:ROX1</a:t>
            </a:r>
            <a:endParaRPr lang="en-US" dirty="0"/>
          </a:p>
        </p:txBody>
      </p:sp>
      <p:sp>
        <p:nvSpPr>
          <p:cNvPr id="3" name="Content Placeholder 2"/>
          <p:cNvSpPr>
            <a:spLocks noGrp="1"/>
          </p:cNvSpPr>
          <p:nvPr>
            <p:ph idx="1"/>
          </p:nvPr>
        </p:nvSpPr>
        <p:spPr>
          <a:xfrm>
            <a:off x="457200" y="1600201"/>
            <a:ext cx="8229600" cy="1828800"/>
          </a:xfrm>
        </p:spPr>
        <p:txBody>
          <a:bodyPr>
            <a:normAutofit fontScale="92500" lnSpcReduction="10000"/>
          </a:bodyPr>
          <a:lstStyle/>
          <a:p>
            <a:r>
              <a:rPr lang="en-US" dirty="0" smtClean="0"/>
              <a:t>ROX1 is a transcriptional repressor, which binding to the promoter region of many genes. Its DNA binding motif can be identified using known DNA binding sequences.</a:t>
            </a:r>
            <a:endParaRPr lang="en-US" dirty="0"/>
          </a:p>
        </p:txBody>
      </p:sp>
      <p:sp>
        <p:nvSpPr>
          <p:cNvPr id="4" name="TextBox 3"/>
          <p:cNvSpPr txBox="1"/>
          <p:nvPr/>
        </p:nvSpPr>
        <p:spPr>
          <a:xfrm>
            <a:off x="4038600" y="6477000"/>
            <a:ext cx="4800600" cy="369332"/>
          </a:xfrm>
          <a:prstGeom prst="rect">
            <a:avLst/>
          </a:prstGeom>
          <a:noFill/>
        </p:spPr>
        <p:txBody>
          <a:bodyPr wrap="square" rtlCol="0">
            <a:spAutoFit/>
          </a:bodyPr>
          <a:lstStyle/>
          <a:p>
            <a:r>
              <a:rPr lang="en-US" dirty="0"/>
              <a:t> </a:t>
            </a:r>
            <a:r>
              <a:rPr lang="en-US" dirty="0" err="1" smtClean="0"/>
              <a:t>D’haeseleer</a:t>
            </a:r>
            <a:r>
              <a:rPr lang="en-US" dirty="0" smtClean="0"/>
              <a:t>. Nature biotechnology, 2006</a:t>
            </a:r>
            <a:endParaRPr lang="en-US" dirty="0"/>
          </a:p>
        </p:txBody>
      </p:sp>
      <p:sp>
        <p:nvSpPr>
          <p:cNvPr id="5" name="TextBox 4"/>
          <p:cNvSpPr txBox="1"/>
          <p:nvPr/>
        </p:nvSpPr>
        <p:spPr>
          <a:xfrm>
            <a:off x="4419600" y="3581400"/>
            <a:ext cx="3124200" cy="923330"/>
          </a:xfrm>
          <a:prstGeom prst="rect">
            <a:avLst/>
          </a:prstGeom>
          <a:noFill/>
        </p:spPr>
        <p:txBody>
          <a:bodyPr wrap="square" rtlCol="0">
            <a:spAutoFit/>
          </a:bodyPr>
          <a:lstStyle/>
          <a:p>
            <a:r>
              <a:rPr lang="en-US" dirty="0" smtClean="0"/>
              <a:t> Eight known genomic binding sites in three S. cerevisiae genes</a:t>
            </a:r>
            <a:endParaRPr lang="en-US"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850" y="3308350"/>
            <a:ext cx="2857500" cy="301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86318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Identify conserved regions by alignment</a:t>
            </a:r>
            <a:endParaRPr lang="en-US" dirty="0"/>
          </a:p>
        </p:txBody>
      </p:sp>
      <p:sp>
        <p:nvSpPr>
          <p:cNvPr id="3" name="Content Placeholder 2"/>
          <p:cNvSpPr>
            <a:spLocks noGrp="1"/>
          </p:cNvSpPr>
          <p:nvPr>
            <p:ph idx="1"/>
          </p:nvPr>
        </p:nvSpPr>
        <p:spPr>
          <a:xfrm>
            <a:off x="457200" y="1600201"/>
            <a:ext cx="8229600" cy="1828800"/>
          </a:xfrm>
        </p:spPr>
        <p:txBody>
          <a:bodyPr>
            <a:normAutofit/>
          </a:bodyPr>
          <a:lstStyle/>
          <a:p>
            <a:r>
              <a:rPr lang="en-US" dirty="0" smtClean="0"/>
              <a:t>The sequences below are usually constructed from a local alignment, where the highly conserved regions are isolated.</a:t>
            </a:r>
            <a:endParaRPr lang="en-US" dirty="0"/>
          </a:p>
        </p:txBody>
      </p:sp>
      <p:sp>
        <p:nvSpPr>
          <p:cNvPr id="4" name="TextBox 3"/>
          <p:cNvSpPr txBox="1"/>
          <p:nvPr/>
        </p:nvSpPr>
        <p:spPr>
          <a:xfrm>
            <a:off x="4038600" y="6477000"/>
            <a:ext cx="4800600" cy="369332"/>
          </a:xfrm>
          <a:prstGeom prst="rect">
            <a:avLst/>
          </a:prstGeom>
          <a:noFill/>
        </p:spPr>
        <p:txBody>
          <a:bodyPr wrap="square" rtlCol="0">
            <a:spAutoFit/>
          </a:bodyPr>
          <a:lstStyle/>
          <a:p>
            <a:r>
              <a:rPr lang="en-US" dirty="0"/>
              <a:t> </a:t>
            </a:r>
            <a:r>
              <a:rPr lang="en-US" dirty="0" err="1" smtClean="0"/>
              <a:t>D’haeseleer</a:t>
            </a:r>
            <a:r>
              <a:rPr lang="en-US" dirty="0" smtClean="0"/>
              <a:t>. Nature biotechnology, 2006</a:t>
            </a:r>
            <a:endParaRPr lang="en-US" dirty="0"/>
          </a:p>
        </p:txBody>
      </p:sp>
      <p:sp>
        <p:nvSpPr>
          <p:cNvPr id="5" name="TextBox 4"/>
          <p:cNvSpPr txBox="1"/>
          <p:nvPr/>
        </p:nvSpPr>
        <p:spPr>
          <a:xfrm>
            <a:off x="3810000" y="4474250"/>
            <a:ext cx="3124200" cy="923330"/>
          </a:xfrm>
          <a:prstGeom prst="rect">
            <a:avLst/>
          </a:prstGeom>
          <a:noFill/>
        </p:spPr>
        <p:txBody>
          <a:bodyPr wrap="square" rtlCol="0">
            <a:spAutoFit/>
          </a:bodyPr>
          <a:lstStyle/>
          <a:p>
            <a:r>
              <a:rPr lang="en-US" dirty="0" smtClean="0"/>
              <a:t>Eight known genomic binding sites in three S. cerevisiae genes</a:t>
            </a: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3276600"/>
            <a:ext cx="2857500" cy="3016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059931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Build consensus sequence</a:t>
            </a:r>
            <a:endParaRPr lang="en-US" dirty="0"/>
          </a:p>
        </p:txBody>
      </p:sp>
      <p:sp>
        <p:nvSpPr>
          <p:cNvPr id="3" name="Content Placeholder 2"/>
          <p:cNvSpPr>
            <a:spLocks noGrp="1"/>
          </p:cNvSpPr>
          <p:nvPr>
            <p:ph idx="1"/>
          </p:nvPr>
        </p:nvSpPr>
        <p:spPr>
          <a:xfrm>
            <a:off x="457200" y="1600201"/>
            <a:ext cx="8229600" cy="1828800"/>
          </a:xfrm>
        </p:spPr>
        <p:txBody>
          <a:bodyPr>
            <a:normAutofit/>
          </a:bodyPr>
          <a:lstStyle/>
          <a:p>
            <a:r>
              <a:rPr lang="en-US" dirty="0" smtClean="0"/>
              <a:t>A degenerate consensus sequence can be derived from the previous sequences.</a:t>
            </a:r>
            <a:endParaRPr lang="en-US" dirty="0"/>
          </a:p>
        </p:txBody>
      </p:sp>
      <p:sp>
        <p:nvSpPr>
          <p:cNvPr id="4" name="TextBox 3"/>
          <p:cNvSpPr txBox="1"/>
          <p:nvPr/>
        </p:nvSpPr>
        <p:spPr>
          <a:xfrm>
            <a:off x="4038600" y="6477000"/>
            <a:ext cx="4800600" cy="369332"/>
          </a:xfrm>
          <a:prstGeom prst="rect">
            <a:avLst/>
          </a:prstGeom>
          <a:noFill/>
        </p:spPr>
        <p:txBody>
          <a:bodyPr wrap="square" rtlCol="0">
            <a:spAutoFit/>
          </a:bodyPr>
          <a:lstStyle/>
          <a:p>
            <a:r>
              <a:rPr lang="en-US" dirty="0"/>
              <a:t> </a:t>
            </a:r>
            <a:r>
              <a:rPr lang="en-US" dirty="0" err="1" smtClean="0"/>
              <a:t>D’haeseleer</a:t>
            </a:r>
            <a:r>
              <a:rPr lang="en-US" dirty="0" smtClean="0"/>
              <a:t>. Nature biotechnology, 2006</a:t>
            </a:r>
            <a:endParaRPr lang="en-US" dirty="0"/>
          </a:p>
        </p:txBody>
      </p:sp>
      <p:sp>
        <p:nvSpPr>
          <p:cNvPr id="6" name="TextBox 5"/>
          <p:cNvSpPr txBox="1"/>
          <p:nvPr/>
        </p:nvSpPr>
        <p:spPr>
          <a:xfrm>
            <a:off x="4495800" y="6019800"/>
            <a:ext cx="3657600" cy="369332"/>
          </a:xfrm>
          <a:prstGeom prst="rect">
            <a:avLst/>
          </a:prstGeom>
          <a:noFill/>
        </p:spPr>
        <p:txBody>
          <a:bodyPr wrap="square" rtlCol="0">
            <a:spAutoFit/>
          </a:bodyPr>
          <a:lstStyle/>
          <a:p>
            <a:r>
              <a:rPr lang="en-US" dirty="0" smtClean="0"/>
              <a:t>(b) Degenerate consensus sequence</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9800" y="3581400"/>
            <a:ext cx="9779000" cy="1333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7800135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Autofit/>
          </a:bodyPr>
          <a:lstStyle/>
          <a:p>
            <a:r>
              <a:rPr lang="en-US" sz="3600" dirty="0" smtClean="0"/>
              <a:t>Frequency of each residues per position can be calculated after aligning the conserved regions</a:t>
            </a:r>
            <a:endParaRPr lang="en-US" sz="3600" dirty="0"/>
          </a:p>
        </p:txBody>
      </p:sp>
      <p:sp>
        <p:nvSpPr>
          <p:cNvPr id="5" name="TextBox 4"/>
          <p:cNvSpPr txBox="1"/>
          <p:nvPr/>
        </p:nvSpPr>
        <p:spPr>
          <a:xfrm>
            <a:off x="4038600" y="6477000"/>
            <a:ext cx="4800600" cy="369332"/>
          </a:xfrm>
          <a:prstGeom prst="rect">
            <a:avLst/>
          </a:prstGeom>
          <a:noFill/>
        </p:spPr>
        <p:txBody>
          <a:bodyPr wrap="square" rtlCol="0">
            <a:spAutoFit/>
          </a:bodyPr>
          <a:lstStyle/>
          <a:p>
            <a:r>
              <a:rPr lang="en-US" dirty="0"/>
              <a:t> </a:t>
            </a:r>
            <a:r>
              <a:rPr lang="en-US" dirty="0" err="1" smtClean="0"/>
              <a:t>D’haeseleer</a:t>
            </a:r>
            <a:r>
              <a:rPr lang="en-US" dirty="0" smtClean="0"/>
              <a:t>. Nature biotechnology, 2006</a:t>
            </a:r>
            <a:endParaRPr lang="en-US" dirty="0"/>
          </a:p>
        </p:txBody>
      </p:sp>
      <p:sp>
        <p:nvSpPr>
          <p:cNvPr id="7" name="Content Placeholder 2"/>
          <p:cNvSpPr>
            <a:spLocks noGrp="1"/>
          </p:cNvSpPr>
          <p:nvPr>
            <p:ph idx="1"/>
          </p:nvPr>
        </p:nvSpPr>
        <p:spPr>
          <a:xfrm>
            <a:off x="457200" y="2209800"/>
            <a:ext cx="8229600" cy="2057400"/>
          </a:xfrm>
        </p:spPr>
        <p:txBody>
          <a:bodyPr>
            <a:normAutofit/>
          </a:bodyPr>
          <a:lstStyle/>
          <a:p>
            <a:r>
              <a:rPr lang="en-US" dirty="0"/>
              <a:t>Frequencies of nucleotides at each </a:t>
            </a:r>
            <a:r>
              <a:rPr lang="en-US" dirty="0" smtClean="0"/>
              <a:t>position:</a:t>
            </a: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94548" y="3057523"/>
            <a:ext cx="4144352" cy="2276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93396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Graphical representation of a consensus sequence</a:t>
            </a:r>
            <a:endParaRPr lang="en-US" dirty="0"/>
          </a:p>
        </p:txBody>
      </p:sp>
      <p:sp>
        <p:nvSpPr>
          <p:cNvPr id="5" name="TextBox 4"/>
          <p:cNvSpPr txBox="1"/>
          <p:nvPr/>
        </p:nvSpPr>
        <p:spPr>
          <a:xfrm>
            <a:off x="4038600" y="6477000"/>
            <a:ext cx="4800600" cy="369332"/>
          </a:xfrm>
          <a:prstGeom prst="rect">
            <a:avLst/>
          </a:prstGeom>
          <a:noFill/>
        </p:spPr>
        <p:txBody>
          <a:bodyPr wrap="square" rtlCol="0">
            <a:spAutoFit/>
          </a:bodyPr>
          <a:lstStyle/>
          <a:p>
            <a:r>
              <a:rPr lang="en-US" dirty="0"/>
              <a:t> </a:t>
            </a:r>
            <a:r>
              <a:rPr lang="en-US" dirty="0" err="1" smtClean="0"/>
              <a:t>D’haeseleer</a:t>
            </a:r>
            <a:r>
              <a:rPr lang="en-US" dirty="0" smtClean="0"/>
              <a:t>. Nature biotechnology, 2006</a:t>
            </a:r>
            <a:endParaRPr lang="en-US" dirty="0"/>
          </a:p>
        </p:txBody>
      </p:sp>
      <p:sp>
        <p:nvSpPr>
          <p:cNvPr id="7" name="Content Placeholder 2"/>
          <p:cNvSpPr>
            <a:spLocks noGrp="1"/>
          </p:cNvSpPr>
          <p:nvPr>
            <p:ph idx="1"/>
          </p:nvPr>
        </p:nvSpPr>
        <p:spPr>
          <a:xfrm>
            <a:off x="457200" y="1600201"/>
            <a:ext cx="8229600" cy="2057400"/>
          </a:xfrm>
        </p:spPr>
        <p:txBody>
          <a:bodyPr>
            <a:normAutofit/>
          </a:bodyPr>
          <a:lstStyle/>
          <a:p>
            <a:r>
              <a:rPr lang="en-US" dirty="0" smtClean="0"/>
              <a:t>The consensus sequence of a motif is often graphically represented by a so-called “sequence logo”.</a:t>
            </a: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2569" y="4130992"/>
            <a:ext cx="5072061" cy="16906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02791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Methods for motif discovery</a:t>
            </a:r>
            <a:endParaRPr lang="en-US" dirty="0"/>
          </a:p>
        </p:txBody>
      </p:sp>
      <p:sp>
        <p:nvSpPr>
          <p:cNvPr id="3" name="Content Placeholder 2"/>
          <p:cNvSpPr>
            <a:spLocks noGrp="1"/>
          </p:cNvSpPr>
          <p:nvPr>
            <p:ph idx="1"/>
          </p:nvPr>
        </p:nvSpPr>
        <p:spPr/>
        <p:txBody>
          <a:bodyPr/>
          <a:lstStyle/>
          <a:p>
            <a:r>
              <a:rPr lang="en-US" dirty="0" smtClean="0"/>
              <a:t>Alignment-based</a:t>
            </a:r>
          </a:p>
          <a:p>
            <a:pPr lvl="1"/>
            <a:r>
              <a:rPr lang="en-US" dirty="0" smtClean="0"/>
              <a:t>Aligning the sequences to get the conserved regions followed by a probabilistic model to find motifs common to all inputs.</a:t>
            </a:r>
            <a:endParaRPr lang="en-US" dirty="0"/>
          </a:p>
          <a:p>
            <a:r>
              <a:rPr lang="en-US" dirty="0" smtClean="0"/>
              <a:t>Enumeration-based</a:t>
            </a:r>
          </a:p>
          <a:p>
            <a:pPr lvl="1"/>
            <a:r>
              <a:rPr lang="en-US" dirty="0" smtClean="0"/>
              <a:t>Exhaustive enumeration of words (substrings or patterns) up to some maximum size.</a:t>
            </a:r>
            <a:endParaRPr lang="en-US" dirty="0"/>
          </a:p>
        </p:txBody>
      </p:sp>
    </p:spTree>
    <p:extLst>
      <p:ext uri="{BB962C8B-B14F-4D97-AF65-F5344CB8AC3E}">
        <p14:creationId xmlns:p14="http://schemas.microsoft.com/office/powerpoint/2010/main" val="17858741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commonly used motif discovery tool</a:t>
            </a:r>
            <a:endParaRPr lang="en-US" dirty="0"/>
          </a:p>
        </p:txBody>
      </p:sp>
      <p:sp>
        <p:nvSpPr>
          <p:cNvPr id="3" name="Content Placeholder 2"/>
          <p:cNvSpPr>
            <a:spLocks noGrp="1"/>
          </p:cNvSpPr>
          <p:nvPr>
            <p:ph idx="1"/>
          </p:nvPr>
        </p:nvSpPr>
        <p:spPr/>
        <p:txBody>
          <a:bodyPr/>
          <a:lstStyle/>
          <a:p>
            <a:r>
              <a:rPr lang="en-US" dirty="0" smtClean="0"/>
              <a:t>MEME</a:t>
            </a:r>
          </a:p>
          <a:p>
            <a:pPr lvl="1"/>
            <a:r>
              <a:rPr lang="en-US" dirty="0" smtClean="0"/>
              <a:t>Website: </a:t>
            </a:r>
            <a:r>
              <a:rPr lang="en-US" dirty="0" smtClean="0">
                <a:hlinkClick r:id="rId2"/>
              </a:rPr>
              <a:t>http</a:t>
            </a:r>
            <a:r>
              <a:rPr lang="en-US" dirty="0">
                <a:hlinkClick r:id="rId2"/>
              </a:rPr>
              <a:t>://</a:t>
            </a:r>
            <a:r>
              <a:rPr lang="en-US" dirty="0" smtClean="0">
                <a:hlinkClick r:id="rId2"/>
              </a:rPr>
              <a:t>meme-suite.org/tools/meme</a:t>
            </a:r>
            <a:endParaRPr lang="en-US" dirty="0" smtClean="0"/>
          </a:p>
          <a:p>
            <a:pPr lvl="2"/>
            <a:endParaRPr lang="en-US"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7313" y="2663872"/>
            <a:ext cx="5272087" cy="41941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76041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Resources</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The journal articles for DNA sequence motifs is attached as pdf.</a:t>
            </a:r>
          </a:p>
          <a:p>
            <a:endParaRPr lang="en-US" dirty="0" smtClean="0"/>
          </a:p>
          <a:p>
            <a:r>
              <a:rPr lang="en-US" dirty="0" smtClean="0"/>
              <a:t>The publication on the software tool MEME is attached as pdf.</a:t>
            </a:r>
          </a:p>
          <a:p>
            <a:endParaRPr lang="en-US" dirty="0"/>
          </a:p>
          <a:p>
            <a:r>
              <a:rPr lang="en-US" dirty="0" smtClean="0"/>
              <a:t>The journal </a:t>
            </a:r>
            <a:r>
              <a:rPr lang="en-US" dirty="0"/>
              <a:t>article entitled “String Matching Algorithms and their Applicability in various </a:t>
            </a:r>
            <a:r>
              <a:rPr lang="en-US" dirty="0" smtClean="0"/>
              <a:t>Applications” has information on the performance of the common string search algorithms using big-O annotation. It is also attached as pdf.</a:t>
            </a:r>
            <a:endParaRPr lang="en-US" dirty="0"/>
          </a:p>
          <a:p>
            <a:endParaRPr lang="en-US" dirty="0" smtClean="0"/>
          </a:p>
          <a:p>
            <a:endParaRPr lang="en-US" dirty="0"/>
          </a:p>
        </p:txBody>
      </p:sp>
    </p:spTree>
    <p:extLst>
      <p:ext uri="{BB962C8B-B14F-4D97-AF65-F5344CB8AC3E}">
        <p14:creationId xmlns:p14="http://schemas.microsoft.com/office/powerpoint/2010/main" val="3476577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String searching is very important in bioinformatics. Several common algorithms for string searching were explained in details. There are many more algorithms, and a collection of them are provided in the lecture. I would encourage you to explore them.</a:t>
            </a:r>
          </a:p>
          <a:p>
            <a:endParaRPr lang="en-US" dirty="0"/>
          </a:p>
          <a:p>
            <a:r>
              <a:rPr lang="en-US" dirty="0" smtClean="0"/>
              <a:t>Motif discovery is very important for identifying conserved sequence elements for many biological events, including transcriptional factor binding , RNA-binding protein preferences, microRNA-targeting principles, etc.</a:t>
            </a:r>
          </a:p>
          <a:p>
            <a:endParaRPr lang="en-US" dirty="0"/>
          </a:p>
          <a:p>
            <a:endParaRPr lang="en-US" dirty="0"/>
          </a:p>
        </p:txBody>
      </p:sp>
    </p:spTree>
    <p:extLst>
      <p:ext uri="{BB962C8B-B14F-4D97-AF65-F5344CB8AC3E}">
        <p14:creationId xmlns:p14="http://schemas.microsoft.com/office/powerpoint/2010/main" val="16175751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349</TotalTime>
  <Words>1019</Words>
  <Application>Microsoft Office PowerPoint</Application>
  <PresentationFormat>On-screen Show (4:3)</PresentationFormat>
  <Paragraphs>131</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Biological Sequence Analysis</vt:lpstr>
      <vt:lpstr>Outline</vt:lpstr>
      <vt:lpstr>String searching or matching</vt:lpstr>
      <vt:lpstr>Common exact string search algorithm</vt:lpstr>
      <vt:lpstr>Brute force string search algorithm</vt:lpstr>
      <vt:lpstr>Brute force algorithm</vt:lpstr>
      <vt:lpstr>Knuth-Morris-Pratt algorithm</vt:lpstr>
      <vt:lpstr>Knuth-Morris-Pratt algorithm</vt:lpstr>
      <vt:lpstr>Rabin-Karp algorithm</vt:lpstr>
      <vt:lpstr>Toy example of Rabin-Karp algorithm</vt:lpstr>
      <vt:lpstr>Toy example of Rabin-Karp algorithm</vt:lpstr>
      <vt:lpstr>A collection of exact string search algorithms</vt:lpstr>
      <vt:lpstr>Implement two algorithms</vt:lpstr>
      <vt:lpstr>Sequence motif</vt:lpstr>
      <vt:lpstr>An example of DNA motifs:ROX1</vt:lpstr>
      <vt:lpstr>Identify conserved regions by alignment</vt:lpstr>
      <vt:lpstr>Build consensus sequence</vt:lpstr>
      <vt:lpstr>Frequency of each residues per position can be calculated after aligning the conserved regions</vt:lpstr>
      <vt:lpstr>Graphical representation of a consensus sequence</vt:lpstr>
      <vt:lpstr>Methods for motif discovery</vt:lpstr>
      <vt:lpstr>A commonly used motif discovery tool</vt:lpstr>
      <vt:lpstr>Resources</vt:lpstr>
      <vt:lpstr>Summary</vt:lpstr>
    </vt:vector>
  </TitlesOfParts>
  <Company>Eisai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Analysis</dc:title>
  <dc:creator>Windows User</dc:creator>
  <cp:lastModifiedBy>Windows User</cp:lastModifiedBy>
  <cp:revision>39</cp:revision>
  <dcterms:created xsi:type="dcterms:W3CDTF">2018-11-18T01:32:48Z</dcterms:created>
  <dcterms:modified xsi:type="dcterms:W3CDTF">2018-12-20T02:23:19Z</dcterms:modified>
</cp:coreProperties>
</file>