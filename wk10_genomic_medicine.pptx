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8" r:id="rId6"/>
    <p:sldId id="269" r:id="rId7"/>
    <p:sldId id="265" r:id="rId8"/>
    <p:sldId id="266" r:id="rId9"/>
    <p:sldId id="267" r:id="rId10"/>
    <p:sldId id="260" r:id="rId11"/>
    <p:sldId id="270" r:id="rId12"/>
    <p:sldId id="271" r:id="rId13"/>
    <p:sldId id="272" r:id="rId14"/>
    <p:sldId id="273" r:id="rId15"/>
    <p:sldId id="275" r:id="rId16"/>
    <p:sldId id="261" r:id="rId17"/>
    <p:sldId id="276" r:id="rId18"/>
    <p:sldId id="277" r:id="rId19"/>
    <p:sldId id="278" r:id="rId20"/>
    <p:sldId id="264" r:id="rId21"/>
    <p:sldId id="26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90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AF82B6-5ED0-45CE-8837-575B0F84C798}"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1771418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F82B6-5ED0-45CE-8837-575B0F84C798}"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2976284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AF82B6-5ED0-45CE-8837-575B0F84C798}"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155982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AF82B6-5ED0-45CE-8837-575B0F84C798}" type="datetimeFigureOut">
              <a:rPr lang="en-US" smtClean="0"/>
              <a:t>11/26/2018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193747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EAF82B6-5ED0-45CE-8837-575B0F84C798}" type="datetimeFigureOut">
              <a:rPr lang="en-US" smtClean="0"/>
              <a:t>11/26/2018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384089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AF82B6-5ED0-45CE-8837-575B0F84C798}" type="datetimeFigureOut">
              <a:rPr lang="en-US" smtClean="0"/>
              <a:t>11/26/2018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320511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AF82B6-5ED0-45CE-8837-575B0F84C798}" type="datetimeFigureOut">
              <a:rPr lang="en-US" smtClean="0"/>
              <a:t>11/26/2018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2132056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AF82B6-5ED0-45CE-8837-575B0F84C798}" type="datetimeFigureOut">
              <a:rPr lang="en-US" smtClean="0"/>
              <a:t>11/26/2018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1572552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AF82B6-5ED0-45CE-8837-575B0F84C798}" type="datetimeFigureOut">
              <a:rPr lang="en-US" smtClean="0"/>
              <a:t>11/26/2018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1462529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F82B6-5ED0-45CE-8837-575B0F84C798}"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2271285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F82B6-5ED0-45CE-8837-575B0F84C798}" type="datetimeFigureOut">
              <a:rPr lang="en-US" smtClean="0"/>
              <a:t>11/26/2018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F374E5-628B-4942-AA3E-7443C250D9ED}" type="slidenum">
              <a:rPr lang="en-US" smtClean="0"/>
              <a:t>‹#›</a:t>
            </a:fld>
            <a:endParaRPr lang="en-US"/>
          </a:p>
        </p:txBody>
      </p:sp>
    </p:spTree>
    <p:extLst>
      <p:ext uri="{BB962C8B-B14F-4D97-AF65-F5344CB8AC3E}">
        <p14:creationId xmlns:p14="http://schemas.microsoft.com/office/powerpoint/2010/main" val="1155628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F82B6-5ED0-45CE-8837-575B0F84C798}" type="datetimeFigureOut">
              <a:rPr lang="en-US" smtClean="0"/>
              <a:t>11/26/2018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F374E5-628B-4942-AA3E-7443C250D9ED}" type="slidenum">
              <a:rPr lang="en-US" smtClean="0"/>
              <a:t>‹#›</a:t>
            </a:fld>
            <a:endParaRPr lang="en-US"/>
          </a:p>
        </p:txBody>
      </p:sp>
    </p:spTree>
    <p:extLst>
      <p:ext uri="{BB962C8B-B14F-4D97-AF65-F5344CB8AC3E}">
        <p14:creationId xmlns:p14="http://schemas.microsoft.com/office/powerpoint/2010/main" val="742708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Biological Sequence Analysis</a:t>
            </a:r>
            <a:endParaRPr lang="en-US" dirty="0"/>
          </a:p>
        </p:txBody>
      </p:sp>
      <p:sp>
        <p:nvSpPr>
          <p:cNvPr id="3" name="Subtitle 2"/>
          <p:cNvSpPr>
            <a:spLocks noGrp="1"/>
          </p:cNvSpPr>
          <p:nvPr>
            <p:ph type="subTitle" idx="1"/>
          </p:nvPr>
        </p:nvSpPr>
        <p:spPr/>
        <p:txBody>
          <a:bodyPr/>
          <a:lstStyle/>
          <a:p>
            <a:r>
              <a:rPr lang="en-US" dirty="0" smtClean="0"/>
              <a:t>Genomic medicine</a:t>
            </a:r>
            <a:endParaRPr lang="en-US" dirty="0"/>
          </a:p>
        </p:txBody>
      </p:sp>
    </p:spTree>
    <p:extLst>
      <p:ext uri="{BB962C8B-B14F-4D97-AF65-F5344CB8AC3E}">
        <p14:creationId xmlns:p14="http://schemas.microsoft.com/office/powerpoint/2010/main" val="376218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Applications of bioinformatics (NGS in particular) in the </a:t>
            </a:r>
            <a:r>
              <a:rPr lang="en-US" dirty="0" smtClean="0"/>
              <a:t>pharmaceutical industry</a:t>
            </a:r>
            <a:endParaRPr lang="en-US" dirty="0" smtClean="0"/>
          </a:p>
          <a:p>
            <a:pPr lvl="1"/>
            <a:r>
              <a:rPr lang="en-US" dirty="0" smtClean="0"/>
              <a:t>Use the field of oncology as an example</a:t>
            </a:r>
          </a:p>
          <a:p>
            <a:pPr lvl="2"/>
            <a:r>
              <a:rPr lang="en-US" dirty="0" smtClean="0"/>
              <a:t>Pre-clinical research</a:t>
            </a:r>
          </a:p>
          <a:p>
            <a:pPr lvl="2"/>
            <a:r>
              <a:rPr lang="en-US" dirty="0" smtClean="0"/>
              <a:t>Drug development</a:t>
            </a:r>
          </a:p>
          <a:p>
            <a:pPr lvl="2"/>
            <a:r>
              <a:rPr lang="en-US" dirty="0" smtClean="0"/>
              <a:t>Disease diagnosis</a:t>
            </a:r>
          </a:p>
          <a:p>
            <a:pPr lvl="2"/>
            <a:endParaRPr lang="en-US" dirty="0"/>
          </a:p>
          <a:p>
            <a:r>
              <a:rPr lang="en-US" dirty="0" smtClean="0"/>
              <a:t>Frontiers of genomics</a:t>
            </a:r>
          </a:p>
          <a:p>
            <a:endParaRPr lang="en-US" dirty="0" smtClean="0"/>
          </a:p>
          <a:p>
            <a:r>
              <a:rPr lang="en-US" dirty="0"/>
              <a:t>Towards the future of Genomic Medicine</a:t>
            </a:r>
          </a:p>
          <a:p>
            <a:endParaRPr lang="en-US" dirty="0" smtClean="0"/>
          </a:p>
          <a:p>
            <a:pPr marL="457200" lvl="1" indent="0">
              <a:buNone/>
            </a:pPr>
            <a:endParaRPr lang="en-US" dirty="0"/>
          </a:p>
        </p:txBody>
      </p:sp>
    </p:spTree>
    <p:extLst>
      <p:ext uri="{BB962C8B-B14F-4D97-AF65-F5344CB8AC3E}">
        <p14:creationId xmlns:p14="http://schemas.microsoft.com/office/powerpoint/2010/main" val="2595120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Drug development process</a:t>
            </a:r>
            <a:endParaRPr lang="en-US" dirty="0"/>
          </a:p>
        </p:txBody>
      </p:sp>
      <p:sp>
        <p:nvSpPr>
          <p:cNvPr id="4" name="Rectangle 3"/>
          <p:cNvSpPr/>
          <p:nvPr/>
        </p:nvSpPr>
        <p:spPr>
          <a:xfrm>
            <a:off x="838200" y="2286000"/>
            <a:ext cx="14478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Drug Discovery and target validation</a:t>
            </a:r>
            <a:endParaRPr lang="en-US" dirty="0"/>
          </a:p>
        </p:txBody>
      </p:sp>
      <p:sp>
        <p:nvSpPr>
          <p:cNvPr id="5" name="Rectangle 4"/>
          <p:cNvSpPr/>
          <p:nvPr/>
        </p:nvSpPr>
        <p:spPr>
          <a:xfrm>
            <a:off x="3048000" y="2286000"/>
            <a:ext cx="14478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Preclinical Research</a:t>
            </a:r>
            <a:endParaRPr lang="en-US" dirty="0"/>
          </a:p>
        </p:txBody>
      </p:sp>
      <p:sp>
        <p:nvSpPr>
          <p:cNvPr id="6" name="Rectangle 5"/>
          <p:cNvSpPr/>
          <p:nvPr/>
        </p:nvSpPr>
        <p:spPr>
          <a:xfrm>
            <a:off x="5257800" y="2286000"/>
            <a:ext cx="14478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Clinical Trials</a:t>
            </a:r>
            <a:endParaRPr lang="en-US" dirty="0"/>
          </a:p>
        </p:txBody>
      </p:sp>
      <p:sp>
        <p:nvSpPr>
          <p:cNvPr id="7" name="Rectangle 6"/>
          <p:cNvSpPr/>
          <p:nvPr/>
        </p:nvSpPr>
        <p:spPr>
          <a:xfrm>
            <a:off x="7391400" y="2286000"/>
            <a:ext cx="14478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New Drug Application and FDA Approval</a:t>
            </a:r>
            <a:endParaRPr lang="en-US" dirty="0"/>
          </a:p>
        </p:txBody>
      </p:sp>
      <p:sp>
        <p:nvSpPr>
          <p:cNvPr id="8" name="Right Arrow 7"/>
          <p:cNvSpPr/>
          <p:nvPr/>
        </p:nvSpPr>
        <p:spPr>
          <a:xfrm>
            <a:off x="2438400" y="28956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4648200" y="28956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6858000" y="2895600"/>
            <a:ext cx="381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066800" y="4572000"/>
            <a:ext cx="6477000" cy="923330"/>
          </a:xfrm>
          <a:prstGeom prst="rect">
            <a:avLst/>
          </a:prstGeom>
          <a:noFill/>
        </p:spPr>
        <p:txBody>
          <a:bodyPr wrap="square" rtlCol="0">
            <a:spAutoFit/>
          </a:bodyPr>
          <a:lstStyle/>
          <a:p>
            <a:r>
              <a:rPr lang="en-US" dirty="0" smtClean="0"/>
              <a:t>For all the three major steps leading to a new drug application (drug discovery and target validation, preclinical research and clinical trials), genomics and bioinformatics are needed.</a:t>
            </a:r>
            <a:endParaRPr lang="en-US" dirty="0"/>
          </a:p>
        </p:txBody>
      </p:sp>
    </p:spTree>
    <p:extLst>
      <p:ext uri="{BB962C8B-B14F-4D97-AF65-F5344CB8AC3E}">
        <p14:creationId xmlns:p14="http://schemas.microsoft.com/office/powerpoint/2010/main" val="1826013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Genomics and Bioinformatics in drug discovery and target validation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drug company chooses a gene or protein to target with a drug molecule. The company needs to confirm that the gene or protein is indeed involved with the disease in question.</a:t>
            </a:r>
          </a:p>
          <a:p>
            <a:endParaRPr lang="en-US" dirty="0"/>
          </a:p>
          <a:p>
            <a:r>
              <a:rPr lang="en-US" dirty="0" smtClean="0"/>
              <a:t>The availability of large genomics datasets such as the TCGA data and </a:t>
            </a:r>
            <a:r>
              <a:rPr lang="en-US" dirty="0" err="1" smtClean="0"/>
              <a:t>Depmap</a:t>
            </a:r>
            <a:r>
              <a:rPr lang="en-US" dirty="0" smtClean="0"/>
              <a:t> data offers the opportunity of “virtual” hypothesis generation and testing, which enables better selection of targets based on genomics and “virtual” target validation.</a:t>
            </a:r>
            <a:endParaRPr lang="en-US" dirty="0"/>
          </a:p>
        </p:txBody>
      </p:sp>
    </p:spTree>
    <p:extLst>
      <p:ext uri="{BB962C8B-B14F-4D97-AF65-F5344CB8AC3E}">
        <p14:creationId xmlns:p14="http://schemas.microsoft.com/office/powerpoint/2010/main" val="2566717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Genomics enables better selection of drug target</a:t>
            </a:r>
          </a:p>
        </p:txBody>
      </p:sp>
      <p:pic>
        <p:nvPicPr>
          <p:cNvPr id="4098" name="Picture 2" descr="https://upload.wikimedia.org/wikipedia/commons/thumb/c/c6/Schematic_of_the_Philadelphia_Chromosome.svg/300px-Schematic_of_the_Philadelphia_Chromosome.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828800"/>
            <a:ext cx="3695700" cy="40775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706880" y="6057450"/>
            <a:ext cx="6896100" cy="369332"/>
          </a:xfrm>
          <a:prstGeom prst="rect">
            <a:avLst/>
          </a:prstGeom>
        </p:spPr>
        <p:txBody>
          <a:bodyPr wrap="square">
            <a:spAutoFit/>
          </a:bodyPr>
          <a:lstStyle/>
          <a:p>
            <a:r>
              <a:rPr lang="en-US" dirty="0"/>
              <a:t>https://en.wikipedia.org/wiki/Philadelphia_chromosome</a:t>
            </a:r>
          </a:p>
        </p:txBody>
      </p:sp>
      <p:sp>
        <p:nvSpPr>
          <p:cNvPr id="5" name="TextBox 4"/>
          <p:cNvSpPr txBox="1"/>
          <p:nvPr/>
        </p:nvSpPr>
        <p:spPr>
          <a:xfrm>
            <a:off x="381000" y="1828800"/>
            <a:ext cx="1981200" cy="369332"/>
          </a:xfrm>
          <a:prstGeom prst="rect">
            <a:avLst/>
          </a:prstGeom>
          <a:noFill/>
        </p:spPr>
        <p:txBody>
          <a:bodyPr wrap="square" rtlCol="0">
            <a:spAutoFit/>
          </a:bodyPr>
          <a:lstStyle/>
          <a:p>
            <a:r>
              <a:rPr lang="en-US" dirty="0" smtClean="0"/>
              <a:t>Case Study 1</a:t>
            </a:r>
            <a:endParaRPr lang="en-US" dirty="0"/>
          </a:p>
        </p:txBody>
      </p:sp>
      <p:sp>
        <p:nvSpPr>
          <p:cNvPr id="6" name="TextBox 5"/>
          <p:cNvSpPr txBox="1"/>
          <p:nvPr/>
        </p:nvSpPr>
        <p:spPr>
          <a:xfrm>
            <a:off x="609600" y="2819400"/>
            <a:ext cx="3733800" cy="3139321"/>
          </a:xfrm>
          <a:prstGeom prst="rect">
            <a:avLst/>
          </a:prstGeom>
          <a:noFill/>
        </p:spPr>
        <p:txBody>
          <a:bodyPr wrap="square" rtlCol="0">
            <a:spAutoFit/>
          </a:bodyPr>
          <a:lstStyle/>
          <a:p>
            <a:r>
              <a:rPr lang="en-US" dirty="0" smtClean="0"/>
              <a:t>The so-called </a:t>
            </a:r>
            <a:r>
              <a:rPr lang="en-US" dirty="0"/>
              <a:t>P</a:t>
            </a:r>
            <a:r>
              <a:rPr lang="en-US" dirty="0" smtClean="0"/>
              <a:t>hiladelphia </a:t>
            </a:r>
            <a:r>
              <a:rPr lang="en-US" dirty="0" err="1" smtClean="0"/>
              <a:t>chromosom</a:t>
            </a:r>
            <a:r>
              <a:rPr lang="en-US" dirty="0" smtClean="0"/>
              <a:t> is a translocation, in which parts of chromosomes 9 and 22 swap places. The resulting fusion gene is created by juxtaposing the ABL1 genes to a part of the BCR gene.</a:t>
            </a:r>
          </a:p>
          <a:p>
            <a:endParaRPr lang="en-US" dirty="0"/>
          </a:p>
          <a:p>
            <a:r>
              <a:rPr lang="en-US" dirty="0" smtClean="0"/>
              <a:t>The </a:t>
            </a:r>
            <a:r>
              <a:rPr lang="en-US" dirty="0" err="1" smtClean="0"/>
              <a:t>Abl</a:t>
            </a:r>
            <a:r>
              <a:rPr lang="en-US" dirty="0" smtClean="0"/>
              <a:t> gene expresses a membrane-associated protein, a tyrosine kinase, and the BCR-ABL transcript is also translated into a tyrosine kinase.  </a:t>
            </a:r>
            <a:endParaRPr lang="en-US" dirty="0"/>
          </a:p>
        </p:txBody>
      </p:sp>
    </p:spTree>
    <p:extLst>
      <p:ext uri="{BB962C8B-B14F-4D97-AF65-F5344CB8AC3E}">
        <p14:creationId xmlns:p14="http://schemas.microsoft.com/office/powerpoint/2010/main" val="3914140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Genomics enables better selection of drug target</a:t>
            </a:r>
          </a:p>
        </p:txBody>
      </p:sp>
      <p:sp>
        <p:nvSpPr>
          <p:cNvPr id="4" name="TextBox 3"/>
          <p:cNvSpPr txBox="1"/>
          <p:nvPr/>
        </p:nvSpPr>
        <p:spPr>
          <a:xfrm>
            <a:off x="381000" y="1828800"/>
            <a:ext cx="1981200" cy="369332"/>
          </a:xfrm>
          <a:prstGeom prst="rect">
            <a:avLst/>
          </a:prstGeom>
          <a:noFill/>
        </p:spPr>
        <p:txBody>
          <a:bodyPr wrap="square" rtlCol="0">
            <a:spAutoFit/>
          </a:bodyPr>
          <a:lstStyle/>
          <a:p>
            <a:r>
              <a:rPr lang="en-US" dirty="0" smtClean="0"/>
              <a:t>Case Study 1</a:t>
            </a:r>
            <a:endParaRPr lang="en-US" dirty="0"/>
          </a:p>
        </p:txBody>
      </p:sp>
      <p:sp>
        <p:nvSpPr>
          <p:cNvPr id="5" name="TextBox 4"/>
          <p:cNvSpPr txBox="1"/>
          <p:nvPr/>
        </p:nvSpPr>
        <p:spPr>
          <a:xfrm>
            <a:off x="381000" y="2438400"/>
            <a:ext cx="8534400" cy="3416320"/>
          </a:xfrm>
          <a:prstGeom prst="rect">
            <a:avLst/>
          </a:prstGeom>
          <a:noFill/>
        </p:spPr>
        <p:txBody>
          <a:bodyPr wrap="square" rtlCol="0">
            <a:spAutoFit/>
          </a:bodyPr>
          <a:lstStyle/>
          <a:p>
            <a:r>
              <a:rPr lang="en-US" sz="2400" dirty="0" smtClean="0"/>
              <a:t>Philadelphia chromosomes are often found in acute lymphoblastic leukemia (ALL) or chronic myeloid leukemia (CML).</a:t>
            </a:r>
          </a:p>
          <a:p>
            <a:endParaRPr lang="en-US" sz="2400" dirty="0"/>
          </a:p>
          <a:p>
            <a:r>
              <a:rPr lang="en-US" sz="2400" dirty="0" smtClean="0"/>
              <a:t>Philadelphia chromosomes are NOT present in healthy cells, and they are only present in tumor cells.</a:t>
            </a:r>
          </a:p>
          <a:p>
            <a:endParaRPr lang="en-US" sz="2400" dirty="0"/>
          </a:p>
          <a:p>
            <a:r>
              <a:rPr lang="en-US" sz="2400" dirty="0" err="1" smtClean="0"/>
              <a:t>Imatinib</a:t>
            </a:r>
            <a:r>
              <a:rPr lang="en-US" sz="2400" dirty="0"/>
              <a:t> </a:t>
            </a:r>
            <a:r>
              <a:rPr lang="en-US" sz="2400" dirty="0" smtClean="0"/>
              <a:t>(</a:t>
            </a:r>
            <a:r>
              <a:rPr lang="en-US" sz="2400" dirty="0" err="1" smtClean="0"/>
              <a:t>Gleevec</a:t>
            </a:r>
            <a:r>
              <a:rPr lang="en-US" sz="2400" dirty="0" smtClean="0"/>
              <a:t>) blocks the activity of the BCR-ABL fusion protein, and has been successfully used to treat CML and ALL patients that are Philadelphia chromosome-positive (</a:t>
            </a:r>
            <a:r>
              <a:rPr lang="en-US" sz="2400" dirty="0" err="1" smtClean="0"/>
              <a:t>Ph</a:t>
            </a:r>
            <a:r>
              <a:rPr lang="en-US" sz="2400" dirty="0" smtClean="0"/>
              <a:t>+).</a:t>
            </a:r>
            <a:endParaRPr lang="en-US" sz="2400" dirty="0"/>
          </a:p>
        </p:txBody>
      </p:sp>
      <p:sp>
        <p:nvSpPr>
          <p:cNvPr id="6" name="Rectangle 5"/>
          <p:cNvSpPr/>
          <p:nvPr/>
        </p:nvSpPr>
        <p:spPr>
          <a:xfrm>
            <a:off x="4343400" y="6019800"/>
            <a:ext cx="4572000" cy="646331"/>
          </a:xfrm>
          <a:prstGeom prst="rect">
            <a:avLst/>
          </a:prstGeom>
        </p:spPr>
        <p:txBody>
          <a:bodyPr>
            <a:spAutoFit/>
          </a:bodyPr>
          <a:lstStyle/>
          <a:p>
            <a:r>
              <a:rPr lang="en-US" dirty="0"/>
              <a:t>https://www.cancer.gov/research/progress/discovery/gleevec</a:t>
            </a:r>
          </a:p>
        </p:txBody>
      </p:sp>
    </p:spTree>
    <p:extLst>
      <p:ext uri="{BB962C8B-B14F-4D97-AF65-F5344CB8AC3E}">
        <p14:creationId xmlns:p14="http://schemas.microsoft.com/office/powerpoint/2010/main" val="1570743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Genomics enables better selection of drug target</a:t>
            </a:r>
            <a:endParaRPr lang="en-US" dirty="0"/>
          </a:p>
        </p:txBody>
      </p:sp>
      <p:sp>
        <p:nvSpPr>
          <p:cNvPr id="4" name="TextBox 3"/>
          <p:cNvSpPr txBox="1"/>
          <p:nvPr/>
        </p:nvSpPr>
        <p:spPr>
          <a:xfrm>
            <a:off x="533400" y="1600200"/>
            <a:ext cx="1600200" cy="369332"/>
          </a:xfrm>
          <a:prstGeom prst="rect">
            <a:avLst/>
          </a:prstGeom>
          <a:noFill/>
        </p:spPr>
        <p:txBody>
          <a:bodyPr wrap="square" rtlCol="0">
            <a:spAutoFit/>
          </a:bodyPr>
          <a:lstStyle/>
          <a:p>
            <a:r>
              <a:rPr lang="en-US" dirty="0" smtClean="0"/>
              <a:t>Case Study 2</a:t>
            </a:r>
            <a:endParaRPr lang="en-US" dirty="0"/>
          </a:p>
        </p:txBody>
      </p:sp>
      <p:pic>
        <p:nvPicPr>
          <p:cNvPr id="1026" name="Picture 2" descr="melanoma-molecular-&#10;&#10;subset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600200"/>
            <a:ext cx="4439263" cy="393192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478280" y="6488668"/>
            <a:ext cx="7696200" cy="369332"/>
          </a:xfrm>
          <a:prstGeom prst="rect">
            <a:avLst/>
          </a:prstGeom>
        </p:spPr>
        <p:txBody>
          <a:bodyPr wrap="square">
            <a:spAutoFit/>
          </a:bodyPr>
          <a:lstStyle/>
          <a:p>
            <a:r>
              <a:rPr lang="en-US" dirty="0"/>
              <a:t>https://www.mycancergenome.org/content/disease/melanoma/</a:t>
            </a:r>
          </a:p>
        </p:txBody>
      </p:sp>
      <p:sp>
        <p:nvSpPr>
          <p:cNvPr id="6" name="TextBox 5"/>
          <p:cNvSpPr txBox="1"/>
          <p:nvPr/>
        </p:nvSpPr>
        <p:spPr>
          <a:xfrm>
            <a:off x="1752600" y="5719525"/>
            <a:ext cx="6164580" cy="369332"/>
          </a:xfrm>
          <a:prstGeom prst="rect">
            <a:avLst/>
          </a:prstGeom>
          <a:noFill/>
        </p:spPr>
        <p:txBody>
          <a:bodyPr wrap="square" rtlCol="0">
            <a:spAutoFit/>
          </a:bodyPr>
          <a:lstStyle/>
          <a:p>
            <a:r>
              <a:rPr lang="en-US" dirty="0" smtClean="0"/>
              <a:t>BRAF is the most commonly mutated gene in melanoma.</a:t>
            </a:r>
            <a:endParaRPr lang="en-US" dirty="0"/>
          </a:p>
        </p:txBody>
      </p:sp>
    </p:spTree>
    <p:extLst>
      <p:ext uri="{BB962C8B-B14F-4D97-AF65-F5344CB8AC3E}">
        <p14:creationId xmlns:p14="http://schemas.microsoft.com/office/powerpoint/2010/main" val="3901559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Genomics enables better selection of drug target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8238" y="1814513"/>
            <a:ext cx="6867525" cy="3228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914400" y="5562600"/>
            <a:ext cx="5715000" cy="369332"/>
          </a:xfrm>
          <a:prstGeom prst="rect">
            <a:avLst/>
          </a:prstGeom>
          <a:noFill/>
        </p:spPr>
        <p:txBody>
          <a:bodyPr wrap="square" rtlCol="0">
            <a:spAutoFit/>
          </a:bodyPr>
          <a:lstStyle/>
          <a:p>
            <a:r>
              <a:rPr lang="en-US" dirty="0" smtClean="0"/>
              <a:t>The majority of BRAF mutations in melanoma is V600E.</a:t>
            </a:r>
            <a:endParaRPr lang="en-US" dirty="0"/>
          </a:p>
        </p:txBody>
      </p:sp>
      <p:sp>
        <p:nvSpPr>
          <p:cNvPr id="5" name="Rectangle 4"/>
          <p:cNvSpPr/>
          <p:nvPr/>
        </p:nvSpPr>
        <p:spPr>
          <a:xfrm>
            <a:off x="3276600" y="6412468"/>
            <a:ext cx="5943600" cy="369332"/>
          </a:xfrm>
          <a:prstGeom prst="rect">
            <a:avLst/>
          </a:prstGeom>
        </p:spPr>
        <p:txBody>
          <a:bodyPr wrap="square">
            <a:spAutoFit/>
          </a:bodyPr>
          <a:lstStyle/>
          <a:p>
            <a:r>
              <a:rPr lang="en-US" dirty="0"/>
              <a:t>https://cancer.sanger.ac.uk/cosmic/gene/analysis?ln=BRAF</a:t>
            </a:r>
          </a:p>
        </p:txBody>
      </p:sp>
      <p:sp>
        <p:nvSpPr>
          <p:cNvPr id="7" name="TextBox 6"/>
          <p:cNvSpPr txBox="1"/>
          <p:nvPr/>
        </p:nvSpPr>
        <p:spPr>
          <a:xfrm>
            <a:off x="338138" y="1246108"/>
            <a:ext cx="1600200" cy="369332"/>
          </a:xfrm>
          <a:prstGeom prst="rect">
            <a:avLst/>
          </a:prstGeom>
          <a:noFill/>
        </p:spPr>
        <p:txBody>
          <a:bodyPr wrap="square" rtlCol="0">
            <a:spAutoFit/>
          </a:bodyPr>
          <a:lstStyle/>
          <a:p>
            <a:r>
              <a:rPr lang="en-US" dirty="0" smtClean="0"/>
              <a:t>Case Study 2</a:t>
            </a:r>
            <a:endParaRPr lang="en-US" dirty="0"/>
          </a:p>
        </p:txBody>
      </p:sp>
    </p:spTree>
    <p:extLst>
      <p:ext uri="{BB962C8B-B14F-4D97-AF65-F5344CB8AC3E}">
        <p14:creationId xmlns:p14="http://schemas.microsoft.com/office/powerpoint/2010/main" val="419983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Genomics enables better selection of drug target</a:t>
            </a:r>
          </a:p>
        </p:txBody>
      </p:sp>
      <p:sp>
        <p:nvSpPr>
          <p:cNvPr id="4" name="TextBox 3"/>
          <p:cNvSpPr txBox="1"/>
          <p:nvPr/>
        </p:nvSpPr>
        <p:spPr>
          <a:xfrm>
            <a:off x="114300" y="5257800"/>
            <a:ext cx="9029700" cy="923330"/>
          </a:xfrm>
          <a:prstGeom prst="rect">
            <a:avLst/>
          </a:prstGeom>
          <a:noFill/>
        </p:spPr>
        <p:txBody>
          <a:bodyPr wrap="square" rtlCol="0">
            <a:spAutoFit/>
          </a:bodyPr>
          <a:lstStyle/>
          <a:p>
            <a:r>
              <a:rPr lang="en-US" dirty="0" smtClean="0"/>
              <a:t>BRAF V600E specific inhibitor (</a:t>
            </a:r>
            <a:r>
              <a:rPr lang="en-US" dirty="0" err="1" smtClean="0"/>
              <a:t>Vemurafenib</a:t>
            </a:r>
            <a:r>
              <a:rPr lang="en-US" dirty="0" smtClean="0"/>
              <a:t>) offers better treatment outcomes than </a:t>
            </a:r>
            <a:r>
              <a:rPr lang="en-US" dirty="0" err="1" smtClean="0"/>
              <a:t>Dacarbazine</a:t>
            </a:r>
            <a:r>
              <a:rPr lang="en-US" dirty="0" smtClean="0"/>
              <a:t> (chemotherapy agent in standard of care) for patients with metastatic melanoma with the BRAF V600E mutation </a:t>
            </a:r>
            <a:endParaRPr lang="en-US" dirty="0"/>
          </a:p>
        </p:txBody>
      </p:sp>
      <p:sp>
        <p:nvSpPr>
          <p:cNvPr id="6" name="TextBox 5"/>
          <p:cNvSpPr txBox="1"/>
          <p:nvPr/>
        </p:nvSpPr>
        <p:spPr>
          <a:xfrm>
            <a:off x="114300" y="1445181"/>
            <a:ext cx="1600200" cy="369332"/>
          </a:xfrm>
          <a:prstGeom prst="rect">
            <a:avLst/>
          </a:prstGeom>
          <a:noFill/>
        </p:spPr>
        <p:txBody>
          <a:bodyPr wrap="square" rtlCol="0">
            <a:spAutoFit/>
          </a:bodyPr>
          <a:lstStyle/>
          <a:p>
            <a:r>
              <a:rPr lang="en-US" dirty="0" smtClean="0"/>
              <a:t>Case Study 2</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1475661"/>
            <a:ext cx="7048500" cy="3693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876800" y="6181130"/>
            <a:ext cx="3810000" cy="369332"/>
          </a:xfrm>
          <a:prstGeom prst="rect">
            <a:avLst/>
          </a:prstGeom>
          <a:noFill/>
        </p:spPr>
        <p:txBody>
          <a:bodyPr wrap="square" rtlCol="0">
            <a:spAutoFit/>
          </a:bodyPr>
          <a:lstStyle/>
          <a:p>
            <a:r>
              <a:rPr lang="en-US" dirty="0" smtClean="0"/>
              <a:t>Chapman et al. N </a:t>
            </a:r>
            <a:r>
              <a:rPr lang="en-US" dirty="0" err="1" smtClean="0"/>
              <a:t>Engl</a:t>
            </a:r>
            <a:r>
              <a:rPr lang="en-US" dirty="0" smtClean="0"/>
              <a:t> J Med, 2011</a:t>
            </a:r>
            <a:endParaRPr lang="en-US" dirty="0"/>
          </a:p>
        </p:txBody>
      </p:sp>
    </p:spTree>
    <p:extLst>
      <p:ext uri="{BB962C8B-B14F-4D97-AF65-F5344CB8AC3E}">
        <p14:creationId xmlns:p14="http://schemas.microsoft.com/office/powerpoint/2010/main" val="2601841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Genomics and Bioinformatics in preclinical research</a:t>
            </a:r>
            <a:endParaRPr lang="en-US" dirty="0"/>
          </a:p>
        </p:txBody>
      </p:sp>
      <p:sp>
        <p:nvSpPr>
          <p:cNvPr id="3" name="Content Placeholder 2"/>
          <p:cNvSpPr>
            <a:spLocks noGrp="1"/>
          </p:cNvSpPr>
          <p:nvPr>
            <p:ph idx="1"/>
          </p:nvPr>
        </p:nvSpPr>
        <p:spPr/>
        <p:txBody>
          <a:bodyPr/>
          <a:lstStyle/>
          <a:p>
            <a:r>
              <a:rPr lang="en-US" dirty="0" smtClean="0"/>
              <a:t>The safety and efficacy of the drug molecule are evaluated in vitro and in </a:t>
            </a:r>
            <a:r>
              <a:rPr lang="en-US" dirty="0" smtClean="0"/>
              <a:t>vi</a:t>
            </a:r>
            <a:r>
              <a:rPr lang="en-US" dirty="0" smtClean="0"/>
              <a:t>vo: in test tubes and </a:t>
            </a:r>
            <a:r>
              <a:rPr lang="en-US" dirty="0" smtClean="0"/>
              <a:t>on animal models and cell cultures.</a:t>
            </a:r>
          </a:p>
          <a:p>
            <a:endParaRPr lang="en-US" dirty="0"/>
          </a:p>
          <a:p>
            <a:r>
              <a:rPr lang="en-US" dirty="0" smtClean="0"/>
              <a:t>Genomics are very useful in preclinical research for drug development: determination of mechanism of action (MOA), and characterization of resistance mechanisms.</a:t>
            </a:r>
            <a:endParaRPr lang="en-US" dirty="0"/>
          </a:p>
        </p:txBody>
      </p:sp>
    </p:spTree>
    <p:extLst>
      <p:ext uri="{BB962C8B-B14F-4D97-AF65-F5344CB8AC3E}">
        <p14:creationId xmlns:p14="http://schemas.microsoft.com/office/powerpoint/2010/main" val="1765263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MOA characterization using RNA-</a:t>
            </a:r>
            <a:r>
              <a:rPr lang="en-US" dirty="0" err="1" smtClean="0"/>
              <a:t>Seq</a:t>
            </a:r>
            <a:endParaRPr lang="en-US" dirty="0"/>
          </a:p>
        </p:txBody>
      </p:sp>
      <p:sp>
        <p:nvSpPr>
          <p:cNvPr id="3" name="Content Placeholder 2"/>
          <p:cNvSpPr>
            <a:spLocks noGrp="1"/>
          </p:cNvSpPr>
          <p:nvPr>
            <p:ph idx="1"/>
          </p:nvPr>
        </p:nvSpPr>
        <p:spPr>
          <a:xfrm>
            <a:off x="457200" y="1600201"/>
            <a:ext cx="8229600" cy="1676400"/>
          </a:xfrm>
        </p:spPr>
        <p:txBody>
          <a:bodyPr/>
          <a:lstStyle/>
          <a:p>
            <a:r>
              <a:rPr lang="en-US" dirty="0" smtClean="0"/>
              <a:t>RNA-</a:t>
            </a:r>
            <a:r>
              <a:rPr lang="en-US" dirty="0" err="1" smtClean="0"/>
              <a:t>Seq</a:t>
            </a:r>
            <a:r>
              <a:rPr lang="en-US" dirty="0" smtClean="0"/>
              <a:t> is commonly used in the pharmaceutical industry to characterize the MOA of drug molecules:</a:t>
            </a:r>
            <a:endParaRPr lang="en-US" dirty="0"/>
          </a:p>
        </p:txBody>
      </p:sp>
      <p:sp>
        <p:nvSpPr>
          <p:cNvPr id="4" name="Oval 3"/>
          <p:cNvSpPr/>
          <p:nvPr/>
        </p:nvSpPr>
        <p:spPr>
          <a:xfrm>
            <a:off x="2819400" y="3581400"/>
            <a:ext cx="16002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Samples</a:t>
            </a:r>
          </a:p>
          <a:p>
            <a:pPr algn="ctr"/>
            <a:r>
              <a:rPr lang="en-US" sz="1600" dirty="0" smtClean="0"/>
              <a:t>Treated by drug</a:t>
            </a:r>
            <a:endParaRPr lang="en-US" sz="1600" dirty="0"/>
          </a:p>
        </p:txBody>
      </p:sp>
      <p:sp>
        <p:nvSpPr>
          <p:cNvPr id="5" name="Oval 4"/>
          <p:cNvSpPr/>
          <p:nvPr/>
        </p:nvSpPr>
        <p:spPr>
          <a:xfrm>
            <a:off x="4876800" y="3581400"/>
            <a:ext cx="1676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Samples with No Treatment</a:t>
            </a:r>
          </a:p>
        </p:txBody>
      </p:sp>
      <p:sp>
        <p:nvSpPr>
          <p:cNvPr id="6" name="Down Arrow 5"/>
          <p:cNvSpPr/>
          <p:nvPr/>
        </p:nvSpPr>
        <p:spPr>
          <a:xfrm>
            <a:off x="4236720" y="5463064"/>
            <a:ext cx="7620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236720" y="5012174"/>
            <a:ext cx="3733800" cy="369332"/>
          </a:xfrm>
          <a:prstGeom prst="rect">
            <a:avLst/>
          </a:prstGeom>
          <a:noFill/>
        </p:spPr>
        <p:txBody>
          <a:bodyPr wrap="square" rtlCol="0">
            <a:spAutoFit/>
          </a:bodyPr>
          <a:lstStyle/>
          <a:p>
            <a:r>
              <a:rPr lang="en-US" dirty="0" err="1" smtClean="0"/>
              <a:t>RNASeq</a:t>
            </a:r>
            <a:endParaRPr lang="en-US" dirty="0"/>
          </a:p>
        </p:txBody>
      </p:sp>
      <p:sp>
        <p:nvSpPr>
          <p:cNvPr id="8" name="Down Arrow 7"/>
          <p:cNvSpPr/>
          <p:nvPr/>
        </p:nvSpPr>
        <p:spPr>
          <a:xfrm>
            <a:off x="4267200" y="4495800"/>
            <a:ext cx="7620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009900" y="6033254"/>
            <a:ext cx="5600700" cy="369332"/>
          </a:xfrm>
          <a:prstGeom prst="rect">
            <a:avLst/>
          </a:prstGeom>
          <a:noFill/>
        </p:spPr>
        <p:txBody>
          <a:bodyPr wrap="square" rtlCol="0">
            <a:spAutoFit/>
          </a:bodyPr>
          <a:lstStyle/>
          <a:p>
            <a:r>
              <a:rPr lang="en-US" dirty="0" smtClean="0"/>
              <a:t>Differential gene expression and pathway analysis</a:t>
            </a:r>
            <a:endParaRPr lang="en-US" dirty="0"/>
          </a:p>
        </p:txBody>
      </p:sp>
    </p:spTree>
    <p:extLst>
      <p:ext uri="{BB962C8B-B14F-4D97-AF65-F5344CB8AC3E}">
        <p14:creationId xmlns:p14="http://schemas.microsoft.com/office/powerpoint/2010/main" val="1667319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Characterization of resistance mechanisms using DNA-</a:t>
            </a:r>
            <a:r>
              <a:rPr lang="en-US" dirty="0" err="1" smtClean="0"/>
              <a:t>Seq</a:t>
            </a:r>
            <a:endParaRPr lang="en-US" dirty="0"/>
          </a:p>
        </p:txBody>
      </p:sp>
      <p:sp>
        <p:nvSpPr>
          <p:cNvPr id="3" name="Content Placeholder 2"/>
          <p:cNvSpPr>
            <a:spLocks noGrp="1"/>
          </p:cNvSpPr>
          <p:nvPr>
            <p:ph idx="1"/>
          </p:nvPr>
        </p:nvSpPr>
        <p:spPr>
          <a:xfrm>
            <a:off x="457200" y="1600201"/>
            <a:ext cx="8305800" cy="4419599"/>
          </a:xfrm>
        </p:spPr>
        <p:txBody>
          <a:bodyPr>
            <a:normAutofit lnSpcReduction="10000"/>
          </a:bodyPr>
          <a:lstStyle/>
          <a:p>
            <a:r>
              <a:rPr lang="en-US" sz="2800" dirty="0" smtClean="0"/>
              <a:t>Tumors often develop resistance after a certain treatment. </a:t>
            </a:r>
          </a:p>
          <a:p>
            <a:endParaRPr lang="en-US" sz="2800" dirty="0" smtClean="0"/>
          </a:p>
          <a:p>
            <a:r>
              <a:rPr lang="en-US" sz="2800" dirty="0" smtClean="0"/>
              <a:t>Many (not all) resistances are caused by new mutations in the tumor DNA. Identification of these mutations can offer insights into the resistance mechanism and new targets for drug development.</a:t>
            </a:r>
          </a:p>
          <a:p>
            <a:endParaRPr lang="en-US" sz="2800" dirty="0" smtClean="0"/>
          </a:p>
          <a:p>
            <a:r>
              <a:rPr lang="en-US" sz="2800" dirty="0" smtClean="0"/>
              <a:t>DNA-</a:t>
            </a:r>
            <a:r>
              <a:rPr lang="en-US" sz="2800" dirty="0" err="1" smtClean="0"/>
              <a:t>Seq</a:t>
            </a:r>
            <a:r>
              <a:rPr lang="en-US" sz="2800" dirty="0" smtClean="0"/>
              <a:t> can be used to characterize the mutations in the resistant tumors.</a:t>
            </a:r>
            <a:endParaRPr lang="en-US" sz="2800" dirty="0"/>
          </a:p>
        </p:txBody>
      </p:sp>
    </p:spTree>
    <p:extLst>
      <p:ext uri="{BB962C8B-B14F-4D97-AF65-F5344CB8AC3E}">
        <p14:creationId xmlns:p14="http://schemas.microsoft.com/office/powerpoint/2010/main" val="991821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Characterization of resistance mechanisms using DNA-</a:t>
            </a:r>
            <a:r>
              <a:rPr lang="en-US" dirty="0" err="1" smtClean="0"/>
              <a:t>Seq</a:t>
            </a:r>
            <a:endParaRPr lang="en-US" dirty="0"/>
          </a:p>
        </p:txBody>
      </p:sp>
      <p:sp>
        <p:nvSpPr>
          <p:cNvPr id="3" name="Content Placeholder 2"/>
          <p:cNvSpPr>
            <a:spLocks noGrp="1"/>
          </p:cNvSpPr>
          <p:nvPr>
            <p:ph idx="1"/>
          </p:nvPr>
        </p:nvSpPr>
        <p:spPr>
          <a:xfrm>
            <a:off x="807720" y="1847613"/>
            <a:ext cx="8305800" cy="1428988"/>
          </a:xfrm>
        </p:spPr>
        <p:txBody>
          <a:bodyPr>
            <a:normAutofit fontScale="92500"/>
          </a:bodyPr>
          <a:lstStyle/>
          <a:p>
            <a:r>
              <a:rPr lang="en-US" sz="2800" dirty="0" smtClean="0"/>
              <a:t>Many non-small cell lung cancer (NSCLC) tumors develop acquired drug resistance to 1</a:t>
            </a:r>
            <a:r>
              <a:rPr lang="en-US" sz="2800" baseline="30000" dirty="0" smtClean="0"/>
              <a:t>st</a:t>
            </a:r>
            <a:r>
              <a:rPr lang="en-US" sz="2800" dirty="0" smtClean="0"/>
              <a:t>/2</a:t>
            </a:r>
            <a:r>
              <a:rPr lang="en-US" sz="2800" baseline="30000" dirty="0" smtClean="0"/>
              <a:t>nd</a:t>
            </a:r>
            <a:r>
              <a:rPr lang="en-US" sz="2800" dirty="0" smtClean="0"/>
              <a:t> generation EGFR-TKI therapy (TKI, tyrosine kinase inhibitor).</a:t>
            </a:r>
          </a:p>
          <a:p>
            <a:endParaRPr lang="en-US" sz="2800" dirty="0" smtClean="0"/>
          </a:p>
        </p:txBody>
      </p:sp>
      <p:sp>
        <p:nvSpPr>
          <p:cNvPr id="4" name="TextBox 3"/>
          <p:cNvSpPr txBox="1"/>
          <p:nvPr/>
        </p:nvSpPr>
        <p:spPr>
          <a:xfrm>
            <a:off x="0" y="1447800"/>
            <a:ext cx="1828800" cy="369332"/>
          </a:xfrm>
          <a:prstGeom prst="rect">
            <a:avLst/>
          </a:prstGeom>
          <a:noFill/>
        </p:spPr>
        <p:txBody>
          <a:bodyPr wrap="square" rtlCol="0">
            <a:spAutoFit/>
          </a:bodyPr>
          <a:lstStyle/>
          <a:p>
            <a:r>
              <a:rPr lang="en-US" dirty="0" smtClean="0"/>
              <a:t>Case Study 3</a:t>
            </a:r>
            <a:endParaRPr lang="en-US" dirty="0"/>
          </a:p>
        </p:txBody>
      </p:sp>
      <p:pic>
        <p:nvPicPr>
          <p:cNvPr id="5122" name="Picture 2" descr="A medical illustration showing how NSCLC cells with a sensitizing EGFR mutation can develop an acquired resistance mutation such as T790M, and will become resistant to first-line treatment with first- or second-generation EGFR-TK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581400"/>
            <a:ext cx="5991225" cy="20383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6200" y="6135469"/>
            <a:ext cx="9067800" cy="646331"/>
          </a:xfrm>
          <a:prstGeom prst="rect">
            <a:avLst/>
          </a:prstGeom>
        </p:spPr>
        <p:txBody>
          <a:bodyPr wrap="square">
            <a:spAutoFit/>
          </a:bodyPr>
          <a:lstStyle/>
          <a:p>
            <a:r>
              <a:rPr lang="en-US" dirty="0"/>
              <a:t>https://www.diagnosticnavigator.com/e-learning/play-course.html?moduleId=module-us3&amp;chapterId=egfr-chapter-3&amp;index=0</a:t>
            </a:r>
          </a:p>
        </p:txBody>
      </p:sp>
    </p:spTree>
    <p:extLst>
      <p:ext uri="{BB962C8B-B14F-4D97-AF65-F5344CB8AC3E}">
        <p14:creationId xmlns:p14="http://schemas.microsoft.com/office/powerpoint/2010/main" val="118567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Characterization of resistance mechanisms using DNA-</a:t>
            </a:r>
            <a:r>
              <a:rPr lang="en-US" dirty="0" err="1" smtClean="0"/>
              <a:t>Seq</a:t>
            </a:r>
            <a:endParaRPr lang="en-US" dirty="0"/>
          </a:p>
        </p:txBody>
      </p:sp>
      <p:sp>
        <p:nvSpPr>
          <p:cNvPr id="3" name="Content Placeholder 2"/>
          <p:cNvSpPr>
            <a:spLocks noGrp="1"/>
          </p:cNvSpPr>
          <p:nvPr>
            <p:ph idx="1"/>
          </p:nvPr>
        </p:nvSpPr>
        <p:spPr>
          <a:xfrm>
            <a:off x="807720" y="1847613"/>
            <a:ext cx="8305800" cy="1428988"/>
          </a:xfrm>
        </p:spPr>
        <p:txBody>
          <a:bodyPr>
            <a:normAutofit/>
          </a:bodyPr>
          <a:lstStyle/>
          <a:p>
            <a:r>
              <a:rPr lang="en-US" sz="2800" dirty="0" smtClean="0"/>
              <a:t>As many as 2 out of 3 patients who become resistant to 1</a:t>
            </a:r>
            <a:r>
              <a:rPr lang="en-US" sz="2800" baseline="30000" dirty="0" smtClean="0"/>
              <a:t>st</a:t>
            </a:r>
            <a:r>
              <a:rPr lang="en-US" sz="2800" dirty="0" smtClean="0"/>
              <a:t>-/2</a:t>
            </a:r>
            <a:r>
              <a:rPr lang="en-US" sz="2800" baseline="30000" dirty="0" smtClean="0"/>
              <a:t>nd</a:t>
            </a:r>
            <a:r>
              <a:rPr lang="en-US" sz="2800" dirty="0" smtClean="0"/>
              <a:t>-generation EGFR-TKIs do so because of an acquired T790M mutation in the EGFR gene.</a:t>
            </a:r>
          </a:p>
        </p:txBody>
      </p:sp>
      <p:sp>
        <p:nvSpPr>
          <p:cNvPr id="4" name="TextBox 3"/>
          <p:cNvSpPr txBox="1"/>
          <p:nvPr/>
        </p:nvSpPr>
        <p:spPr>
          <a:xfrm>
            <a:off x="0" y="1447800"/>
            <a:ext cx="1828800" cy="369332"/>
          </a:xfrm>
          <a:prstGeom prst="rect">
            <a:avLst/>
          </a:prstGeom>
          <a:noFill/>
        </p:spPr>
        <p:txBody>
          <a:bodyPr wrap="square" rtlCol="0">
            <a:spAutoFit/>
          </a:bodyPr>
          <a:lstStyle/>
          <a:p>
            <a:r>
              <a:rPr lang="en-US" dirty="0" smtClean="0"/>
              <a:t>Case Study 3</a:t>
            </a:r>
            <a:endParaRPr lang="en-US" dirty="0"/>
          </a:p>
        </p:txBody>
      </p:sp>
      <p:sp>
        <p:nvSpPr>
          <p:cNvPr id="5" name="Rectangle 4"/>
          <p:cNvSpPr/>
          <p:nvPr/>
        </p:nvSpPr>
        <p:spPr>
          <a:xfrm>
            <a:off x="76200" y="6135469"/>
            <a:ext cx="9067800" cy="646331"/>
          </a:xfrm>
          <a:prstGeom prst="rect">
            <a:avLst/>
          </a:prstGeom>
        </p:spPr>
        <p:txBody>
          <a:bodyPr wrap="square">
            <a:spAutoFit/>
          </a:bodyPr>
          <a:lstStyle/>
          <a:p>
            <a:r>
              <a:rPr lang="en-US" dirty="0"/>
              <a:t>https://www.diagnosticnavigator.com/e-learning/play-course.html?moduleId=module-us3&amp;chapterId=egfr-chapter-3&amp;index=0</a:t>
            </a:r>
          </a:p>
        </p:txBody>
      </p:sp>
      <p:pic>
        <p:nvPicPr>
          <p:cNvPr id="7170" name="Picture 2" descr="Illustration showing the drug resistance to first- or second-generation EGFR-TKIs caused by the EGFR T790M mutation, which leads to the survival, growth, and proliferation of NSCLC cancer cel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429000"/>
            <a:ext cx="4762500"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773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Characterization of resistance mechanisms using DNA-</a:t>
            </a:r>
            <a:r>
              <a:rPr lang="en-US" dirty="0" err="1" smtClean="0"/>
              <a:t>Seq</a:t>
            </a:r>
            <a:endParaRPr lang="en-US" dirty="0"/>
          </a:p>
        </p:txBody>
      </p:sp>
      <p:sp>
        <p:nvSpPr>
          <p:cNvPr id="3" name="Content Placeholder 2"/>
          <p:cNvSpPr>
            <a:spLocks noGrp="1"/>
          </p:cNvSpPr>
          <p:nvPr>
            <p:ph idx="1"/>
          </p:nvPr>
        </p:nvSpPr>
        <p:spPr>
          <a:xfrm>
            <a:off x="457200" y="1847613"/>
            <a:ext cx="8656320" cy="1428988"/>
          </a:xfrm>
        </p:spPr>
        <p:txBody>
          <a:bodyPr>
            <a:normAutofit/>
          </a:bodyPr>
          <a:lstStyle/>
          <a:p>
            <a:pPr marL="0" indent="0">
              <a:buNone/>
            </a:pPr>
            <a:r>
              <a:rPr lang="en-US" sz="2400" dirty="0" err="1" smtClean="0"/>
              <a:t>Osimertinib</a:t>
            </a:r>
            <a:r>
              <a:rPr lang="en-US" sz="2400" dirty="0" smtClean="0"/>
              <a:t>, developed specifically for the T790M mutation, offered good treatment results for patient positive for this resistance mutation.</a:t>
            </a:r>
          </a:p>
        </p:txBody>
      </p:sp>
      <p:sp>
        <p:nvSpPr>
          <p:cNvPr id="4" name="TextBox 3"/>
          <p:cNvSpPr txBox="1"/>
          <p:nvPr/>
        </p:nvSpPr>
        <p:spPr>
          <a:xfrm>
            <a:off x="0" y="1447800"/>
            <a:ext cx="1828800" cy="369332"/>
          </a:xfrm>
          <a:prstGeom prst="rect">
            <a:avLst/>
          </a:prstGeom>
          <a:noFill/>
        </p:spPr>
        <p:txBody>
          <a:bodyPr wrap="square" rtlCol="0">
            <a:spAutoFit/>
          </a:bodyPr>
          <a:lstStyle/>
          <a:p>
            <a:r>
              <a:rPr lang="en-US" dirty="0" smtClean="0"/>
              <a:t>Case Study 3</a:t>
            </a:r>
            <a:endParaRPr lang="en-US" dirty="0"/>
          </a:p>
        </p:txBody>
      </p:sp>
      <p:pic>
        <p:nvPicPr>
          <p:cNvPr id="8194" name="Picture 2" descr="Osimertinib in patients with brain metastases: progression-free survival according to T790M mutation stat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048000"/>
            <a:ext cx="4441595" cy="31813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0480" y="6488668"/>
            <a:ext cx="9144000" cy="369332"/>
          </a:xfrm>
          <a:prstGeom prst="rect">
            <a:avLst/>
          </a:prstGeom>
        </p:spPr>
        <p:txBody>
          <a:bodyPr wrap="square">
            <a:spAutoFit/>
          </a:bodyPr>
          <a:lstStyle/>
          <a:p>
            <a:r>
              <a:rPr lang="en-US" dirty="0"/>
              <a:t>http://memoinoncology.com/congress-reports/wclc/taking-anti-egfr-drug-treatment-later-lines/</a:t>
            </a:r>
          </a:p>
        </p:txBody>
      </p:sp>
    </p:spTree>
    <p:extLst>
      <p:ext uri="{BB962C8B-B14F-4D97-AF65-F5344CB8AC3E}">
        <p14:creationId xmlns:p14="http://schemas.microsoft.com/office/powerpoint/2010/main" val="2394482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Genomics and Bioinformatics in clinical trials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safety and efficacy of the drug molecule are  evaluated in human patients enrolled in clinical trials.</a:t>
            </a:r>
          </a:p>
          <a:p>
            <a:endParaRPr lang="en-US" dirty="0"/>
          </a:p>
          <a:p>
            <a:r>
              <a:rPr lang="en-US" dirty="0" smtClean="0"/>
              <a:t>Biomarkers are very important in clinical trials. There are many kinds of biomarkers, such as protein IHC, qPCR, NGS etc. NGS is becoming more and more important in clinical trial biomarkers.</a:t>
            </a:r>
          </a:p>
          <a:p>
            <a:endParaRPr lang="en-US" dirty="0"/>
          </a:p>
          <a:p>
            <a:r>
              <a:rPr lang="en-US" dirty="0" smtClean="0"/>
              <a:t>Some of the application of NGS in clinical trial biomarkers are: patient stratification,  longitudinal monitoring of allele frequencies using </a:t>
            </a:r>
            <a:r>
              <a:rPr lang="en-US" dirty="0" err="1" smtClean="0"/>
              <a:t>cfDNA</a:t>
            </a:r>
            <a:r>
              <a:rPr lang="en-US" dirty="0" smtClean="0"/>
              <a:t> and pharmacodynamics (PD) biomarker identification and profiling. </a:t>
            </a:r>
            <a:endParaRPr lang="en-US" dirty="0"/>
          </a:p>
        </p:txBody>
      </p:sp>
    </p:spTree>
    <p:extLst>
      <p:ext uri="{BB962C8B-B14F-4D97-AF65-F5344CB8AC3E}">
        <p14:creationId xmlns:p14="http://schemas.microsoft.com/office/powerpoint/2010/main" val="1765263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Patient stratification using EGFR mutation status</a:t>
            </a:r>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353425"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886200" y="6172200"/>
            <a:ext cx="4572000" cy="369332"/>
          </a:xfrm>
          <a:prstGeom prst="rect">
            <a:avLst/>
          </a:prstGeom>
          <a:noFill/>
        </p:spPr>
        <p:txBody>
          <a:bodyPr wrap="square" rtlCol="0">
            <a:spAutoFit/>
          </a:bodyPr>
          <a:lstStyle/>
          <a:p>
            <a:r>
              <a:rPr lang="en-US" dirty="0" smtClean="0"/>
              <a:t>Sun et al. Science Translational Medicine, 2018</a:t>
            </a:r>
            <a:endParaRPr lang="en-US" dirty="0"/>
          </a:p>
        </p:txBody>
      </p:sp>
    </p:spTree>
    <p:extLst>
      <p:ext uri="{BB962C8B-B14F-4D97-AF65-F5344CB8AC3E}">
        <p14:creationId xmlns:p14="http://schemas.microsoft.com/office/powerpoint/2010/main" val="2511651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Mutation monitoring using liquid biopsy (</a:t>
            </a:r>
            <a:r>
              <a:rPr lang="en-US" dirty="0" err="1" smtClean="0"/>
              <a:t>cfDNA</a:t>
            </a:r>
            <a:r>
              <a:rPr lang="en-US" dirty="0" smtClean="0"/>
              <a:t>) in colon cancer patients</a:t>
            </a:r>
            <a:endParaRPr lang="en-US" dirty="0"/>
          </a:p>
        </p:txBody>
      </p:sp>
      <p:pic>
        <p:nvPicPr>
          <p:cNvPr id="10242" name="Picture 2" descr="Image result for patient cfDNA longitudinal monito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05000"/>
            <a:ext cx="6381750" cy="41419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86200" y="6324600"/>
            <a:ext cx="4800600" cy="369332"/>
          </a:xfrm>
          <a:prstGeom prst="rect">
            <a:avLst/>
          </a:prstGeom>
          <a:noFill/>
        </p:spPr>
        <p:txBody>
          <a:bodyPr wrap="square" rtlCol="0">
            <a:spAutoFit/>
          </a:bodyPr>
          <a:lstStyle/>
          <a:p>
            <a:r>
              <a:rPr lang="en-US" dirty="0" smtClean="0"/>
              <a:t>Meador and </a:t>
            </a:r>
            <a:r>
              <a:rPr lang="en-US" dirty="0" err="1" smtClean="0"/>
              <a:t>Lovly</a:t>
            </a:r>
            <a:r>
              <a:rPr lang="en-US" dirty="0" smtClean="0"/>
              <a:t>. Nature Medicine, 2015</a:t>
            </a:r>
            <a:endParaRPr lang="en-US" dirty="0"/>
          </a:p>
        </p:txBody>
      </p:sp>
    </p:spTree>
    <p:extLst>
      <p:ext uri="{BB962C8B-B14F-4D97-AF65-F5344CB8AC3E}">
        <p14:creationId xmlns:p14="http://schemas.microsoft.com/office/powerpoint/2010/main" val="1885427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Identification of PD biomarkers</a:t>
            </a:r>
            <a:endParaRPr lang="en-US" dirty="0"/>
          </a:p>
        </p:txBody>
      </p:sp>
      <p:sp>
        <p:nvSpPr>
          <p:cNvPr id="4" name="TextBox 3"/>
          <p:cNvSpPr txBox="1"/>
          <p:nvPr/>
        </p:nvSpPr>
        <p:spPr>
          <a:xfrm>
            <a:off x="3581400" y="6248400"/>
            <a:ext cx="5105400" cy="369332"/>
          </a:xfrm>
          <a:prstGeom prst="rect">
            <a:avLst/>
          </a:prstGeom>
          <a:noFill/>
        </p:spPr>
        <p:txBody>
          <a:bodyPr wrap="square" rtlCol="0">
            <a:spAutoFit/>
          </a:bodyPr>
          <a:lstStyle/>
          <a:p>
            <a:r>
              <a:rPr lang="en-US" dirty="0" smtClean="0"/>
              <a:t>Perez-</a:t>
            </a:r>
            <a:r>
              <a:rPr lang="en-US" dirty="0" err="1" smtClean="0"/>
              <a:t>Gracia</a:t>
            </a:r>
            <a:r>
              <a:rPr lang="en-US" dirty="0" smtClean="0"/>
              <a:t> et al. Cancer Treatment Reviews, 2017</a:t>
            </a:r>
            <a:endParaRPr lang="en-US" dirty="0"/>
          </a:p>
        </p:txBody>
      </p:sp>
      <p:pic>
        <p:nvPicPr>
          <p:cNvPr id="11266" name="Picture 2" descr="Image result for patient pharmacodynamics NGS RNA-Seq clinical t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447800"/>
            <a:ext cx="6171158"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302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Frontiers of genomics/bioinformatics</a:t>
            </a:r>
            <a:endParaRPr lang="en-US" dirty="0"/>
          </a:p>
        </p:txBody>
      </p:sp>
      <p:sp>
        <p:nvSpPr>
          <p:cNvPr id="3" name="Content Placeholder 2"/>
          <p:cNvSpPr>
            <a:spLocks noGrp="1"/>
          </p:cNvSpPr>
          <p:nvPr>
            <p:ph idx="1"/>
          </p:nvPr>
        </p:nvSpPr>
        <p:spPr/>
        <p:txBody>
          <a:bodyPr/>
          <a:lstStyle/>
          <a:p>
            <a:r>
              <a:rPr lang="en-US" dirty="0" smtClean="0"/>
              <a:t>There are many ongoing research frontiers in genomics and bioinformatics. </a:t>
            </a:r>
          </a:p>
          <a:p>
            <a:endParaRPr lang="en-US" dirty="0"/>
          </a:p>
          <a:p>
            <a:r>
              <a:rPr lang="en-US" dirty="0" smtClean="0"/>
              <a:t>In terms of NGS, the most exciting research frontier lies in single cell sequencing.</a:t>
            </a:r>
            <a:endParaRPr lang="en-US" dirty="0"/>
          </a:p>
        </p:txBody>
      </p:sp>
    </p:spTree>
    <p:extLst>
      <p:ext uri="{BB962C8B-B14F-4D97-AF65-F5344CB8AC3E}">
        <p14:creationId xmlns:p14="http://schemas.microsoft.com/office/powerpoint/2010/main" val="3072205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future of genomic medicine (oncology in particular)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Genomics-driven target selection and validation is the norm rather than the exception in the industry.</a:t>
            </a:r>
          </a:p>
          <a:p>
            <a:endParaRPr lang="en-US" dirty="0"/>
          </a:p>
          <a:p>
            <a:r>
              <a:rPr lang="en-US" dirty="0" smtClean="0"/>
              <a:t>The integration of various NGS and –omics data is key to the successful application of genomics and bioinformatics.</a:t>
            </a:r>
          </a:p>
          <a:p>
            <a:endParaRPr lang="en-US" dirty="0"/>
          </a:p>
          <a:p>
            <a:r>
              <a:rPr lang="en-US" dirty="0" smtClean="0"/>
              <a:t>With more and more data becoming available, machine learning algorithms, which learn from the data, are going to be more important. </a:t>
            </a:r>
            <a:endParaRPr lang="en-US" dirty="0"/>
          </a:p>
        </p:txBody>
      </p:sp>
    </p:spTree>
    <p:extLst>
      <p:ext uri="{BB962C8B-B14F-4D97-AF65-F5344CB8AC3E}">
        <p14:creationId xmlns:p14="http://schemas.microsoft.com/office/powerpoint/2010/main" val="3383303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938</Words>
  <Application>Microsoft Office PowerPoint</Application>
  <PresentationFormat>On-screen Show (4:3)</PresentationFormat>
  <Paragraphs>99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Biological Sequence Analysis</vt:lpstr>
      <vt:lpstr>Outline</vt:lpstr>
      <vt:lpstr>Drug development process</vt:lpstr>
      <vt:lpstr>Genomics and Bioinformatics in drug discovery and target validation</vt:lpstr>
      <vt:lpstr>Genomics enables better selection of drug target</vt:lpstr>
      <vt:lpstr>Genomics enables better selection of drug target</vt:lpstr>
      <vt:lpstr>Genomics enables better selection of drug target</vt:lpstr>
      <vt:lpstr>Genomics enables better selection of drug target</vt:lpstr>
      <vt:lpstr>Genomics enables better selection of drug target</vt:lpstr>
      <vt:lpstr>Genomics and Bioinformatics in preclinical research</vt:lpstr>
      <vt:lpstr>MOA characterization using RNA-Seq</vt:lpstr>
      <vt:lpstr>Characterization of resistance mechanisms using DNA-Seq</vt:lpstr>
      <vt:lpstr>Characterization of resistance mechanisms using DNA-Seq</vt:lpstr>
      <vt:lpstr>Characterization of resistance mechanisms using DNA-Seq</vt:lpstr>
      <vt:lpstr>Characterization of resistance mechanisms using DNA-Seq</vt:lpstr>
      <vt:lpstr>Genomics and Bioinformatics in clinical trials</vt:lpstr>
      <vt:lpstr>Patient stratification using EGFR mutation status</vt:lpstr>
      <vt:lpstr>Mutation monitoring using liquid biopsy (cfDNA) in colon cancer patients</vt:lpstr>
      <vt:lpstr>Identification of PD biomarkers</vt:lpstr>
      <vt:lpstr>Frontiers of genomics/bioinformatics</vt:lpstr>
      <vt:lpstr>The future of genomic medicine (oncology in particular)</vt:lpstr>
    </vt:vector>
  </TitlesOfParts>
  <Company>Eisai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dc:creator>Windows User</dc:creator>
  <cp:lastModifiedBy>Windows User</cp:lastModifiedBy>
  <cp:revision>19</cp:revision>
  <dcterms:created xsi:type="dcterms:W3CDTF">2018-11-18T01:23:21Z</dcterms:created>
  <dcterms:modified xsi:type="dcterms:W3CDTF">2018-11-27T02:42:13Z</dcterms:modified>
</cp:coreProperties>
</file>