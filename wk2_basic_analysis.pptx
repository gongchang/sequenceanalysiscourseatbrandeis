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8B4CC848-3EE8-47B8-A3AB-0B0CCF0AB406}">
  <a:tblStyle styleId="{8B4CC848-3EE8-47B8-A3AB-0B0CCF0AB406}"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4820a7d7c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4820a7d7c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7" name="Shape 187"/>
        <p:cNvGrpSpPr/>
        <p:nvPr/>
      </p:nvGrpSpPr>
      <p:grpSpPr>
        <a:xfrm>
          <a:off x="0" y="0"/>
          <a:ext cx="0" cy="0"/>
          <a:chOff x="0" y="0"/>
          <a:chExt cx="0" cy="0"/>
        </a:xfrm>
      </p:grpSpPr>
      <p:sp>
        <p:nvSpPr>
          <p:cNvPr id="188" name="Google Shape;1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6" name="Shape 216"/>
        <p:cNvGrpSpPr/>
        <p:nvPr/>
      </p:nvGrpSpPr>
      <p:grpSpPr>
        <a:xfrm>
          <a:off x="0" y="0"/>
          <a:ext cx="0" cy="0"/>
          <a:chOff x="0" y="0"/>
          <a:chExt cx="0" cy="0"/>
        </a:xfrm>
      </p:grpSpPr>
      <p:sp>
        <p:nvSpPr>
          <p:cNvPr id="217" name="Google Shape;21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2" name="Shape 232"/>
        <p:cNvGrpSpPr/>
        <p:nvPr/>
      </p:nvGrpSpPr>
      <p:grpSpPr>
        <a:xfrm>
          <a:off x="0" y="0"/>
          <a:ext cx="0" cy="0"/>
          <a:chOff x="0" y="0"/>
          <a:chExt cx="0" cy="0"/>
        </a:xfrm>
      </p:grpSpPr>
      <p:sp>
        <p:nvSpPr>
          <p:cNvPr id="233" name="Google Shape;23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6" name="Shape 246"/>
        <p:cNvGrpSpPr/>
        <p:nvPr/>
      </p:nvGrpSpPr>
      <p:grpSpPr>
        <a:xfrm>
          <a:off x="0" y="0"/>
          <a:ext cx="0" cy="0"/>
          <a:chOff x="0" y="0"/>
          <a:chExt cx="0" cy="0"/>
        </a:xfrm>
      </p:grpSpPr>
      <p:sp>
        <p:nvSpPr>
          <p:cNvPr id="247" name="Google Shape;2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Google Shape;25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8" name="Shape 258"/>
        <p:cNvGrpSpPr/>
        <p:nvPr/>
      </p:nvGrpSpPr>
      <p:grpSpPr>
        <a:xfrm>
          <a:off x="0" y="0"/>
          <a:ext cx="0" cy="0"/>
          <a:chOff x="0" y="0"/>
          <a:chExt cx="0" cy="0"/>
        </a:xfrm>
      </p:grpSpPr>
      <p:sp>
        <p:nvSpPr>
          <p:cNvPr id="259" name="Google Shape;25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biopython.org/" TargetMode="External"/><Relationship Id="rId4" Type="http://schemas.openxmlformats.org/officeDocument/2006/relationships/hyperlink" Target="https://biopython.org/wiki/Documentation" TargetMode="External"/><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library.open.oregonstate.edu/computationalbiology/" TargetMode="External"/><Relationship Id="rId4" Type="http://schemas.openxmlformats.org/officeDocument/2006/relationships/hyperlink" Target="http://oez.es/Bioinformatics%20Programming%20Using%20Python.pd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Biological Sequence Analysis</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rPr lang="en-US"/>
              <a:t>Basic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Outline</a:t>
            </a:r>
            <a:endParaRPr/>
          </a:p>
        </p:txBody>
      </p:sp>
      <p:sp>
        <p:nvSpPr>
          <p:cNvPr id="91" name="Google Shape;9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000"/>
              <a:buChar char="•"/>
            </a:pPr>
            <a:r>
              <a:rPr lang="en-US" sz="2000"/>
              <a:t>Brief summary of Python Programming </a:t>
            </a:r>
            <a:endParaRPr/>
          </a:p>
          <a:p>
            <a:pPr indent="-285750" lvl="1" marL="742950" rtl="0" algn="l">
              <a:lnSpc>
                <a:spcPct val="80000"/>
              </a:lnSpc>
              <a:spcBef>
                <a:spcPts val="350"/>
              </a:spcBef>
              <a:spcAft>
                <a:spcPts val="0"/>
              </a:spcAft>
              <a:buClr>
                <a:schemeClr val="dk1"/>
              </a:buClr>
              <a:buSzPts val="1750"/>
              <a:buChar char="–"/>
            </a:pPr>
            <a:r>
              <a:rPr lang="en-US" sz="1750"/>
              <a:t>Basic data types</a:t>
            </a:r>
            <a:endParaRPr/>
          </a:p>
          <a:p>
            <a:pPr indent="-285750" lvl="1" marL="742950" rtl="0" algn="l">
              <a:lnSpc>
                <a:spcPct val="80000"/>
              </a:lnSpc>
              <a:spcBef>
                <a:spcPts val="350"/>
              </a:spcBef>
              <a:spcAft>
                <a:spcPts val="0"/>
              </a:spcAft>
              <a:buClr>
                <a:schemeClr val="dk1"/>
              </a:buClr>
              <a:buSzPts val="1750"/>
              <a:buChar char="–"/>
            </a:pPr>
            <a:r>
              <a:rPr lang="en-US" sz="1750"/>
              <a:t>Control flow</a:t>
            </a:r>
            <a:endParaRPr/>
          </a:p>
          <a:p>
            <a:pPr indent="-285750" lvl="1" marL="742950" rtl="0" algn="l">
              <a:lnSpc>
                <a:spcPct val="80000"/>
              </a:lnSpc>
              <a:spcBef>
                <a:spcPts val="350"/>
              </a:spcBef>
              <a:spcAft>
                <a:spcPts val="0"/>
              </a:spcAft>
              <a:buClr>
                <a:schemeClr val="dk1"/>
              </a:buClr>
              <a:buSzPts val="1750"/>
              <a:buChar char="–"/>
            </a:pPr>
            <a:r>
              <a:rPr lang="en-US" sz="1750"/>
              <a:t>Functions</a:t>
            </a:r>
            <a:endParaRPr/>
          </a:p>
          <a:p>
            <a:pPr indent="-285750" lvl="1" marL="742950" rtl="0" algn="l">
              <a:lnSpc>
                <a:spcPct val="80000"/>
              </a:lnSpc>
              <a:spcBef>
                <a:spcPts val="350"/>
              </a:spcBef>
              <a:spcAft>
                <a:spcPts val="0"/>
              </a:spcAft>
              <a:buClr>
                <a:schemeClr val="dk1"/>
              </a:buClr>
              <a:buSzPts val="1750"/>
              <a:buChar char="–"/>
            </a:pPr>
            <a:r>
              <a:rPr lang="en-US" sz="1750"/>
              <a:t>Random number generator (for simulation)</a:t>
            </a:r>
            <a:endParaRPr/>
          </a:p>
          <a:p>
            <a:pPr indent="-285750" lvl="1" marL="742950" rtl="0" algn="l">
              <a:lnSpc>
                <a:spcPct val="80000"/>
              </a:lnSpc>
              <a:spcBef>
                <a:spcPts val="350"/>
              </a:spcBef>
              <a:spcAft>
                <a:spcPts val="0"/>
              </a:spcAft>
              <a:buClr>
                <a:schemeClr val="dk1"/>
              </a:buClr>
              <a:buSzPts val="1750"/>
              <a:buChar char="–"/>
            </a:pPr>
            <a:r>
              <a:rPr lang="en-US" sz="1750"/>
              <a:t>Code efficiency assessment</a:t>
            </a:r>
            <a:endParaRPr/>
          </a:p>
          <a:p>
            <a:pPr indent="0" lvl="1" marL="457200" rtl="0" algn="l">
              <a:lnSpc>
                <a:spcPct val="80000"/>
              </a:lnSpc>
              <a:spcBef>
                <a:spcPts val="350"/>
              </a:spcBef>
              <a:spcAft>
                <a:spcPts val="0"/>
              </a:spcAft>
              <a:buClr>
                <a:schemeClr val="dk1"/>
              </a:buClr>
              <a:buSzPts val="1750"/>
              <a:buNone/>
            </a:pPr>
            <a:r>
              <a:t/>
            </a:r>
            <a:endParaRPr sz="1750"/>
          </a:p>
          <a:p>
            <a:pPr indent="-342900" lvl="0" marL="342900" rtl="0" algn="l">
              <a:lnSpc>
                <a:spcPct val="80000"/>
              </a:lnSpc>
              <a:spcBef>
                <a:spcPts val="400"/>
              </a:spcBef>
              <a:spcAft>
                <a:spcPts val="0"/>
              </a:spcAft>
              <a:buClr>
                <a:schemeClr val="dk1"/>
              </a:buClr>
              <a:buSzPts val="2000"/>
              <a:buChar char="•"/>
            </a:pPr>
            <a:r>
              <a:rPr lang="en-US" sz="2000"/>
              <a:t>Basic sequence analysis:</a:t>
            </a:r>
            <a:endParaRPr/>
          </a:p>
          <a:p>
            <a:pPr indent="-285750" lvl="1" marL="742950" rtl="0" algn="l">
              <a:lnSpc>
                <a:spcPct val="80000"/>
              </a:lnSpc>
              <a:spcBef>
                <a:spcPts val="350"/>
              </a:spcBef>
              <a:spcAft>
                <a:spcPts val="0"/>
              </a:spcAft>
              <a:buClr>
                <a:schemeClr val="dk1"/>
              </a:buClr>
              <a:buSzPts val="1750"/>
              <a:buChar char="–"/>
            </a:pPr>
            <a:r>
              <a:rPr lang="en-US" sz="1750"/>
              <a:t>Reverse, complement, reverse complement</a:t>
            </a:r>
            <a:endParaRPr/>
          </a:p>
          <a:p>
            <a:pPr indent="-285750" lvl="1" marL="742950" rtl="0" algn="l">
              <a:lnSpc>
                <a:spcPct val="80000"/>
              </a:lnSpc>
              <a:spcBef>
                <a:spcPts val="350"/>
              </a:spcBef>
              <a:spcAft>
                <a:spcPts val="0"/>
              </a:spcAft>
              <a:buClr>
                <a:schemeClr val="dk1"/>
              </a:buClr>
              <a:buSzPts val="1750"/>
              <a:buChar char="–"/>
            </a:pPr>
            <a:r>
              <a:rPr lang="en-US" sz="1750"/>
              <a:t>DNA to Protein in silico translation</a:t>
            </a:r>
            <a:endParaRPr/>
          </a:p>
          <a:p>
            <a:pPr indent="-285750" lvl="1" marL="742950" rtl="0" algn="l">
              <a:lnSpc>
                <a:spcPct val="80000"/>
              </a:lnSpc>
              <a:spcBef>
                <a:spcPts val="350"/>
              </a:spcBef>
              <a:spcAft>
                <a:spcPts val="0"/>
              </a:spcAft>
              <a:buClr>
                <a:schemeClr val="dk1"/>
              </a:buClr>
              <a:buSzPts val="1750"/>
              <a:buChar char="–"/>
            </a:pPr>
            <a:r>
              <a:rPr lang="en-US" sz="1750"/>
              <a:t>In silico PCR</a:t>
            </a:r>
            <a:endParaRPr/>
          </a:p>
          <a:p>
            <a:pPr indent="-285750" lvl="1" marL="742950" rtl="0" algn="l">
              <a:lnSpc>
                <a:spcPct val="80000"/>
              </a:lnSpc>
              <a:spcBef>
                <a:spcPts val="350"/>
              </a:spcBef>
              <a:spcAft>
                <a:spcPts val="0"/>
              </a:spcAft>
              <a:buClr>
                <a:schemeClr val="dk1"/>
              </a:buClr>
              <a:buSzPts val="1750"/>
              <a:buChar char="–"/>
            </a:pPr>
            <a:r>
              <a:rPr lang="en-US" sz="1750"/>
              <a:t>Find the most frequent k-mer in a sequence and in a list of sequences</a:t>
            </a:r>
            <a:endParaRPr/>
          </a:p>
          <a:p>
            <a:pPr indent="-285750" lvl="1" marL="742950" rtl="0" algn="l">
              <a:lnSpc>
                <a:spcPct val="80000"/>
              </a:lnSpc>
              <a:spcBef>
                <a:spcPts val="350"/>
              </a:spcBef>
              <a:spcAft>
                <a:spcPts val="0"/>
              </a:spcAft>
              <a:buClr>
                <a:schemeClr val="dk1"/>
              </a:buClr>
              <a:buSzPts val="1750"/>
              <a:buChar char="–"/>
            </a:pPr>
            <a:r>
              <a:rPr lang="en-US" sz="1750"/>
              <a:t>Edit distance between two sequences of the same length</a:t>
            </a:r>
            <a:endParaRPr/>
          </a:p>
          <a:p>
            <a:pPr indent="-285750" lvl="1" marL="742950" rtl="0" algn="l">
              <a:lnSpc>
                <a:spcPct val="80000"/>
              </a:lnSpc>
              <a:spcBef>
                <a:spcPts val="350"/>
              </a:spcBef>
              <a:spcAft>
                <a:spcPts val="0"/>
              </a:spcAft>
              <a:buClr>
                <a:schemeClr val="dk1"/>
              </a:buClr>
              <a:buSzPts val="1750"/>
              <a:buChar char="–"/>
            </a:pPr>
            <a:r>
              <a:rPr lang="en-US" sz="1750"/>
              <a:t>Simulation: a simple prokaryotic gene scanning algorithm</a:t>
            </a:r>
            <a:endParaRPr/>
          </a:p>
          <a:p>
            <a:pPr indent="-174625" lvl="1" marL="742950" rtl="0" algn="l">
              <a:lnSpc>
                <a:spcPct val="80000"/>
              </a:lnSpc>
              <a:spcBef>
                <a:spcPts val="350"/>
              </a:spcBef>
              <a:spcAft>
                <a:spcPts val="0"/>
              </a:spcAft>
              <a:buClr>
                <a:schemeClr val="dk1"/>
              </a:buClr>
              <a:buSzPts val="1750"/>
              <a:buNone/>
            </a:pPr>
            <a:r>
              <a:t/>
            </a:r>
            <a:endParaRPr sz="1750"/>
          </a:p>
          <a:p>
            <a:pPr indent="-285750" lvl="0" marL="285750" rtl="0" algn="l">
              <a:lnSpc>
                <a:spcPct val="80000"/>
              </a:lnSpc>
              <a:spcBef>
                <a:spcPts val="350"/>
              </a:spcBef>
              <a:spcAft>
                <a:spcPts val="0"/>
              </a:spcAft>
              <a:buSzPts val="1750"/>
              <a:buChar char="–"/>
            </a:pPr>
            <a:r>
              <a:rPr lang="en-US" sz="2150"/>
              <a:t>Python modules for bioinformatics</a:t>
            </a:r>
            <a:endParaRPr sz="1750"/>
          </a:p>
          <a:p>
            <a:pPr indent="-174625" lvl="1" marL="742950" rtl="0" algn="l">
              <a:lnSpc>
                <a:spcPct val="80000"/>
              </a:lnSpc>
              <a:spcBef>
                <a:spcPts val="350"/>
              </a:spcBef>
              <a:spcAft>
                <a:spcPts val="0"/>
              </a:spcAft>
              <a:buClr>
                <a:schemeClr val="dk1"/>
              </a:buClr>
              <a:buSzPts val="1750"/>
              <a:buNone/>
            </a:pPr>
            <a:r>
              <a:t/>
            </a:r>
            <a:endParaRPr sz="1750"/>
          </a:p>
          <a:p>
            <a:pPr indent="-285750" lvl="0" marL="285750" rtl="0" algn="l">
              <a:lnSpc>
                <a:spcPct val="80000"/>
              </a:lnSpc>
              <a:spcBef>
                <a:spcPts val="350"/>
              </a:spcBef>
              <a:spcAft>
                <a:spcPts val="0"/>
              </a:spcAft>
              <a:buSzPts val="1750"/>
              <a:buChar char="–"/>
            </a:pPr>
            <a:r>
              <a:rPr lang="en-US" sz="2150"/>
              <a:t>Other programming languages</a:t>
            </a:r>
            <a:endParaRPr/>
          </a:p>
          <a:p>
            <a:pPr indent="0" lvl="1" marL="457200" rtl="0" algn="l">
              <a:lnSpc>
                <a:spcPct val="80000"/>
              </a:lnSpc>
              <a:spcBef>
                <a:spcPts val="350"/>
              </a:spcBef>
              <a:spcAft>
                <a:spcPts val="0"/>
              </a:spcAft>
              <a:buClr>
                <a:schemeClr val="dk1"/>
              </a:buClr>
              <a:buSzPts val="1750"/>
              <a:buNone/>
            </a:pPr>
            <a:r>
              <a:t/>
            </a:r>
            <a:endParaRPr sz="175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97" name="Google Shape;9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Basic data type</a:t>
            </a:r>
            <a:endParaRPr/>
          </a:p>
        </p:txBody>
      </p:sp>
      <p:pic>
        <p:nvPicPr>
          <p:cNvPr id="98" name="Google Shape;98;p15"/>
          <p:cNvPicPr preferRelativeResize="0"/>
          <p:nvPr/>
        </p:nvPicPr>
        <p:blipFill rotWithShape="1">
          <a:blip r:embed="rId3">
            <a:alphaModFix/>
          </a:blip>
          <a:srcRect b="0" l="0" r="0" t="0"/>
          <a:stretch/>
        </p:blipFill>
        <p:spPr>
          <a:xfrm>
            <a:off x="711025" y="2414605"/>
            <a:ext cx="7842424" cy="3223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04" name="Google Shape;104;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Control flow</a:t>
            </a:r>
            <a:endParaRPr/>
          </a:p>
        </p:txBody>
      </p:sp>
      <p:pic>
        <p:nvPicPr>
          <p:cNvPr id="105" name="Google Shape;105;p16"/>
          <p:cNvPicPr preferRelativeResize="0"/>
          <p:nvPr/>
        </p:nvPicPr>
        <p:blipFill>
          <a:blip r:embed="rId3">
            <a:alphaModFix/>
          </a:blip>
          <a:stretch>
            <a:fillRect/>
          </a:stretch>
        </p:blipFill>
        <p:spPr>
          <a:xfrm>
            <a:off x="725750" y="2429813"/>
            <a:ext cx="3181350" cy="3171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11" name="Google Shape;111;p1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Control flow</a:t>
            </a:r>
            <a:endParaRPr/>
          </a:p>
        </p:txBody>
      </p:sp>
      <p:pic>
        <p:nvPicPr>
          <p:cNvPr id="112" name="Google Shape;112;p17"/>
          <p:cNvPicPr preferRelativeResize="0"/>
          <p:nvPr/>
        </p:nvPicPr>
        <p:blipFill>
          <a:blip r:embed="rId3">
            <a:alphaModFix/>
          </a:blip>
          <a:stretch>
            <a:fillRect/>
          </a:stretch>
        </p:blipFill>
        <p:spPr>
          <a:xfrm>
            <a:off x="957188" y="2253613"/>
            <a:ext cx="5667375" cy="3524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18" name="Google Shape;118;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Functions</a:t>
            </a:r>
            <a:endParaRPr/>
          </a:p>
        </p:txBody>
      </p:sp>
      <p:pic>
        <p:nvPicPr>
          <p:cNvPr id="119" name="Google Shape;119;p18"/>
          <p:cNvPicPr preferRelativeResize="0"/>
          <p:nvPr/>
        </p:nvPicPr>
        <p:blipFill>
          <a:blip r:embed="rId3">
            <a:alphaModFix/>
          </a:blip>
          <a:stretch>
            <a:fillRect/>
          </a:stretch>
        </p:blipFill>
        <p:spPr>
          <a:xfrm>
            <a:off x="974025" y="2323552"/>
            <a:ext cx="3980425" cy="4035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25" name="Google Shape;125;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Random number generator</a:t>
            </a:r>
            <a:endParaRPr/>
          </a:p>
        </p:txBody>
      </p:sp>
      <p:pic>
        <p:nvPicPr>
          <p:cNvPr id="126" name="Google Shape;126;p19"/>
          <p:cNvPicPr preferRelativeResize="0"/>
          <p:nvPr/>
        </p:nvPicPr>
        <p:blipFill rotWithShape="1">
          <a:blip r:embed="rId3">
            <a:alphaModFix/>
          </a:blip>
          <a:srcRect b="0" l="0" r="0" t="0"/>
          <a:stretch/>
        </p:blipFill>
        <p:spPr>
          <a:xfrm>
            <a:off x="1606866" y="2105978"/>
            <a:ext cx="5381625" cy="4505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32" name="Google Shape;13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Assess code efficiency</a:t>
            </a:r>
            <a:endParaRPr/>
          </a:p>
        </p:txBody>
      </p:sp>
      <p:pic>
        <p:nvPicPr>
          <p:cNvPr id="133" name="Google Shape;133;p20"/>
          <p:cNvPicPr preferRelativeResize="0"/>
          <p:nvPr/>
        </p:nvPicPr>
        <p:blipFill rotWithShape="1">
          <a:blip r:embed="rId3">
            <a:alphaModFix/>
          </a:blip>
          <a:srcRect b="0" l="0" r="0" t="0"/>
          <a:stretch/>
        </p:blipFill>
        <p:spPr>
          <a:xfrm>
            <a:off x="1284923" y="2110740"/>
            <a:ext cx="6091341" cy="41833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String search</a:t>
            </a:r>
            <a:endParaRPr/>
          </a:p>
        </p:txBody>
      </p:sp>
      <p:sp>
        <p:nvSpPr>
          <p:cNvPr id="139" name="Google Shape;139;p21"/>
          <p:cNvSpPr txBox="1"/>
          <p:nvPr>
            <p:ph idx="1" type="body"/>
          </p:nvPr>
        </p:nvSpPr>
        <p:spPr>
          <a:xfrm>
            <a:off x="228600" y="1188720"/>
            <a:ext cx="8442960" cy="52578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Problem:</a:t>
            </a:r>
            <a:endParaRPr/>
          </a:p>
          <a:p>
            <a:pPr indent="-342900" lvl="1" marL="914400" rtl="0" algn="l">
              <a:lnSpc>
                <a:spcPct val="100000"/>
              </a:lnSpc>
              <a:spcBef>
                <a:spcPts val="360"/>
              </a:spcBef>
              <a:spcAft>
                <a:spcPts val="0"/>
              </a:spcAft>
              <a:buSzPts val="1800"/>
              <a:buChar char="–"/>
            </a:pPr>
            <a:r>
              <a:rPr lang="en-US"/>
              <a:t>Return the position of a substring in a given string, return (-1)  if the substring is not found</a:t>
            </a:r>
            <a:endParaRPr/>
          </a:p>
          <a:p>
            <a:pPr indent="-342900" lvl="1" marL="914400" rtl="0" algn="l">
              <a:lnSpc>
                <a:spcPct val="100000"/>
              </a:lnSpc>
              <a:spcBef>
                <a:spcPts val="360"/>
              </a:spcBef>
              <a:spcAft>
                <a:spcPts val="0"/>
              </a:spcAft>
              <a:buSzPts val="1800"/>
              <a:buChar char="–"/>
            </a:pPr>
            <a:r>
              <a:rPr lang="en-US"/>
              <a:t>Just return the first matched position is enough.</a:t>
            </a:r>
            <a:endParaRPr/>
          </a:p>
          <a:p>
            <a:pPr indent="0" lvl="1" marL="571500" rtl="0" algn="l">
              <a:lnSpc>
                <a:spcPct val="100000"/>
              </a:lnSpc>
              <a:spcBef>
                <a:spcPts val="360"/>
              </a:spcBef>
              <a:spcAft>
                <a:spcPts val="0"/>
              </a:spcAft>
              <a:buSzPts val="1800"/>
              <a:buNone/>
            </a:pPr>
            <a:r>
              <a:t/>
            </a:r>
            <a:endParaRPr/>
          </a:p>
          <a:p>
            <a:pPr indent="-342900" lvl="0" marL="457200" rtl="0" algn="l">
              <a:lnSpc>
                <a:spcPct val="100000"/>
              </a:lnSpc>
              <a:spcBef>
                <a:spcPts val="360"/>
              </a:spcBef>
              <a:spcAft>
                <a:spcPts val="0"/>
              </a:spcAft>
              <a:buClr>
                <a:schemeClr val="dk1"/>
              </a:buClr>
              <a:buSzPts val="1800"/>
              <a:buChar char="•"/>
            </a:pPr>
            <a:r>
              <a:rPr lang="en-US"/>
              <a:t>Notes: python strings are 0-indexed, meaning that the first position is position 0.</a:t>
            </a:r>
            <a:endParaRPr/>
          </a:p>
          <a:p>
            <a:pPr indent="-228600" lvl="0" marL="457200" rtl="0" algn="l">
              <a:lnSpc>
                <a:spcPct val="100000"/>
              </a:lnSpc>
              <a:spcBef>
                <a:spcPts val="360"/>
              </a:spcBef>
              <a:spcAft>
                <a:spcPts val="0"/>
              </a:spcAft>
              <a:buClr>
                <a:schemeClr val="dk1"/>
              </a:buClr>
              <a:buSzPts val="1800"/>
              <a:buNone/>
            </a:pPr>
            <a:r>
              <a:t/>
            </a:r>
            <a:endParaRPr/>
          </a:p>
          <a:p>
            <a:pPr indent="-342900" lvl="0" marL="457200" rtl="0" algn="l">
              <a:lnSpc>
                <a:spcPct val="100000"/>
              </a:lnSpc>
              <a:spcBef>
                <a:spcPts val="360"/>
              </a:spcBef>
              <a:spcAft>
                <a:spcPts val="0"/>
              </a:spcAft>
              <a:buClr>
                <a:schemeClr val="dk1"/>
              </a:buClr>
              <a:buSzPts val="1800"/>
              <a:buChar char="•"/>
            </a:pPr>
            <a:r>
              <a:rPr lang="en-US"/>
              <a:t>Approaches to be evaluated:</a:t>
            </a:r>
            <a:endParaRPr/>
          </a:p>
          <a:p>
            <a:pPr indent="-342900" lvl="1" marL="914400" rtl="0" algn="l">
              <a:lnSpc>
                <a:spcPct val="100000"/>
              </a:lnSpc>
              <a:spcBef>
                <a:spcPts val="360"/>
              </a:spcBef>
              <a:spcAft>
                <a:spcPts val="0"/>
              </a:spcAft>
              <a:buSzPts val="1800"/>
              <a:buChar char="–"/>
            </a:pPr>
            <a:r>
              <a:rPr lang="en-US"/>
              <a:t>Brute force</a:t>
            </a:r>
            <a:endParaRPr/>
          </a:p>
          <a:p>
            <a:pPr indent="-342900" lvl="1" marL="914400" rtl="0" algn="l">
              <a:lnSpc>
                <a:spcPct val="100000"/>
              </a:lnSpc>
              <a:spcBef>
                <a:spcPts val="360"/>
              </a:spcBef>
              <a:spcAft>
                <a:spcPts val="0"/>
              </a:spcAft>
              <a:buSzPts val="1800"/>
              <a:buChar char="–"/>
            </a:pPr>
            <a:r>
              <a:rPr lang="en-US"/>
              <a:t>Default search algorithm in Python</a:t>
            </a:r>
            <a:endParaRPr/>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45" name="Google Shape;145;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Brute-force string search algorithm</a:t>
            </a:r>
            <a:endParaRPr/>
          </a:p>
        </p:txBody>
      </p:sp>
      <p:pic>
        <p:nvPicPr>
          <p:cNvPr id="146" name="Google Shape;146;p22"/>
          <p:cNvPicPr preferRelativeResize="0"/>
          <p:nvPr/>
        </p:nvPicPr>
        <p:blipFill rotWithShape="1">
          <a:blip r:embed="rId3">
            <a:alphaModFix/>
          </a:blip>
          <a:srcRect b="0" l="0" r="0" t="0"/>
          <a:stretch/>
        </p:blipFill>
        <p:spPr>
          <a:xfrm>
            <a:off x="777240" y="2114549"/>
            <a:ext cx="6568440" cy="436008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Python programming</a:t>
            </a:r>
            <a:endParaRPr/>
          </a:p>
        </p:txBody>
      </p:sp>
      <p:sp>
        <p:nvSpPr>
          <p:cNvPr id="152" name="Google Shape;152;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3200"/>
              <a:buChar char="•"/>
            </a:pPr>
            <a:r>
              <a:rPr lang="en-US"/>
              <a:t>Default string search algorithm in python </a:t>
            </a:r>
            <a:endParaRPr/>
          </a:p>
          <a:p>
            <a:pPr indent="0" lvl="0" marL="0" rtl="0" algn="l">
              <a:lnSpc>
                <a:spcPct val="100000"/>
              </a:lnSpc>
              <a:spcBef>
                <a:spcPts val="0"/>
              </a:spcBef>
              <a:spcAft>
                <a:spcPts val="0"/>
              </a:spcAft>
              <a:buClr>
                <a:schemeClr val="dk1"/>
              </a:buClr>
              <a:buSzPts val="3200"/>
              <a:buNone/>
            </a:pPr>
            <a:r>
              <a:rPr lang="en-US"/>
              <a:t>    (the find function)</a:t>
            </a:r>
            <a:endParaRPr/>
          </a:p>
        </p:txBody>
      </p:sp>
      <p:pic>
        <p:nvPicPr>
          <p:cNvPr id="153" name="Google Shape;153;p23"/>
          <p:cNvPicPr preferRelativeResize="0"/>
          <p:nvPr/>
        </p:nvPicPr>
        <p:blipFill rotWithShape="1">
          <a:blip r:embed="rId3">
            <a:alphaModFix/>
          </a:blip>
          <a:srcRect b="0" l="0" r="0" t="0"/>
          <a:stretch/>
        </p:blipFill>
        <p:spPr>
          <a:xfrm>
            <a:off x="959168" y="2694623"/>
            <a:ext cx="6586259" cy="238029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String algorithm comparison:</a:t>
            </a:r>
            <a:br>
              <a:rPr lang="en-US"/>
            </a:br>
            <a:r>
              <a:rPr lang="en-US"/>
              <a:t>brute-force vs python default</a:t>
            </a:r>
            <a:endParaRPr/>
          </a:p>
        </p:txBody>
      </p:sp>
      <p:pic>
        <p:nvPicPr>
          <p:cNvPr id="159" name="Google Shape;159;p24"/>
          <p:cNvPicPr preferRelativeResize="0"/>
          <p:nvPr/>
        </p:nvPicPr>
        <p:blipFill rotWithShape="1">
          <a:blip r:embed="rId3">
            <a:alphaModFix/>
          </a:blip>
          <a:srcRect b="0" l="0" r="0" t="0"/>
          <a:stretch/>
        </p:blipFill>
        <p:spPr>
          <a:xfrm>
            <a:off x="1297305" y="1646873"/>
            <a:ext cx="6762750" cy="490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Sequence reverse complement</a:t>
            </a:r>
            <a:endParaRPr/>
          </a:p>
        </p:txBody>
      </p:sp>
      <p:pic>
        <p:nvPicPr>
          <p:cNvPr id="165" name="Google Shape;165;p25"/>
          <p:cNvPicPr preferRelativeResize="0"/>
          <p:nvPr/>
        </p:nvPicPr>
        <p:blipFill rotWithShape="1">
          <a:blip r:embed="rId3">
            <a:alphaModFix/>
          </a:blip>
          <a:srcRect b="0" l="0" r="0" t="0"/>
          <a:stretch/>
        </p:blipFill>
        <p:spPr>
          <a:xfrm>
            <a:off x="566837" y="1695450"/>
            <a:ext cx="8185472" cy="36080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 silico translation</a:t>
            </a:r>
            <a:endParaRPr/>
          </a:p>
        </p:txBody>
      </p:sp>
      <p:sp>
        <p:nvSpPr>
          <p:cNvPr id="171" name="Google Shape;17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Given a RNA sequence, can you predict the corresponding protein sequence?</a:t>
            </a:r>
            <a:endParaRPr/>
          </a:p>
          <a:p>
            <a:pPr indent="-254000" lvl="0" marL="660400" rtl="0" algn="l">
              <a:lnSpc>
                <a:spcPct val="100000"/>
              </a:lnSpc>
              <a:spcBef>
                <a:spcPts val="0"/>
              </a:spcBef>
              <a:spcAft>
                <a:spcPts val="0"/>
              </a:spcAft>
              <a:buSzPts val="3200"/>
              <a:buNone/>
            </a:pPr>
            <a:r>
              <a:t/>
            </a:r>
            <a:endParaRPr/>
          </a:p>
          <a:p>
            <a:pPr indent="-457200" lvl="0" marL="660400" rtl="0" algn="l">
              <a:lnSpc>
                <a:spcPct val="100000"/>
              </a:lnSpc>
              <a:spcBef>
                <a:spcPts val="0"/>
              </a:spcBef>
              <a:spcAft>
                <a:spcPts val="0"/>
              </a:spcAft>
              <a:buSzPts val="3200"/>
              <a:buChar char="•"/>
            </a:pPr>
            <a:r>
              <a:rPr lang="en-US"/>
              <a:t>What data do you need for coming up with a computational solution?</a:t>
            </a:r>
            <a:endParaRPr/>
          </a:p>
          <a:p>
            <a:pPr indent="-254000" lvl="0" marL="660400" rtl="0" algn="l">
              <a:lnSpc>
                <a:spcPct val="100000"/>
              </a:lnSpc>
              <a:spcBef>
                <a:spcPts val="0"/>
              </a:spcBef>
              <a:spcAft>
                <a:spcPts val="0"/>
              </a:spcAft>
              <a:buSzPts val="3200"/>
              <a:buNone/>
            </a:pPr>
            <a:r>
              <a:t/>
            </a:r>
            <a:endParaRPr/>
          </a:p>
          <a:p>
            <a:pPr indent="-457200" lvl="0" marL="660400" rtl="0" algn="l">
              <a:lnSpc>
                <a:spcPct val="100000"/>
              </a:lnSpc>
              <a:spcBef>
                <a:spcPts val="0"/>
              </a:spcBef>
              <a:spcAft>
                <a:spcPts val="0"/>
              </a:spcAft>
              <a:buSzPts val="3200"/>
              <a:buChar char="•"/>
            </a:pPr>
            <a:r>
              <a:rPr lang="en-US"/>
              <a:t>Will your solution work for any RNA sequence? If not, why?</a:t>
            </a:r>
            <a:endParaRPr/>
          </a:p>
          <a:p>
            <a:pPr indent="-139700" lvl="0" marL="342900" rtl="0" algn="l">
              <a:lnSpc>
                <a:spcPct val="100000"/>
              </a:lnSpc>
              <a:spcBef>
                <a:spcPts val="0"/>
              </a:spcBef>
              <a:spcAft>
                <a:spcPts val="0"/>
              </a:spcAft>
              <a:buClr>
                <a:schemeClr val="dk1"/>
              </a:buClr>
              <a:buSzPts val="3200"/>
              <a:buNone/>
            </a:pPr>
            <a:r>
              <a:t/>
            </a:r>
            <a:endParaRPr/>
          </a:p>
          <a:p>
            <a:pPr indent="-139700" lvl="0" marL="342900" rtl="0" algn="l">
              <a:lnSpc>
                <a:spcPct val="100000"/>
              </a:lnSpc>
              <a:spcBef>
                <a:spcPts val="0"/>
              </a:spcBef>
              <a:spcAft>
                <a:spcPts val="0"/>
              </a:spcAft>
              <a:buClr>
                <a:schemeClr val="dk1"/>
              </a:buClr>
              <a:buSzPts val="3200"/>
              <a:buNone/>
            </a:pP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472440" y="24642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In silico PCR</a:t>
            </a:r>
            <a:endParaRPr/>
          </a:p>
        </p:txBody>
      </p:sp>
      <p:sp>
        <p:nvSpPr>
          <p:cNvPr id="177" name="Google Shape;177;p27"/>
          <p:cNvSpPr txBox="1"/>
          <p:nvPr>
            <p:ph idx="1" type="body"/>
          </p:nvPr>
        </p:nvSpPr>
        <p:spPr>
          <a:xfrm>
            <a:off x="563880" y="3836036"/>
            <a:ext cx="8229600" cy="2092961"/>
          </a:xfrm>
          <a:prstGeom prst="rect">
            <a:avLst/>
          </a:prstGeom>
          <a:noFill/>
          <a:ln>
            <a:noFill/>
          </a:ln>
        </p:spPr>
        <p:txBody>
          <a:bodyPr anchorCtr="0" anchor="t" bIns="45700" lIns="91425" spcFirstLastPara="1" rIns="91425" wrap="square" tIns="45700">
            <a:noAutofit/>
          </a:bodyPr>
          <a:lstStyle/>
          <a:p>
            <a:pPr indent="0" lvl="0" marL="203200" rtl="0" algn="l">
              <a:lnSpc>
                <a:spcPct val="100000"/>
              </a:lnSpc>
              <a:spcBef>
                <a:spcPts val="0"/>
              </a:spcBef>
              <a:spcAft>
                <a:spcPts val="0"/>
              </a:spcAft>
              <a:buSzPts val="3200"/>
              <a:buNone/>
            </a:pPr>
            <a:r>
              <a:rPr lang="en-US"/>
              <a:t>Given two primers and a DNA sequence, can you come up with a function to return the in silico PCR product?</a:t>
            </a:r>
            <a:endParaRPr/>
          </a:p>
        </p:txBody>
      </p:sp>
      <p:pic>
        <p:nvPicPr>
          <p:cNvPr descr="Image result for pcr" id="178" name="Google Shape;178;p27"/>
          <p:cNvPicPr preferRelativeResize="0"/>
          <p:nvPr/>
        </p:nvPicPr>
        <p:blipFill rotWithShape="1">
          <a:blip r:embed="rId3">
            <a:alphaModFix/>
          </a:blip>
          <a:srcRect b="0" l="0" r="0" t="0"/>
          <a:stretch/>
        </p:blipFill>
        <p:spPr>
          <a:xfrm>
            <a:off x="1755774" y="1054140"/>
            <a:ext cx="5300345" cy="27612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487679" y="13747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K-mer counting</a:t>
            </a:r>
            <a:endParaRPr/>
          </a:p>
        </p:txBody>
      </p:sp>
      <p:sp>
        <p:nvSpPr>
          <p:cNvPr id="184" name="Google Shape;184;p28"/>
          <p:cNvSpPr txBox="1"/>
          <p:nvPr>
            <p:ph idx="1" type="body"/>
          </p:nvPr>
        </p:nvSpPr>
        <p:spPr>
          <a:xfrm>
            <a:off x="365760" y="1021081"/>
            <a:ext cx="8229600" cy="746760"/>
          </a:xfrm>
          <a:prstGeom prst="rect">
            <a:avLst/>
          </a:prstGeom>
          <a:noFill/>
          <a:ln>
            <a:noFill/>
          </a:ln>
        </p:spPr>
        <p:txBody>
          <a:bodyPr anchorCtr="0" anchor="t" bIns="45700" lIns="91425" spcFirstLastPara="1" rIns="91425" wrap="square" tIns="45700">
            <a:noAutofit/>
          </a:bodyPr>
          <a:lstStyle/>
          <a:p>
            <a:pPr indent="-139700" lvl="0" marL="342900" rtl="0" algn="l">
              <a:lnSpc>
                <a:spcPct val="100000"/>
              </a:lnSpc>
              <a:spcBef>
                <a:spcPts val="0"/>
              </a:spcBef>
              <a:spcAft>
                <a:spcPts val="0"/>
              </a:spcAft>
              <a:buClr>
                <a:schemeClr val="dk1"/>
              </a:buClr>
              <a:buSzPts val="3200"/>
              <a:buNone/>
            </a:pPr>
            <a:r>
              <a:rPr lang="en-US" sz="2800"/>
              <a:t>Find the most frequent k-mer in a sequence</a:t>
            </a:r>
            <a:endParaRPr sz="2800"/>
          </a:p>
        </p:txBody>
      </p:sp>
      <p:pic>
        <p:nvPicPr>
          <p:cNvPr id="185" name="Google Shape;185;p28"/>
          <p:cNvPicPr preferRelativeResize="0"/>
          <p:nvPr/>
        </p:nvPicPr>
        <p:blipFill rotWithShape="1">
          <a:blip r:embed="rId3">
            <a:alphaModFix/>
          </a:blip>
          <a:srcRect b="0" l="0" r="0" t="0"/>
          <a:stretch/>
        </p:blipFill>
        <p:spPr>
          <a:xfrm>
            <a:off x="243839" y="1457323"/>
            <a:ext cx="8214361" cy="4263432"/>
          </a:xfrm>
          <a:prstGeom prst="rect">
            <a:avLst/>
          </a:prstGeom>
          <a:noFill/>
          <a:ln>
            <a:noFill/>
          </a:ln>
        </p:spPr>
      </p:pic>
      <p:sp>
        <p:nvSpPr>
          <p:cNvPr id="186" name="Google Shape;186;p28"/>
          <p:cNvSpPr txBox="1"/>
          <p:nvPr/>
        </p:nvSpPr>
        <p:spPr>
          <a:xfrm>
            <a:off x="243839" y="5751930"/>
            <a:ext cx="8717281" cy="830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Can you modify the code above to find the most frequent k-mer in a list of sequences rather than just one sequence?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Edit distance</a:t>
            </a:r>
            <a:endParaRPr/>
          </a:p>
        </p:txBody>
      </p:sp>
      <p:sp>
        <p:nvSpPr>
          <p:cNvPr id="192" name="Google Shape;192;p29"/>
          <p:cNvSpPr txBox="1"/>
          <p:nvPr>
            <p:ph idx="1" type="body"/>
          </p:nvPr>
        </p:nvSpPr>
        <p:spPr>
          <a:xfrm>
            <a:off x="304800" y="1101745"/>
            <a:ext cx="8229600" cy="1915458"/>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193" name="Google Shape;193;p29"/>
          <p:cNvGraphicFramePr/>
          <p:nvPr/>
        </p:nvGraphicFramePr>
        <p:xfrm>
          <a:off x="2133600" y="1945640"/>
          <a:ext cx="3000000" cy="3000000"/>
        </p:xfrm>
        <a:graphic>
          <a:graphicData uri="http://schemas.openxmlformats.org/drawingml/2006/table">
            <a:tbl>
              <a:tblPr bandRow="1" firstRow="1">
                <a:noFill/>
                <a:tableStyleId>{8B4CC848-3EE8-47B8-A3AB-0B0CCF0AB406}</a:tableStyleId>
              </a:tblPr>
              <a:tblGrid>
                <a:gridCol w="1016000"/>
                <a:gridCol w="1016000"/>
                <a:gridCol w="1016000"/>
                <a:gridCol w="1016000"/>
                <a:gridCol w="1016000"/>
              </a:tblGrid>
              <a:tr h="370850">
                <a:tc>
                  <a:txBody>
                    <a:bodyPr>
                      <a:noAutofit/>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5</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r>
            </a:tbl>
          </a:graphicData>
        </a:graphic>
      </p:graphicFrame>
      <p:sp>
        <p:nvSpPr>
          <p:cNvPr id="194" name="Google Shape;194;p29"/>
          <p:cNvSpPr txBox="1"/>
          <p:nvPr/>
        </p:nvSpPr>
        <p:spPr>
          <a:xfrm>
            <a:off x="1127760" y="198120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position</a:t>
            </a:r>
            <a:endParaRPr b="0" i="0" sz="1400" u="none" cap="none" strike="noStrike">
              <a:solidFill>
                <a:srgbClr val="000000"/>
              </a:solidFill>
              <a:latin typeface="Arial"/>
              <a:ea typeface="Arial"/>
              <a:cs typeface="Arial"/>
              <a:sym typeface="Arial"/>
            </a:endParaRPr>
          </a:p>
        </p:txBody>
      </p:sp>
      <p:sp>
        <p:nvSpPr>
          <p:cNvPr id="195" name="Google Shape;195;p29"/>
          <p:cNvSpPr txBox="1"/>
          <p:nvPr/>
        </p:nvSpPr>
        <p:spPr>
          <a:xfrm>
            <a:off x="1127760" y="233172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Seq_a</a:t>
            </a:r>
            <a:endParaRPr b="0" i="0" sz="1400" u="none" cap="none" strike="noStrike">
              <a:solidFill>
                <a:srgbClr val="000000"/>
              </a:solidFill>
              <a:latin typeface="Arial"/>
              <a:ea typeface="Arial"/>
              <a:cs typeface="Arial"/>
              <a:sym typeface="Arial"/>
            </a:endParaRPr>
          </a:p>
        </p:txBody>
      </p:sp>
      <p:sp>
        <p:nvSpPr>
          <p:cNvPr id="196" name="Google Shape;196;p29"/>
          <p:cNvSpPr txBox="1"/>
          <p:nvPr/>
        </p:nvSpPr>
        <p:spPr>
          <a:xfrm>
            <a:off x="1127760" y="2593777"/>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Seq_b</a:t>
            </a:r>
            <a:endParaRPr b="0" i="0" sz="1400" u="none" cap="none" strike="noStrike">
              <a:solidFill>
                <a:srgbClr val="000000"/>
              </a:solidFill>
              <a:latin typeface="Arial"/>
              <a:ea typeface="Arial"/>
              <a:cs typeface="Arial"/>
              <a:sym typeface="Arial"/>
            </a:endParaRPr>
          </a:p>
        </p:txBody>
      </p:sp>
      <p:sp>
        <p:nvSpPr>
          <p:cNvPr id="197" name="Google Shape;197;p29"/>
          <p:cNvSpPr txBox="1"/>
          <p:nvPr/>
        </p:nvSpPr>
        <p:spPr>
          <a:xfrm>
            <a:off x="335280" y="3285530"/>
            <a:ext cx="9144000" cy="1443335"/>
          </a:xfrm>
          <a:prstGeom prst="rect">
            <a:avLst/>
          </a:prstGeom>
          <a:noFill/>
          <a:ln>
            <a:noFill/>
          </a:ln>
        </p:spPr>
        <p:txBody>
          <a:bodyPr anchorCtr="0" anchor="t" bIns="45700" lIns="91425" spcFirstLastPara="1" rIns="91425" wrap="square" tIns="45700">
            <a:noAutofit/>
          </a:bodyPr>
          <a:lstStyle/>
          <a:p>
            <a:pPr indent="-457200" lvl="0" marL="6604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For two sequences of the same length, I can define a distance function like this for example: </a:t>
            </a:r>
            <a:r>
              <a:rPr b="0" i="0" lang="en-US" sz="2000" u="none" cap="none" strike="noStrike">
                <a:solidFill>
                  <a:schemeClr val="dk1"/>
                </a:solidFill>
                <a:latin typeface="Calibri"/>
                <a:ea typeface="Calibri"/>
                <a:cs typeface="Calibri"/>
                <a:sym typeface="Calibri"/>
              </a:rPr>
              <a:t>distance(Seq_a,seq_b)=∑d(Seq_a[i], Seq_b[i]),</a:t>
            </a:r>
            <a:endParaRPr/>
          </a:p>
          <a:p>
            <a:pPr indent="-139700" lvl="0" marL="342900" marR="0" rtl="0" algn="l">
              <a:lnSpc>
                <a:spcPct val="100000"/>
              </a:lnSpc>
              <a:spcBef>
                <a:spcPts val="0"/>
              </a:spcBef>
              <a:spcAft>
                <a:spcPts val="0"/>
              </a:spcAft>
              <a:buClr>
                <a:schemeClr val="dk1"/>
              </a:buClr>
              <a:buSzPts val="3200"/>
              <a:buFont typeface="Arial"/>
              <a:buNone/>
            </a:pPr>
            <a:r>
              <a:rPr b="0" i="0" lang="en-US" sz="2000" u="none" cap="none" strike="noStrike">
                <a:solidFill>
                  <a:schemeClr val="dk1"/>
                </a:solidFill>
                <a:latin typeface="Calibri"/>
                <a:ea typeface="Calibri"/>
                <a:cs typeface="Calibri"/>
                <a:sym typeface="Calibri"/>
              </a:rPr>
              <a:t>                           where d(Seq_a[i], Seq_b[i])=0 if Seq_a[i]=Seq_b[i]</a:t>
            </a:r>
            <a:endParaRPr/>
          </a:p>
          <a:p>
            <a:pPr indent="-139700" lvl="0" marL="342900" marR="0" rtl="0" algn="l">
              <a:lnSpc>
                <a:spcPct val="100000"/>
              </a:lnSpc>
              <a:spcBef>
                <a:spcPts val="0"/>
              </a:spcBef>
              <a:spcAft>
                <a:spcPts val="0"/>
              </a:spcAft>
              <a:buClr>
                <a:schemeClr val="dk1"/>
              </a:buClr>
              <a:buSzPts val="3200"/>
              <a:buFont typeface="Arial"/>
              <a:buNone/>
            </a:pPr>
            <a:r>
              <a:rPr b="0" i="0" lang="en-US" sz="2000" u="none" cap="none" strike="noStrike">
                <a:solidFill>
                  <a:schemeClr val="dk1"/>
                </a:solidFill>
                <a:latin typeface="Calibri"/>
                <a:ea typeface="Calibri"/>
                <a:cs typeface="Calibri"/>
                <a:sym typeface="Calibri"/>
              </a:rPr>
              <a:t>                                and d(Seq_a[i}, Seq_b[i])=1 if Seq_a[i]≠Seq_b[i]</a:t>
            </a:r>
            <a:endParaRPr b="0" i="0" sz="2000" u="none" cap="none" strike="noStrike">
              <a:solidFill>
                <a:schemeClr val="dk1"/>
              </a:solidFill>
              <a:latin typeface="Calibri"/>
              <a:ea typeface="Calibri"/>
              <a:cs typeface="Calibri"/>
              <a:sym typeface="Calibri"/>
            </a:endParaRPr>
          </a:p>
        </p:txBody>
      </p:sp>
      <p:sp>
        <p:nvSpPr>
          <p:cNvPr id="198" name="Google Shape;198;p29"/>
          <p:cNvSpPr txBox="1"/>
          <p:nvPr/>
        </p:nvSpPr>
        <p:spPr>
          <a:xfrm>
            <a:off x="487680" y="5538876"/>
            <a:ext cx="8503920" cy="1200329"/>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Can you implement a function to calculate the edit distance of two sequences of the same length using the distance function above?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2" name="Shape 202"/>
        <p:cNvGrpSpPr/>
        <p:nvPr/>
      </p:nvGrpSpPr>
      <p:grpSpPr>
        <a:xfrm>
          <a:off x="0" y="0"/>
          <a:ext cx="0" cy="0"/>
          <a:chOff x="0" y="0"/>
          <a:chExt cx="0" cy="0"/>
        </a:xfrm>
      </p:grpSpPr>
      <p:sp>
        <p:nvSpPr>
          <p:cNvPr id="203" name="Google Shape;20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Edit distance</a:t>
            </a:r>
            <a:endParaRPr/>
          </a:p>
        </p:txBody>
      </p:sp>
      <p:sp>
        <p:nvSpPr>
          <p:cNvPr id="204" name="Google Shape;204;p30"/>
          <p:cNvSpPr txBox="1"/>
          <p:nvPr>
            <p:ph idx="1" type="body"/>
          </p:nvPr>
        </p:nvSpPr>
        <p:spPr>
          <a:xfrm>
            <a:off x="304800" y="1101745"/>
            <a:ext cx="8229600" cy="1915458"/>
          </a:xfrm>
          <a:prstGeom prst="rect">
            <a:avLst/>
          </a:prstGeom>
          <a:noFill/>
          <a:ln>
            <a:noFill/>
          </a:ln>
        </p:spPr>
        <p:txBody>
          <a:bodyPr anchorCtr="0" anchor="t" bIns="45700" lIns="91425" spcFirstLastPara="1" rIns="91425" wrap="square" tIns="45700">
            <a:noAutofit/>
          </a:bodyPr>
          <a:lstStyle/>
          <a:p>
            <a:pPr indent="-457200" lvl="0" marL="660400" rtl="0" algn="l">
              <a:lnSpc>
                <a:spcPct val="100000"/>
              </a:lnSpc>
              <a:spcBef>
                <a:spcPts val="0"/>
              </a:spcBef>
              <a:spcAft>
                <a:spcPts val="0"/>
              </a:spcAft>
              <a:buSzPts val="3200"/>
              <a:buChar char="•"/>
            </a:pPr>
            <a:r>
              <a:rPr lang="en-US"/>
              <a:t>Edit </a:t>
            </a:r>
            <a:r>
              <a:rPr lang="en-US" sz="2800"/>
              <a:t>distance</a:t>
            </a:r>
            <a:r>
              <a:rPr lang="en-US"/>
              <a:t> is a measure of dissimilarity</a:t>
            </a:r>
            <a:endParaRPr/>
          </a:p>
        </p:txBody>
      </p:sp>
      <p:graphicFrame>
        <p:nvGraphicFramePr>
          <p:cNvPr id="205" name="Google Shape;205;p30"/>
          <p:cNvGraphicFramePr/>
          <p:nvPr/>
        </p:nvGraphicFramePr>
        <p:xfrm>
          <a:off x="2133600" y="1945640"/>
          <a:ext cx="3000000" cy="3000000"/>
        </p:xfrm>
        <a:graphic>
          <a:graphicData uri="http://schemas.openxmlformats.org/drawingml/2006/table">
            <a:tbl>
              <a:tblPr bandRow="1" firstRow="1">
                <a:noFill/>
                <a:tableStyleId>{8B4CC848-3EE8-47B8-A3AB-0B0CCF0AB406}</a:tableStyleId>
              </a:tblPr>
              <a:tblGrid>
                <a:gridCol w="1016000"/>
                <a:gridCol w="1016000"/>
                <a:gridCol w="1016000"/>
                <a:gridCol w="1016000"/>
                <a:gridCol w="1016000"/>
              </a:tblGrid>
              <a:tr h="370850">
                <a:tc>
                  <a:txBody>
                    <a:bodyPr>
                      <a:noAutofit/>
                    </a:bodyPr>
                    <a:lstStyle/>
                    <a:p>
                      <a:pPr indent="0" lvl="0" marL="0" marR="0" rtl="0" algn="l">
                        <a:lnSpc>
                          <a:spcPct val="100000"/>
                        </a:lnSpc>
                        <a:spcBef>
                          <a:spcPts val="0"/>
                        </a:spcBef>
                        <a:spcAft>
                          <a:spcPts val="0"/>
                        </a:spcAft>
                        <a:buNone/>
                      </a:pPr>
                      <a:r>
                        <a:rPr lang="en-US" sz="1400" u="none" cap="none" strike="noStrike"/>
                        <a:t>1</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2</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3</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4</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5</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r>
              <a:tr h="370850">
                <a:tc>
                  <a:txBody>
                    <a:bodyPr>
                      <a:noAutofit/>
                    </a:bodyPr>
                    <a:lstStyle/>
                    <a:p>
                      <a:pPr indent="0" lvl="0" marL="0" marR="0" rtl="0" algn="l">
                        <a:lnSpc>
                          <a:spcPct val="100000"/>
                        </a:lnSpc>
                        <a:spcBef>
                          <a:spcPts val="0"/>
                        </a:spcBef>
                        <a:spcAft>
                          <a:spcPts val="0"/>
                        </a:spcAft>
                        <a:buNone/>
                      </a:pPr>
                      <a:r>
                        <a:rPr lang="en-US" sz="1400" u="none" cap="none" strike="noStrike"/>
                        <a:t>A</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G</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C</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rPr lang="en-US" sz="1400" u="none" cap="none" strike="noStrike"/>
                        <a:t>T</a:t>
                      </a:r>
                      <a:endParaRPr sz="1400" u="none" cap="none" strike="noStrike"/>
                    </a:p>
                  </a:txBody>
                  <a:tcPr marT="45725" marB="45725" marR="91450" marL="91450"/>
                </a:tc>
                <a:tc>
                  <a:txBody>
                    <a:bodyPr>
                      <a:noAutofit/>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sp>
        <p:nvSpPr>
          <p:cNvPr id="206" name="Google Shape;206;p30"/>
          <p:cNvSpPr txBox="1"/>
          <p:nvPr/>
        </p:nvSpPr>
        <p:spPr>
          <a:xfrm>
            <a:off x="1127760" y="198120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position</a:t>
            </a:r>
            <a:endParaRPr b="0" i="0" sz="1400" u="none" cap="none" strike="noStrike">
              <a:solidFill>
                <a:srgbClr val="000000"/>
              </a:solidFill>
              <a:latin typeface="Arial"/>
              <a:ea typeface="Arial"/>
              <a:cs typeface="Arial"/>
              <a:sym typeface="Arial"/>
            </a:endParaRPr>
          </a:p>
        </p:txBody>
      </p:sp>
      <p:sp>
        <p:nvSpPr>
          <p:cNvPr id="207" name="Google Shape;207;p30"/>
          <p:cNvSpPr txBox="1"/>
          <p:nvPr/>
        </p:nvSpPr>
        <p:spPr>
          <a:xfrm>
            <a:off x="1127760" y="2331720"/>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Seq_a</a:t>
            </a:r>
            <a:endParaRPr b="0" i="0" sz="1400" u="none" cap="none" strike="noStrike">
              <a:solidFill>
                <a:srgbClr val="000000"/>
              </a:solidFill>
              <a:latin typeface="Arial"/>
              <a:ea typeface="Arial"/>
              <a:cs typeface="Arial"/>
              <a:sym typeface="Arial"/>
            </a:endParaRPr>
          </a:p>
        </p:txBody>
      </p:sp>
      <p:sp>
        <p:nvSpPr>
          <p:cNvPr id="208" name="Google Shape;208;p30"/>
          <p:cNvSpPr txBox="1"/>
          <p:nvPr/>
        </p:nvSpPr>
        <p:spPr>
          <a:xfrm>
            <a:off x="1127760" y="2593777"/>
            <a:ext cx="929640"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Seq_b</a:t>
            </a:r>
            <a:endParaRPr b="0" i="0" sz="1400" u="none" cap="none" strike="noStrike">
              <a:solidFill>
                <a:srgbClr val="000000"/>
              </a:solidFill>
              <a:latin typeface="Arial"/>
              <a:ea typeface="Arial"/>
              <a:cs typeface="Arial"/>
              <a:sym typeface="Arial"/>
            </a:endParaRPr>
          </a:p>
        </p:txBody>
      </p:sp>
      <p:sp>
        <p:nvSpPr>
          <p:cNvPr id="209" name="Google Shape;209;p30"/>
          <p:cNvSpPr txBox="1"/>
          <p:nvPr/>
        </p:nvSpPr>
        <p:spPr>
          <a:xfrm>
            <a:off x="289560" y="3884532"/>
            <a:ext cx="8503920" cy="830997"/>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What would you do to calculate the dissimilarity of two sequences if they are not of the same length?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Gene scanning</a:t>
            </a:r>
            <a:endParaRPr/>
          </a:p>
        </p:txBody>
      </p:sp>
      <p:sp>
        <p:nvSpPr>
          <p:cNvPr id="215" name="Google Shape;215;p31"/>
          <p:cNvSpPr txBox="1"/>
          <p:nvPr>
            <p:ph idx="1" type="body"/>
          </p:nvPr>
        </p:nvSpPr>
        <p:spPr>
          <a:xfrm>
            <a:off x="457200" y="1234440"/>
            <a:ext cx="8229600" cy="551688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640"/>
              </a:spcBef>
              <a:spcAft>
                <a:spcPts val="0"/>
              </a:spcAft>
              <a:buClr>
                <a:schemeClr val="dk1"/>
              </a:buClr>
              <a:buSzPts val="3200"/>
              <a:buChar char="•"/>
            </a:pPr>
            <a:r>
              <a:rPr lang="en-US" sz="2400"/>
              <a:t>Problem definition:</a:t>
            </a:r>
            <a:endParaRPr/>
          </a:p>
          <a:p>
            <a:pPr indent="-342900" lvl="1" marL="800100" rtl="0" algn="l">
              <a:lnSpc>
                <a:spcPct val="100000"/>
              </a:lnSpc>
              <a:spcBef>
                <a:spcPts val="640"/>
              </a:spcBef>
              <a:spcAft>
                <a:spcPts val="0"/>
              </a:spcAft>
              <a:buSzPts val="3200"/>
              <a:buChar char="•"/>
            </a:pPr>
            <a:r>
              <a:rPr lang="en-US" sz="2400"/>
              <a:t>Write a simple prokaryotic gene scanner (a python function); given a DNA sequence, return the open reading frame found in the sequence. </a:t>
            </a:r>
            <a:endParaRPr sz="2400"/>
          </a:p>
          <a:p>
            <a:pPr indent="-139700" lvl="0" marL="342900" rtl="0" algn="l">
              <a:lnSpc>
                <a:spcPct val="100000"/>
              </a:lnSpc>
              <a:spcBef>
                <a:spcPts val="640"/>
              </a:spcBef>
              <a:spcAft>
                <a:spcPts val="0"/>
              </a:spcAft>
              <a:buClr>
                <a:schemeClr val="dk1"/>
              </a:buClr>
              <a:buSzPts val="3200"/>
              <a:buNone/>
            </a:pPr>
            <a:r>
              <a:t/>
            </a:r>
            <a:endParaRPr sz="2400"/>
          </a:p>
          <a:p>
            <a:pPr indent="-342900" lvl="0" marL="342900" rtl="0" algn="l">
              <a:lnSpc>
                <a:spcPct val="100000"/>
              </a:lnSpc>
              <a:spcBef>
                <a:spcPts val="640"/>
              </a:spcBef>
              <a:spcAft>
                <a:spcPts val="0"/>
              </a:spcAft>
              <a:buClr>
                <a:schemeClr val="dk1"/>
              </a:buClr>
              <a:buSzPts val="3200"/>
              <a:buChar char="•"/>
            </a:pPr>
            <a:r>
              <a:rPr lang="en-US" sz="2400"/>
              <a:t>Hints:</a:t>
            </a:r>
            <a:endParaRPr/>
          </a:p>
          <a:p>
            <a:pPr indent="-342900" lvl="1" marL="800100" rtl="0" algn="l">
              <a:lnSpc>
                <a:spcPct val="100000"/>
              </a:lnSpc>
              <a:spcBef>
                <a:spcPts val="640"/>
              </a:spcBef>
              <a:spcAft>
                <a:spcPts val="0"/>
              </a:spcAft>
              <a:buSzPts val="3200"/>
              <a:buChar char="•"/>
            </a:pPr>
            <a:r>
              <a:rPr lang="en-US" sz="2400"/>
              <a:t>What is your gene model? In other words, how do you define a prokaryotic gene in the most simple way computationally (where to start, where to end, how long, genetic codon)?</a:t>
            </a:r>
            <a:endParaRPr/>
          </a:p>
          <a:p>
            <a:pPr indent="-342900" lvl="1" marL="800100" rtl="0" algn="l">
              <a:lnSpc>
                <a:spcPct val="100000"/>
              </a:lnSpc>
              <a:spcBef>
                <a:spcPts val="640"/>
              </a:spcBef>
              <a:spcAft>
                <a:spcPts val="0"/>
              </a:spcAft>
              <a:buSzPts val="3200"/>
              <a:buChar char="•"/>
            </a:pPr>
            <a:r>
              <a:rPr lang="en-US" sz="2400"/>
              <a:t>You do not need to use real data; you can just simulate a long random DNA sequence as the genome.</a:t>
            </a:r>
            <a:endParaRPr sz="2400"/>
          </a:p>
          <a:p>
            <a:pPr indent="0" lvl="0" marL="0" rtl="0" algn="l">
              <a:lnSpc>
                <a:spcPct val="100000"/>
              </a:lnSpc>
              <a:spcBef>
                <a:spcPts val="640"/>
              </a:spcBef>
              <a:spcAft>
                <a:spcPts val="0"/>
              </a:spcAft>
              <a:buClr>
                <a:schemeClr val="dk1"/>
              </a:buClr>
              <a:buSzPts val="3200"/>
              <a:buNone/>
            </a:pPr>
            <a:r>
              <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9" name="Shape 219"/>
        <p:cNvGrpSpPr/>
        <p:nvPr/>
      </p:nvGrpSpPr>
      <p:grpSpPr>
        <a:xfrm>
          <a:off x="0" y="0"/>
          <a:ext cx="0" cy="0"/>
          <a:chOff x="0" y="0"/>
          <a:chExt cx="0" cy="0"/>
        </a:xfrm>
      </p:grpSpPr>
      <p:sp>
        <p:nvSpPr>
          <p:cNvPr id="220" name="Google Shape;220;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Python modules for bioinformatics</a:t>
            </a:r>
            <a:endParaRPr/>
          </a:p>
        </p:txBody>
      </p:sp>
      <p:sp>
        <p:nvSpPr>
          <p:cNvPr id="221" name="Google Shape;221;p32"/>
          <p:cNvSpPr txBox="1"/>
          <p:nvPr>
            <p:ph idx="1" type="body"/>
          </p:nvPr>
        </p:nvSpPr>
        <p:spPr>
          <a:xfrm>
            <a:off x="457200" y="1600201"/>
            <a:ext cx="8229600" cy="199644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Biopython:</a:t>
            </a:r>
            <a:endParaRPr/>
          </a:p>
          <a:p>
            <a:pPr indent="-342900" lvl="1" marL="914400" rtl="0" algn="l">
              <a:lnSpc>
                <a:spcPct val="100000"/>
              </a:lnSpc>
              <a:spcBef>
                <a:spcPts val="360"/>
              </a:spcBef>
              <a:spcAft>
                <a:spcPts val="0"/>
              </a:spcAft>
              <a:buSzPts val="1800"/>
              <a:buChar char="–"/>
            </a:pPr>
            <a:r>
              <a:rPr lang="en-US" u="sng">
                <a:solidFill>
                  <a:schemeClr val="hlink"/>
                </a:solidFill>
                <a:hlinkClick r:id="rId3"/>
              </a:rPr>
              <a:t>https://biopython.org/</a:t>
            </a:r>
            <a:endParaRPr/>
          </a:p>
          <a:p>
            <a:pPr indent="-342900" lvl="1" marL="914400" rtl="0" algn="l">
              <a:lnSpc>
                <a:spcPct val="100000"/>
              </a:lnSpc>
              <a:spcBef>
                <a:spcPts val="360"/>
              </a:spcBef>
              <a:spcAft>
                <a:spcPts val="0"/>
              </a:spcAft>
              <a:buSzPts val="1800"/>
              <a:buChar char="–"/>
            </a:pPr>
            <a:r>
              <a:rPr lang="en-US"/>
              <a:t>Some key functionalies (</a:t>
            </a:r>
            <a:r>
              <a:rPr lang="en-US" u="sng">
                <a:solidFill>
                  <a:schemeClr val="hlink"/>
                </a:solidFill>
                <a:hlinkClick r:id="rId4"/>
              </a:rPr>
              <a:t>https://biopython.org/wiki/Documentation</a:t>
            </a:r>
            <a:r>
              <a:rPr lang="en-US"/>
              <a:t>):</a:t>
            </a:r>
            <a:endParaRPr/>
          </a:p>
          <a:p>
            <a:pPr indent="0" lvl="1" marL="571500" rtl="0" algn="l">
              <a:lnSpc>
                <a:spcPct val="100000"/>
              </a:lnSpc>
              <a:spcBef>
                <a:spcPts val="360"/>
              </a:spcBef>
              <a:spcAft>
                <a:spcPts val="0"/>
              </a:spcAft>
              <a:buSzPts val="1800"/>
              <a:buNone/>
            </a:pPr>
            <a:r>
              <a:t/>
            </a:r>
            <a:endParaRPr/>
          </a:p>
        </p:txBody>
      </p:sp>
      <p:pic>
        <p:nvPicPr>
          <p:cNvPr id="222" name="Google Shape;222;p32"/>
          <p:cNvPicPr preferRelativeResize="0"/>
          <p:nvPr/>
        </p:nvPicPr>
        <p:blipFill rotWithShape="1">
          <a:blip r:embed="rId5">
            <a:alphaModFix/>
          </a:blip>
          <a:srcRect b="0" l="0" r="0" t="0"/>
          <a:stretch/>
        </p:blipFill>
        <p:spPr>
          <a:xfrm>
            <a:off x="1727834" y="3629978"/>
            <a:ext cx="4962525" cy="259341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Biopython examples</a:t>
            </a:r>
            <a:endParaRPr/>
          </a:p>
        </p:txBody>
      </p:sp>
      <p:sp>
        <p:nvSpPr>
          <p:cNvPr id="228" name="Google Shape;228;p33"/>
          <p:cNvSpPr/>
          <p:nvPr/>
        </p:nvSpPr>
        <p:spPr>
          <a:xfrm>
            <a:off x="5537973" y="6384072"/>
            <a:ext cx="3188693"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http://biopython.org/DIST/docs/tutorial</a:t>
            </a:r>
            <a:endParaRPr/>
          </a:p>
        </p:txBody>
      </p:sp>
      <p:pic>
        <p:nvPicPr>
          <p:cNvPr id="229" name="Google Shape;229;p33"/>
          <p:cNvPicPr preferRelativeResize="0"/>
          <p:nvPr/>
        </p:nvPicPr>
        <p:blipFill rotWithShape="1">
          <a:blip r:embed="rId3">
            <a:alphaModFix/>
          </a:blip>
          <a:srcRect b="0" l="0" r="0" t="0"/>
          <a:stretch/>
        </p:blipFill>
        <p:spPr>
          <a:xfrm>
            <a:off x="4038600" y="1516232"/>
            <a:ext cx="4071123" cy="1923365"/>
          </a:xfrm>
          <a:prstGeom prst="rect">
            <a:avLst/>
          </a:prstGeom>
          <a:noFill/>
          <a:ln>
            <a:noFill/>
          </a:ln>
        </p:spPr>
      </p:pic>
      <p:pic>
        <p:nvPicPr>
          <p:cNvPr id="230" name="Google Shape;230;p33"/>
          <p:cNvPicPr preferRelativeResize="0"/>
          <p:nvPr/>
        </p:nvPicPr>
        <p:blipFill rotWithShape="1">
          <a:blip r:embed="rId4">
            <a:alphaModFix/>
          </a:blip>
          <a:srcRect b="0" l="0" r="0" t="0"/>
          <a:stretch/>
        </p:blipFill>
        <p:spPr>
          <a:xfrm>
            <a:off x="4038599" y="3835718"/>
            <a:ext cx="4206415" cy="1970722"/>
          </a:xfrm>
          <a:prstGeom prst="rect">
            <a:avLst/>
          </a:prstGeom>
          <a:noFill/>
          <a:ln>
            <a:noFill/>
          </a:ln>
        </p:spPr>
      </p:pic>
      <p:sp>
        <p:nvSpPr>
          <p:cNvPr id="231" name="Google Shape;231;p33"/>
          <p:cNvSpPr txBox="1"/>
          <p:nvPr/>
        </p:nvSpPr>
        <p:spPr>
          <a:xfrm>
            <a:off x="548640" y="2654766"/>
            <a:ext cx="309372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Working with sequences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5" name="Shape 235"/>
        <p:cNvGrpSpPr/>
        <p:nvPr/>
      </p:nvGrpSpPr>
      <p:grpSpPr>
        <a:xfrm>
          <a:off x="0" y="0"/>
          <a:ext cx="0" cy="0"/>
          <a:chOff x="0" y="0"/>
          <a:chExt cx="0" cy="0"/>
        </a:xfrm>
      </p:grpSpPr>
      <p:sp>
        <p:nvSpPr>
          <p:cNvPr id="236" name="Google Shape;236;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Biopython examples</a:t>
            </a:r>
            <a:endParaRPr/>
          </a:p>
        </p:txBody>
      </p:sp>
      <p:sp>
        <p:nvSpPr>
          <p:cNvPr id="237" name="Google Shape;237;p34"/>
          <p:cNvSpPr/>
          <p:nvPr/>
        </p:nvSpPr>
        <p:spPr>
          <a:xfrm>
            <a:off x="5537973" y="6384072"/>
            <a:ext cx="3188693"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http://biopython.org/DIST/docs/tutorial</a:t>
            </a:r>
            <a:endParaRPr/>
          </a:p>
        </p:txBody>
      </p:sp>
      <p:pic>
        <p:nvPicPr>
          <p:cNvPr id="238" name="Google Shape;238;p34"/>
          <p:cNvPicPr preferRelativeResize="0"/>
          <p:nvPr/>
        </p:nvPicPr>
        <p:blipFill rotWithShape="1">
          <a:blip r:embed="rId3">
            <a:alphaModFix/>
          </a:blip>
          <a:srcRect b="0" l="0" r="0" t="0"/>
          <a:stretch/>
        </p:blipFill>
        <p:spPr>
          <a:xfrm>
            <a:off x="76200" y="1973545"/>
            <a:ext cx="8976360" cy="3772888"/>
          </a:xfrm>
          <a:prstGeom prst="rect">
            <a:avLst/>
          </a:prstGeom>
          <a:noFill/>
          <a:ln>
            <a:noFill/>
          </a:ln>
        </p:spPr>
      </p:pic>
      <p:sp>
        <p:nvSpPr>
          <p:cNvPr id="239" name="Google Shape;239;p34"/>
          <p:cNvSpPr txBox="1"/>
          <p:nvPr/>
        </p:nvSpPr>
        <p:spPr>
          <a:xfrm>
            <a:off x="259080" y="1325880"/>
            <a:ext cx="295656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File parsing</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3" name="Shape 243"/>
        <p:cNvGrpSpPr/>
        <p:nvPr/>
      </p:nvGrpSpPr>
      <p:grpSpPr>
        <a:xfrm>
          <a:off x="0" y="0"/>
          <a:ext cx="0" cy="0"/>
          <a:chOff x="0" y="0"/>
          <a:chExt cx="0" cy="0"/>
        </a:xfrm>
      </p:grpSpPr>
      <p:sp>
        <p:nvSpPr>
          <p:cNvPr id="244" name="Google Shape;244;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Other programming languages for bioinformatics</a:t>
            </a:r>
            <a:endParaRPr/>
          </a:p>
        </p:txBody>
      </p:sp>
      <p:sp>
        <p:nvSpPr>
          <p:cNvPr id="245" name="Google Shape;245;p3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R:</a:t>
            </a:r>
            <a:endParaRPr/>
          </a:p>
          <a:p>
            <a:pPr indent="-342900" lvl="1" marL="914400" rtl="0" algn="l">
              <a:lnSpc>
                <a:spcPct val="100000"/>
              </a:lnSpc>
              <a:spcBef>
                <a:spcPts val="360"/>
              </a:spcBef>
              <a:spcAft>
                <a:spcPts val="0"/>
              </a:spcAft>
              <a:buSzPts val="1800"/>
              <a:buChar char="–"/>
            </a:pPr>
            <a:r>
              <a:rPr lang="en-US"/>
              <a:t>Python and R are the two most popular programming languages in bioinformatics and data science in general</a:t>
            </a:r>
            <a:endParaRPr/>
          </a:p>
          <a:p>
            <a:pPr indent="-342900" lvl="0" marL="457200" rtl="0" algn="l">
              <a:lnSpc>
                <a:spcPct val="100000"/>
              </a:lnSpc>
              <a:spcBef>
                <a:spcPts val="360"/>
              </a:spcBef>
              <a:spcAft>
                <a:spcPts val="0"/>
              </a:spcAft>
              <a:buClr>
                <a:schemeClr val="dk1"/>
              </a:buClr>
              <a:buSzPts val="1800"/>
              <a:buChar char="•"/>
            </a:pPr>
            <a:r>
              <a:rPr lang="en-US"/>
              <a:t>Perl:</a:t>
            </a:r>
            <a:endParaRPr/>
          </a:p>
          <a:p>
            <a:pPr indent="-342900" lvl="1" marL="914400" rtl="0" algn="l">
              <a:lnSpc>
                <a:spcPct val="100000"/>
              </a:lnSpc>
              <a:spcBef>
                <a:spcPts val="360"/>
              </a:spcBef>
              <a:spcAft>
                <a:spcPts val="0"/>
              </a:spcAft>
              <a:buSzPts val="1800"/>
              <a:buChar char="–"/>
            </a:pPr>
            <a:r>
              <a:rPr lang="en-US"/>
              <a:t>Another popular scripting language in the bioinformatics community</a:t>
            </a:r>
            <a:endParaRPr/>
          </a:p>
          <a:p>
            <a:pPr indent="-342900" lvl="0" marL="457200" rtl="0" algn="l">
              <a:lnSpc>
                <a:spcPct val="100000"/>
              </a:lnSpc>
              <a:spcBef>
                <a:spcPts val="360"/>
              </a:spcBef>
              <a:spcAft>
                <a:spcPts val="0"/>
              </a:spcAft>
              <a:buClr>
                <a:schemeClr val="dk1"/>
              </a:buClr>
              <a:buSzPts val="1800"/>
              <a:buChar char="•"/>
            </a:pPr>
            <a:r>
              <a:rPr lang="en-US"/>
              <a:t>Java</a:t>
            </a:r>
            <a:endParaRPr/>
          </a:p>
          <a:p>
            <a:pPr indent="-342900" lvl="0" marL="457200" rtl="0" algn="l">
              <a:lnSpc>
                <a:spcPct val="100000"/>
              </a:lnSpc>
              <a:spcBef>
                <a:spcPts val="360"/>
              </a:spcBef>
              <a:spcAft>
                <a:spcPts val="0"/>
              </a:spcAft>
              <a:buClr>
                <a:schemeClr val="dk1"/>
              </a:buClr>
              <a:buSzPts val="1800"/>
              <a:buChar char="•"/>
            </a:pPr>
            <a:r>
              <a:rPr lang="en-US"/>
              <a:t>C/C++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9" name="Shape 249"/>
        <p:cNvGrpSpPr/>
        <p:nvPr/>
      </p:nvGrpSpPr>
      <p:grpSpPr>
        <a:xfrm>
          <a:off x="0" y="0"/>
          <a:ext cx="0" cy="0"/>
          <a:chOff x="0" y="0"/>
          <a:chExt cx="0" cy="0"/>
        </a:xfrm>
      </p:grpSpPr>
      <p:sp>
        <p:nvSpPr>
          <p:cNvPr id="250" name="Google Shape;250;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800"/>
              <a:buNone/>
            </a:pPr>
            <a:r>
              <a:rPr lang="en-US"/>
              <a:t>Useful python modules</a:t>
            </a:r>
            <a:endParaRPr/>
          </a:p>
        </p:txBody>
      </p:sp>
      <p:sp>
        <p:nvSpPr>
          <p:cNvPr id="251" name="Google Shape;251;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360"/>
              </a:spcBef>
              <a:spcAft>
                <a:spcPts val="0"/>
              </a:spcAft>
              <a:buClr>
                <a:schemeClr val="dk1"/>
              </a:buClr>
              <a:buSzPts val="1800"/>
              <a:buChar char="•"/>
            </a:pPr>
            <a:r>
              <a:rPr lang="en-US"/>
              <a:t>The following python modules are the most useful python modules for scientific computing and data science related tasks:</a:t>
            </a:r>
            <a:endParaRPr/>
          </a:p>
          <a:p>
            <a:pPr indent="-342900" lvl="1" marL="914400" rtl="0" algn="l">
              <a:lnSpc>
                <a:spcPct val="100000"/>
              </a:lnSpc>
              <a:spcBef>
                <a:spcPts val="360"/>
              </a:spcBef>
              <a:spcAft>
                <a:spcPts val="0"/>
              </a:spcAft>
              <a:buSzPts val="1800"/>
              <a:buChar char="–"/>
            </a:pPr>
            <a:r>
              <a:rPr lang="en-US"/>
              <a:t>Scipy</a:t>
            </a:r>
            <a:endParaRPr/>
          </a:p>
          <a:p>
            <a:pPr indent="-342900" lvl="1" marL="914400" rtl="0" algn="l">
              <a:lnSpc>
                <a:spcPct val="100000"/>
              </a:lnSpc>
              <a:spcBef>
                <a:spcPts val="360"/>
              </a:spcBef>
              <a:spcAft>
                <a:spcPts val="0"/>
              </a:spcAft>
              <a:buSzPts val="1800"/>
              <a:buChar char="–"/>
            </a:pPr>
            <a:r>
              <a:rPr lang="en-US"/>
              <a:t>Numpy</a:t>
            </a:r>
            <a:endParaRPr/>
          </a:p>
          <a:p>
            <a:pPr indent="-342900" lvl="1" marL="914400" rtl="0" algn="l">
              <a:lnSpc>
                <a:spcPct val="100000"/>
              </a:lnSpc>
              <a:spcBef>
                <a:spcPts val="360"/>
              </a:spcBef>
              <a:spcAft>
                <a:spcPts val="0"/>
              </a:spcAft>
              <a:buSzPts val="1800"/>
              <a:buChar char="–"/>
            </a:pPr>
            <a:r>
              <a:rPr lang="en-US"/>
              <a:t>Pandas</a:t>
            </a:r>
            <a:endParaRPr/>
          </a:p>
          <a:p>
            <a:pPr indent="-342900" lvl="1" marL="914400" rtl="0" algn="l">
              <a:lnSpc>
                <a:spcPct val="100000"/>
              </a:lnSpc>
              <a:spcBef>
                <a:spcPts val="360"/>
              </a:spcBef>
              <a:spcAft>
                <a:spcPts val="0"/>
              </a:spcAft>
              <a:buSzPts val="1800"/>
              <a:buChar char="–"/>
            </a:pPr>
            <a:r>
              <a:rPr lang="en-US"/>
              <a:t>Matplotlib</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Additional resources</a:t>
            </a:r>
            <a:endParaRPr/>
          </a:p>
        </p:txBody>
      </p:sp>
      <p:sp>
        <p:nvSpPr>
          <p:cNvPr id="257" name="Google Shape;257;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640"/>
              </a:spcBef>
              <a:spcAft>
                <a:spcPts val="0"/>
              </a:spcAft>
              <a:buSzPts val="3200"/>
              <a:buChar char="•"/>
            </a:pPr>
            <a:r>
              <a:rPr lang="en-US"/>
              <a:t>Practical coding books for bioinformatics (already recommended in week 1):</a:t>
            </a:r>
            <a:endParaRPr/>
          </a:p>
          <a:p>
            <a:pPr indent="-285750" lvl="1" marL="742950" rtl="0" algn="l">
              <a:lnSpc>
                <a:spcPct val="90000"/>
              </a:lnSpc>
              <a:spcBef>
                <a:spcPts val="560"/>
              </a:spcBef>
              <a:spcAft>
                <a:spcPts val="0"/>
              </a:spcAft>
              <a:buClr>
                <a:schemeClr val="dk1"/>
              </a:buClr>
              <a:buSzPts val="2800"/>
              <a:buChar char="–"/>
            </a:pPr>
            <a:r>
              <a:rPr lang="en-US"/>
              <a:t>A primer for computational Biology (both Python and R are included)</a:t>
            </a:r>
            <a:endParaRPr/>
          </a:p>
          <a:p>
            <a:pPr indent="-228600" lvl="2" marL="1143000" rtl="0" algn="l">
              <a:lnSpc>
                <a:spcPct val="90000"/>
              </a:lnSpc>
              <a:spcBef>
                <a:spcPts val="480"/>
              </a:spcBef>
              <a:spcAft>
                <a:spcPts val="0"/>
              </a:spcAft>
              <a:buClr>
                <a:schemeClr val="dk1"/>
              </a:buClr>
              <a:buSzPts val="2400"/>
              <a:buChar char="•"/>
            </a:pPr>
            <a:r>
              <a:rPr lang="en-US" u="sng">
                <a:solidFill>
                  <a:schemeClr val="hlink"/>
                </a:solidFill>
                <a:hlinkClick r:id="rId3"/>
              </a:rPr>
              <a:t>http://library.open.oregonstate.edu/computationalbiology/</a:t>
            </a:r>
            <a:endParaRPr/>
          </a:p>
          <a:p>
            <a:pPr indent="-285750" lvl="1" marL="742950" rtl="0" algn="l">
              <a:lnSpc>
                <a:spcPct val="90000"/>
              </a:lnSpc>
              <a:spcBef>
                <a:spcPts val="560"/>
              </a:spcBef>
              <a:spcAft>
                <a:spcPts val="0"/>
              </a:spcAft>
              <a:buClr>
                <a:schemeClr val="dk1"/>
              </a:buClr>
              <a:buSzPts val="2800"/>
              <a:buChar char="–"/>
            </a:pPr>
            <a:r>
              <a:rPr lang="en-US"/>
              <a:t>Bioinformatics Programming Using Python:</a:t>
            </a:r>
            <a:endParaRPr/>
          </a:p>
          <a:p>
            <a:pPr indent="-228600" lvl="2" marL="1143000" rtl="0" algn="l">
              <a:lnSpc>
                <a:spcPct val="90000"/>
              </a:lnSpc>
              <a:spcBef>
                <a:spcPts val="480"/>
              </a:spcBef>
              <a:spcAft>
                <a:spcPts val="0"/>
              </a:spcAft>
              <a:buClr>
                <a:schemeClr val="dk1"/>
              </a:buClr>
              <a:buSzPts val="2400"/>
              <a:buChar char="•"/>
            </a:pPr>
            <a:r>
              <a:rPr lang="en-US" u="sng">
                <a:solidFill>
                  <a:schemeClr val="hlink"/>
                </a:solidFill>
                <a:hlinkClick r:id="rId4"/>
              </a:rPr>
              <a:t>http://oez.es/Bioinformatics%20Programming%20Using%20Python.pdf</a:t>
            </a:r>
            <a:endParaRPr/>
          </a:p>
          <a:p>
            <a:pPr indent="-139700" lvl="0" marL="342900" rtl="0" algn="l">
              <a:lnSpc>
                <a:spcPct val="90000"/>
              </a:lnSpc>
              <a:spcBef>
                <a:spcPts val="640"/>
              </a:spcBef>
              <a:spcAft>
                <a:spcPts val="0"/>
              </a:spcAft>
              <a:buClr>
                <a:schemeClr val="dk1"/>
              </a:buClr>
              <a:buSzPts val="3200"/>
              <a:buNone/>
            </a:pPr>
            <a:r>
              <a:t/>
            </a:r>
            <a:endParaRPr/>
          </a:p>
          <a:p>
            <a:pPr indent="-139700" lvl="0" marL="342900" rtl="0" algn="l">
              <a:lnSpc>
                <a:spcPct val="90000"/>
              </a:lnSpc>
              <a:spcBef>
                <a:spcPts val="640"/>
              </a:spcBef>
              <a:spcAft>
                <a:spcPts val="0"/>
              </a:spcAft>
              <a:buClr>
                <a:schemeClr val="dk1"/>
              </a:buClr>
              <a:buSzPts val="32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1" name="Shape 261"/>
        <p:cNvGrpSpPr/>
        <p:nvPr/>
      </p:nvGrpSpPr>
      <p:grpSpPr>
        <a:xfrm>
          <a:off x="0" y="0"/>
          <a:ext cx="0" cy="0"/>
          <a:chOff x="0" y="0"/>
          <a:chExt cx="0" cy="0"/>
        </a:xfrm>
      </p:grpSpPr>
      <p:sp>
        <p:nvSpPr>
          <p:cNvPr id="262" name="Google Shape;262;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US"/>
              <a:t>Summary</a:t>
            </a:r>
            <a:endParaRPr/>
          </a:p>
        </p:txBody>
      </p:sp>
      <p:sp>
        <p:nvSpPr>
          <p:cNvPr id="263" name="Google Shape;26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dk1"/>
              </a:buClr>
              <a:buSzPts val="2480"/>
              <a:buChar char="•"/>
            </a:pPr>
            <a:r>
              <a:rPr lang="en-US" sz="2480"/>
              <a:t>Python is a general purpose programming language that is also easy to learn and code.</a:t>
            </a:r>
            <a:endParaRPr/>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Python is also very popular in the bioinformatics community.</a:t>
            </a:r>
            <a:endParaRPr/>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There are many basic biological sequence analysis that could be done with python scripting. These toy examples not only help you learn how to apply python scripting to solve biological problems, but also lay the foundation for understanding more complex problems and algorithms. </a:t>
            </a:r>
            <a:endParaRPr sz="2480"/>
          </a:p>
          <a:p>
            <a:pPr indent="-185420" lvl="0" marL="342900" rtl="0" algn="l">
              <a:lnSpc>
                <a:spcPct val="80000"/>
              </a:lnSpc>
              <a:spcBef>
                <a:spcPts val="496"/>
              </a:spcBef>
              <a:spcAft>
                <a:spcPts val="0"/>
              </a:spcAft>
              <a:buClr>
                <a:schemeClr val="dk1"/>
              </a:buClr>
              <a:buSzPts val="2480"/>
              <a:buNone/>
            </a:pPr>
            <a:r>
              <a:t/>
            </a:r>
            <a:endParaRPr sz="2480"/>
          </a:p>
          <a:p>
            <a:pPr indent="-342900" lvl="0" marL="342900" rtl="0" algn="l">
              <a:lnSpc>
                <a:spcPct val="80000"/>
              </a:lnSpc>
              <a:spcBef>
                <a:spcPts val="496"/>
              </a:spcBef>
              <a:spcAft>
                <a:spcPts val="0"/>
              </a:spcAft>
              <a:buClr>
                <a:schemeClr val="dk1"/>
              </a:buClr>
              <a:buSzPts val="2480"/>
              <a:buChar char="•"/>
            </a:pPr>
            <a:r>
              <a:rPr lang="en-US" sz="2480"/>
              <a:t>There are other programming languages used in bioinformatics. R is another programming language that is very popular in bioinformatics.</a:t>
            </a:r>
            <a:endParaRPr sz="248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