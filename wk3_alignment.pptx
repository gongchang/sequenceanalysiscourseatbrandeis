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57" r:id="rId3"/>
    <p:sldId id="300" r:id="rId4"/>
    <p:sldId id="259" r:id="rId5"/>
    <p:sldId id="302" r:id="rId6"/>
    <p:sldId id="303" r:id="rId7"/>
    <p:sldId id="316" r:id="rId8"/>
    <p:sldId id="315" r:id="rId9"/>
    <p:sldId id="310" r:id="rId10"/>
    <p:sldId id="317" r:id="rId11"/>
    <p:sldId id="309" r:id="rId12"/>
    <p:sldId id="318" r:id="rId13"/>
    <p:sldId id="320" r:id="rId14"/>
    <p:sldId id="312" r:id="rId15"/>
    <p:sldId id="322" r:id="rId16"/>
    <p:sldId id="321" r:id="rId17"/>
    <p:sldId id="307" r:id="rId18"/>
    <p:sldId id="319" r:id="rId19"/>
    <p:sldId id="325" r:id="rId20"/>
    <p:sldId id="323" r:id="rId21"/>
    <p:sldId id="305" r:id="rId22"/>
    <p:sldId id="313" r:id="rId23"/>
    <p:sldId id="314" r:id="rId24"/>
    <p:sldId id="304" r:id="rId25"/>
    <p:sldId id="324" r:id="rId26"/>
    <p:sldId id="308"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2" d="100"/>
          <a:sy n="62" d="100"/>
        </p:scale>
        <p:origin x="-900"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7FBEBD2-4EAB-42D6-8F58-0555B7CE093B}" type="datetimeFigureOut">
              <a:rPr lang="en-US" smtClean="0"/>
              <a:t>11/20/2018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AEB3DFD-6561-4E88-9C11-46FDBE718CC6}" type="slidenum">
              <a:rPr lang="en-US" smtClean="0"/>
              <a:t>‹#›</a:t>
            </a:fld>
            <a:endParaRPr lang="en-US"/>
          </a:p>
        </p:txBody>
      </p:sp>
    </p:spTree>
    <p:extLst>
      <p:ext uri="{BB962C8B-B14F-4D97-AF65-F5344CB8AC3E}">
        <p14:creationId xmlns:p14="http://schemas.microsoft.com/office/powerpoint/2010/main" val="31940082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13C071D-79A4-3347-9453-E64E17D365C1}" type="slidenum">
              <a:rPr lang="en-US"/>
              <a:pPr/>
              <a:t>4</a:t>
            </a:fld>
            <a:endParaRPr lang="en-US"/>
          </a:p>
        </p:txBody>
      </p:sp>
      <p:sp>
        <p:nvSpPr>
          <p:cNvPr id="165890" name="Rectangle 2"/>
          <p:cNvSpPr>
            <a:spLocks noGrp="1" noRot="1" noChangeAspect="1" noChangeArrowheads="1" noTextEdit="1"/>
          </p:cNvSpPr>
          <p:nvPr>
            <p:ph type="sldImg"/>
          </p:nvPr>
        </p:nvSpPr>
        <p:spPr>
          <a:ln/>
        </p:spPr>
      </p:sp>
      <p:sp>
        <p:nvSpPr>
          <p:cNvPr id="165891"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5D8A89A-2032-43AA-B757-44316F0F5400}" type="datetimeFigureOut">
              <a:rPr lang="en-US" smtClean="0"/>
              <a:t>11/20/2018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8C22D9-CC2E-41F1-977C-09AA9217FF3D}" type="slidenum">
              <a:rPr lang="en-US" smtClean="0"/>
              <a:t>‹#›</a:t>
            </a:fld>
            <a:endParaRPr lang="en-US"/>
          </a:p>
        </p:txBody>
      </p:sp>
    </p:spTree>
    <p:extLst>
      <p:ext uri="{BB962C8B-B14F-4D97-AF65-F5344CB8AC3E}">
        <p14:creationId xmlns:p14="http://schemas.microsoft.com/office/powerpoint/2010/main" val="41777238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5D8A89A-2032-43AA-B757-44316F0F5400}" type="datetimeFigureOut">
              <a:rPr lang="en-US" smtClean="0"/>
              <a:t>11/20/2018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8C22D9-CC2E-41F1-977C-09AA9217FF3D}" type="slidenum">
              <a:rPr lang="en-US" smtClean="0"/>
              <a:t>‹#›</a:t>
            </a:fld>
            <a:endParaRPr lang="en-US"/>
          </a:p>
        </p:txBody>
      </p:sp>
    </p:spTree>
    <p:extLst>
      <p:ext uri="{BB962C8B-B14F-4D97-AF65-F5344CB8AC3E}">
        <p14:creationId xmlns:p14="http://schemas.microsoft.com/office/powerpoint/2010/main" val="9882590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5D8A89A-2032-43AA-B757-44316F0F5400}" type="datetimeFigureOut">
              <a:rPr lang="en-US" smtClean="0"/>
              <a:t>11/20/2018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8C22D9-CC2E-41F1-977C-09AA9217FF3D}" type="slidenum">
              <a:rPr lang="en-US" smtClean="0"/>
              <a:t>‹#›</a:t>
            </a:fld>
            <a:endParaRPr lang="en-US"/>
          </a:p>
        </p:txBody>
      </p:sp>
    </p:spTree>
    <p:extLst>
      <p:ext uri="{BB962C8B-B14F-4D97-AF65-F5344CB8AC3E}">
        <p14:creationId xmlns:p14="http://schemas.microsoft.com/office/powerpoint/2010/main" val="29120685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5D8A89A-2032-43AA-B757-44316F0F5400}" type="datetimeFigureOut">
              <a:rPr lang="en-US" smtClean="0"/>
              <a:t>11/20/2018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8C22D9-CC2E-41F1-977C-09AA9217FF3D}" type="slidenum">
              <a:rPr lang="en-US" smtClean="0"/>
              <a:t>‹#›</a:t>
            </a:fld>
            <a:endParaRPr lang="en-US"/>
          </a:p>
        </p:txBody>
      </p:sp>
    </p:spTree>
    <p:extLst>
      <p:ext uri="{BB962C8B-B14F-4D97-AF65-F5344CB8AC3E}">
        <p14:creationId xmlns:p14="http://schemas.microsoft.com/office/powerpoint/2010/main" val="3294612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5D8A89A-2032-43AA-B757-44316F0F5400}" type="datetimeFigureOut">
              <a:rPr lang="en-US" smtClean="0"/>
              <a:t>11/20/2018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8C22D9-CC2E-41F1-977C-09AA9217FF3D}" type="slidenum">
              <a:rPr lang="en-US" smtClean="0"/>
              <a:t>‹#›</a:t>
            </a:fld>
            <a:endParaRPr lang="en-US"/>
          </a:p>
        </p:txBody>
      </p:sp>
    </p:spTree>
    <p:extLst>
      <p:ext uri="{BB962C8B-B14F-4D97-AF65-F5344CB8AC3E}">
        <p14:creationId xmlns:p14="http://schemas.microsoft.com/office/powerpoint/2010/main" val="17250395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5D8A89A-2032-43AA-B757-44316F0F5400}" type="datetimeFigureOut">
              <a:rPr lang="en-US" smtClean="0"/>
              <a:t>11/20/2018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8C22D9-CC2E-41F1-977C-09AA9217FF3D}" type="slidenum">
              <a:rPr lang="en-US" smtClean="0"/>
              <a:t>‹#›</a:t>
            </a:fld>
            <a:endParaRPr lang="en-US"/>
          </a:p>
        </p:txBody>
      </p:sp>
    </p:spTree>
    <p:extLst>
      <p:ext uri="{BB962C8B-B14F-4D97-AF65-F5344CB8AC3E}">
        <p14:creationId xmlns:p14="http://schemas.microsoft.com/office/powerpoint/2010/main" val="2809387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5D8A89A-2032-43AA-B757-44316F0F5400}" type="datetimeFigureOut">
              <a:rPr lang="en-US" smtClean="0"/>
              <a:t>11/20/2018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8C22D9-CC2E-41F1-977C-09AA9217FF3D}" type="slidenum">
              <a:rPr lang="en-US" smtClean="0"/>
              <a:t>‹#›</a:t>
            </a:fld>
            <a:endParaRPr lang="en-US"/>
          </a:p>
        </p:txBody>
      </p:sp>
    </p:spTree>
    <p:extLst>
      <p:ext uri="{BB962C8B-B14F-4D97-AF65-F5344CB8AC3E}">
        <p14:creationId xmlns:p14="http://schemas.microsoft.com/office/powerpoint/2010/main" val="1869733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5D8A89A-2032-43AA-B757-44316F0F5400}" type="datetimeFigureOut">
              <a:rPr lang="en-US" smtClean="0"/>
              <a:t>11/20/2018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8C22D9-CC2E-41F1-977C-09AA9217FF3D}" type="slidenum">
              <a:rPr lang="en-US" smtClean="0"/>
              <a:t>‹#›</a:t>
            </a:fld>
            <a:endParaRPr lang="en-US"/>
          </a:p>
        </p:txBody>
      </p:sp>
    </p:spTree>
    <p:extLst>
      <p:ext uri="{BB962C8B-B14F-4D97-AF65-F5344CB8AC3E}">
        <p14:creationId xmlns:p14="http://schemas.microsoft.com/office/powerpoint/2010/main" val="28625307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5D8A89A-2032-43AA-B757-44316F0F5400}" type="datetimeFigureOut">
              <a:rPr lang="en-US" smtClean="0"/>
              <a:t>11/20/2018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8C22D9-CC2E-41F1-977C-09AA9217FF3D}" type="slidenum">
              <a:rPr lang="en-US" smtClean="0"/>
              <a:t>‹#›</a:t>
            </a:fld>
            <a:endParaRPr lang="en-US"/>
          </a:p>
        </p:txBody>
      </p:sp>
    </p:spTree>
    <p:extLst>
      <p:ext uri="{BB962C8B-B14F-4D97-AF65-F5344CB8AC3E}">
        <p14:creationId xmlns:p14="http://schemas.microsoft.com/office/powerpoint/2010/main" val="35460661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5D8A89A-2032-43AA-B757-44316F0F5400}" type="datetimeFigureOut">
              <a:rPr lang="en-US" smtClean="0"/>
              <a:t>11/20/2018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8C22D9-CC2E-41F1-977C-09AA9217FF3D}" type="slidenum">
              <a:rPr lang="en-US" smtClean="0"/>
              <a:t>‹#›</a:t>
            </a:fld>
            <a:endParaRPr lang="en-US"/>
          </a:p>
        </p:txBody>
      </p:sp>
    </p:spTree>
    <p:extLst>
      <p:ext uri="{BB962C8B-B14F-4D97-AF65-F5344CB8AC3E}">
        <p14:creationId xmlns:p14="http://schemas.microsoft.com/office/powerpoint/2010/main" val="21012952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5D8A89A-2032-43AA-B757-44316F0F5400}" type="datetimeFigureOut">
              <a:rPr lang="en-US" smtClean="0"/>
              <a:t>11/20/2018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8C22D9-CC2E-41F1-977C-09AA9217FF3D}" type="slidenum">
              <a:rPr lang="en-US" smtClean="0"/>
              <a:t>‹#›</a:t>
            </a:fld>
            <a:endParaRPr lang="en-US"/>
          </a:p>
        </p:txBody>
      </p:sp>
    </p:spTree>
    <p:extLst>
      <p:ext uri="{BB962C8B-B14F-4D97-AF65-F5344CB8AC3E}">
        <p14:creationId xmlns:p14="http://schemas.microsoft.com/office/powerpoint/2010/main" val="36635716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D8A89A-2032-43AA-B757-44316F0F5400}" type="datetimeFigureOut">
              <a:rPr lang="en-US" smtClean="0"/>
              <a:t>11/20/2018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8C22D9-CC2E-41F1-977C-09AA9217FF3D}" type="slidenum">
              <a:rPr lang="en-US" smtClean="0"/>
              <a:t>‹#›</a:t>
            </a:fld>
            <a:endParaRPr lang="en-US"/>
          </a:p>
        </p:txBody>
      </p:sp>
    </p:spTree>
    <p:extLst>
      <p:ext uri="{BB962C8B-B14F-4D97-AF65-F5344CB8AC3E}">
        <p14:creationId xmlns:p14="http://schemas.microsoft.com/office/powerpoint/2010/main" val="3265686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ebi.ac.uk/Tools/psa/" TargetMode="External"/><Relationship Id="rId2" Type="http://schemas.openxmlformats.org/officeDocument/2006/relationships/hyperlink" Target="http://www.sacs.ucsf.edu/Resources/sequenceweb.html"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ebi.ac.uk/Tools/msa/" TargetMode="External"/><Relationship Id="rId2" Type="http://schemas.openxmlformats.org/officeDocument/2006/relationships/hyperlink" Target="http://www.sacs.ucsf.edu/Resources/sequenceweb.html"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en.wikipedia.org/wiki/FASTA_format" TargetMode="External"/><Relationship Id="rId2" Type="http://schemas.openxmlformats.org/officeDocument/2006/relationships/hyperlink" Target="https://www.ebi.ac.uk/Tools/msa/muscle/" TargetMode="Externa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2" Type="http://schemas.openxmlformats.org/officeDocument/2006/relationships/hyperlink" Target="https://www.uniprot.org/uniprot/P04637.fasta"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genome.ucsc.edu/cgi-bin/hgBlat?command=start"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www.ibm.com/developerworks/library/j-seqalign/index.html" TargetMode="External"/><Relationship Id="rId2" Type="http://schemas.openxmlformats.org/officeDocument/2006/relationships/hyperlink" Target="http://avatar.se/lectures/molbioinfo2001/dynprog/dynamic.html"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bioinformaticsinstitute.ru/sites/default/files/an_introduction_to_bioinformatics_algorithms_-_jones_pevzner.pdf"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Biological Sequence Analysis</a:t>
            </a:r>
            <a:endParaRPr lang="en-US" dirty="0"/>
          </a:p>
        </p:txBody>
      </p:sp>
      <p:sp>
        <p:nvSpPr>
          <p:cNvPr id="3" name="Subtitle 2"/>
          <p:cNvSpPr>
            <a:spLocks noGrp="1"/>
          </p:cNvSpPr>
          <p:nvPr>
            <p:ph type="subTitle" idx="1"/>
          </p:nvPr>
        </p:nvSpPr>
        <p:spPr/>
        <p:txBody>
          <a:bodyPr/>
          <a:lstStyle/>
          <a:p>
            <a:r>
              <a:rPr lang="en-US" dirty="0" smtClean="0"/>
              <a:t>Sequence alignment</a:t>
            </a:r>
            <a:endParaRPr lang="en-US" dirty="0"/>
          </a:p>
        </p:txBody>
      </p:sp>
    </p:spTree>
    <p:extLst>
      <p:ext uri="{BB962C8B-B14F-4D97-AF65-F5344CB8AC3E}">
        <p14:creationId xmlns:p14="http://schemas.microsoft.com/office/powerpoint/2010/main" val="16817662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Outline</a:t>
            </a:r>
            <a:endParaRPr lang="en-US" dirty="0"/>
          </a:p>
        </p:txBody>
      </p:sp>
      <p:sp>
        <p:nvSpPr>
          <p:cNvPr id="3" name="Content Placeholder 2"/>
          <p:cNvSpPr>
            <a:spLocks noGrp="1"/>
          </p:cNvSpPr>
          <p:nvPr>
            <p:ph idx="1"/>
          </p:nvPr>
        </p:nvSpPr>
        <p:spPr/>
        <p:txBody>
          <a:bodyPr/>
          <a:lstStyle/>
          <a:p>
            <a:r>
              <a:rPr lang="en-US" dirty="0" smtClean="0"/>
              <a:t>Pairwise sequence alignment</a:t>
            </a:r>
          </a:p>
          <a:p>
            <a:pPr lvl="1"/>
            <a:r>
              <a:rPr lang="en-US" dirty="0" smtClean="0"/>
              <a:t>Alignment between two sequences</a:t>
            </a:r>
          </a:p>
          <a:p>
            <a:endParaRPr lang="en-US" dirty="0"/>
          </a:p>
          <a:p>
            <a:r>
              <a:rPr lang="en-US" dirty="0" smtClean="0"/>
              <a:t>Multiple sequence alignment</a:t>
            </a:r>
          </a:p>
          <a:p>
            <a:pPr lvl="1"/>
            <a:r>
              <a:rPr lang="en-US" dirty="0" smtClean="0"/>
              <a:t>Alignment of &gt;2 sequences</a:t>
            </a:r>
          </a:p>
          <a:p>
            <a:pPr lvl="1"/>
            <a:endParaRPr lang="en-US" dirty="0"/>
          </a:p>
          <a:p>
            <a:r>
              <a:rPr lang="en-US" dirty="0" smtClean="0"/>
              <a:t>Genomic alignment</a:t>
            </a:r>
          </a:p>
          <a:p>
            <a:pPr lvl="1"/>
            <a:r>
              <a:rPr lang="en-US" dirty="0" smtClean="0"/>
              <a:t>Aligning a sequence to the genome</a:t>
            </a:r>
          </a:p>
          <a:p>
            <a:endParaRPr lang="en-US" dirty="0"/>
          </a:p>
          <a:p>
            <a:pPr marL="0" indent="0">
              <a:buNone/>
            </a:pPr>
            <a:endParaRPr lang="en-US" dirty="0"/>
          </a:p>
        </p:txBody>
      </p:sp>
    </p:spTree>
    <p:extLst>
      <p:ext uri="{BB962C8B-B14F-4D97-AF65-F5344CB8AC3E}">
        <p14:creationId xmlns:p14="http://schemas.microsoft.com/office/powerpoint/2010/main" val="3837616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Sequence alignment</a:t>
            </a:r>
            <a:endParaRPr lang="en-US" dirty="0"/>
          </a:p>
        </p:txBody>
      </p:sp>
      <p:sp>
        <p:nvSpPr>
          <p:cNvPr id="3" name="Content Placeholder 2"/>
          <p:cNvSpPr>
            <a:spLocks noGrp="1"/>
          </p:cNvSpPr>
          <p:nvPr>
            <p:ph idx="1"/>
          </p:nvPr>
        </p:nvSpPr>
        <p:spPr/>
        <p:txBody>
          <a:bodyPr/>
          <a:lstStyle/>
          <a:p>
            <a:r>
              <a:rPr lang="en-US" dirty="0" smtClean="0"/>
              <a:t>Sequence alignment is a way of arranging two or more sequences (DNA, RNA, or protein) to identify regions of similarity. </a:t>
            </a:r>
          </a:p>
          <a:p>
            <a:endParaRPr lang="en-US" dirty="0"/>
          </a:p>
          <a:p>
            <a:r>
              <a:rPr lang="en-US" dirty="0" smtClean="0"/>
              <a:t>How to define similarity or dissimilarity?</a:t>
            </a:r>
            <a:endParaRPr lang="en-US" dirty="0"/>
          </a:p>
        </p:txBody>
      </p:sp>
    </p:spTree>
    <p:extLst>
      <p:ext uri="{BB962C8B-B14F-4D97-AF65-F5344CB8AC3E}">
        <p14:creationId xmlns:p14="http://schemas.microsoft.com/office/powerpoint/2010/main" val="4942502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title"/>
          </p:nvPr>
        </p:nvSpPr>
        <p:spPr/>
        <p:txBody>
          <a:bodyPr/>
          <a:lstStyle/>
          <a:p>
            <a:r>
              <a:rPr lang="en-US" sz="3200" dirty="0" smtClean="0"/>
              <a:t>Similarity measure</a:t>
            </a:r>
            <a:endParaRPr lang="en-US" dirty="0"/>
          </a:p>
        </p:txBody>
      </p:sp>
      <p:sp>
        <p:nvSpPr>
          <p:cNvPr id="140291" name="Rectangle 3"/>
          <p:cNvSpPr>
            <a:spLocks noGrp="1" noChangeArrowheads="1"/>
          </p:cNvSpPr>
          <p:nvPr>
            <p:ph idx="1"/>
          </p:nvPr>
        </p:nvSpPr>
        <p:spPr>
          <a:xfrm>
            <a:off x="457200" y="1600201"/>
            <a:ext cx="8229600" cy="2514600"/>
          </a:xfrm>
        </p:spPr>
        <p:txBody>
          <a:bodyPr>
            <a:normAutofit lnSpcReduction="10000"/>
          </a:bodyPr>
          <a:lstStyle/>
          <a:p>
            <a:pPr>
              <a:lnSpc>
                <a:spcPct val="90000"/>
              </a:lnSpc>
            </a:pPr>
            <a:r>
              <a:rPr lang="en-US" sz="2400" dirty="0"/>
              <a:t>How </a:t>
            </a:r>
            <a:r>
              <a:rPr lang="en-US" sz="2400" dirty="0" smtClean="0"/>
              <a:t>to </a:t>
            </a:r>
            <a:r>
              <a:rPr lang="en-US" sz="2400" dirty="0"/>
              <a:t>measure </a:t>
            </a:r>
            <a:r>
              <a:rPr lang="en-US" sz="2400" dirty="0" smtClean="0"/>
              <a:t>the similarity </a:t>
            </a:r>
            <a:r>
              <a:rPr lang="en-US" sz="2400" dirty="0"/>
              <a:t>between </a:t>
            </a:r>
            <a:r>
              <a:rPr lang="en-US" sz="2400" dirty="0" smtClean="0"/>
              <a:t>DNA sequences?</a:t>
            </a:r>
          </a:p>
          <a:p>
            <a:pPr lvl="1">
              <a:lnSpc>
                <a:spcPct val="90000"/>
              </a:lnSpc>
            </a:pPr>
            <a:r>
              <a:rPr lang="en-US" sz="2400" dirty="0" smtClean="0"/>
              <a:t>Percentage of different nucleotides ? </a:t>
            </a:r>
            <a:endParaRPr lang="en-US" sz="2400" dirty="0"/>
          </a:p>
          <a:p>
            <a:pPr lvl="1">
              <a:lnSpc>
                <a:spcPct val="90000"/>
              </a:lnSpc>
            </a:pPr>
            <a:r>
              <a:rPr lang="en-US" sz="2400" dirty="0" smtClean="0"/>
              <a:t>K-</a:t>
            </a:r>
            <a:r>
              <a:rPr lang="en-US" sz="2400" dirty="0" err="1" smtClean="0"/>
              <a:t>mer</a:t>
            </a:r>
            <a:r>
              <a:rPr lang="en-US" sz="2400" dirty="0" smtClean="0"/>
              <a:t> content correlation?</a:t>
            </a:r>
          </a:p>
          <a:p>
            <a:pPr lvl="1">
              <a:lnSpc>
                <a:spcPct val="90000"/>
              </a:lnSpc>
            </a:pPr>
            <a:r>
              <a:rPr lang="en-US" sz="2400" dirty="0"/>
              <a:t>Number of edit operations to change one sequence into another</a:t>
            </a:r>
            <a:r>
              <a:rPr lang="en-US" sz="2400" dirty="0" smtClean="0"/>
              <a:t>?</a:t>
            </a:r>
          </a:p>
          <a:p>
            <a:pPr lvl="1">
              <a:lnSpc>
                <a:spcPct val="90000"/>
              </a:lnSpc>
            </a:pPr>
            <a:r>
              <a:rPr lang="en-US" sz="2400" dirty="0" smtClean="0"/>
              <a:t>Align the sequences and define distance functions based on the alignment?</a:t>
            </a:r>
          </a:p>
          <a:p>
            <a:pPr>
              <a:lnSpc>
                <a:spcPct val="90000"/>
              </a:lnSpc>
            </a:pPr>
            <a:endParaRPr lang="en-US" sz="2400" dirty="0"/>
          </a:p>
          <a:p>
            <a:pPr marL="457200" lvl="1" indent="0">
              <a:lnSpc>
                <a:spcPct val="90000"/>
              </a:lnSpc>
              <a:buNone/>
            </a:pPr>
            <a:endParaRPr lang="en-US" sz="2400" dirty="0"/>
          </a:p>
        </p:txBody>
      </p:sp>
    </p:spTree>
    <p:extLst>
      <p:ext uri="{BB962C8B-B14F-4D97-AF65-F5344CB8AC3E}">
        <p14:creationId xmlns:p14="http://schemas.microsoft.com/office/powerpoint/2010/main" val="142581506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Global and local alignment</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Global alignment tries to find the best alignment between the entire length of one sequence and the entire length of another sequence, while local alignment can use just part of their sequences to obtain the optimal local matching (a maximum similarity score).</a:t>
            </a:r>
          </a:p>
          <a:p>
            <a:endParaRPr lang="en-US" dirty="0"/>
          </a:p>
          <a:p>
            <a:r>
              <a:rPr lang="en-US" dirty="0" smtClean="0"/>
              <a:t>Both alignment methods use an approach called dynamic programming to store the alignment scores step by step in a table, and obtain the alignment by tracing the scores backwards in the table. </a:t>
            </a:r>
            <a:endParaRPr lang="en-US" dirty="0"/>
          </a:p>
        </p:txBody>
      </p:sp>
    </p:spTree>
    <p:extLst>
      <p:ext uri="{BB962C8B-B14F-4D97-AF65-F5344CB8AC3E}">
        <p14:creationId xmlns:p14="http://schemas.microsoft.com/office/powerpoint/2010/main" val="15701080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Global and local alignment</a:t>
            </a:r>
          </a:p>
        </p:txBody>
      </p:sp>
      <p:sp>
        <p:nvSpPr>
          <p:cNvPr id="3" name="Content Placeholder 2"/>
          <p:cNvSpPr>
            <a:spLocks noGrp="1"/>
          </p:cNvSpPr>
          <p:nvPr>
            <p:ph idx="1"/>
          </p:nvPr>
        </p:nvSpPr>
        <p:spPr>
          <a:xfrm>
            <a:off x="457200" y="1600201"/>
            <a:ext cx="8229600" cy="1752600"/>
          </a:xfrm>
        </p:spPr>
        <p:txBody>
          <a:bodyPr/>
          <a:lstStyle/>
          <a:p>
            <a:r>
              <a:rPr lang="en-US" dirty="0" smtClean="0"/>
              <a:t>Example:</a:t>
            </a:r>
          </a:p>
          <a:p>
            <a:pPr lvl="1"/>
            <a:r>
              <a:rPr lang="en-US" dirty="0" smtClean="0"/>
              <a:t>Seq1: CGTGAATTCAT</a:t>
            </a:r>
            <a:endParaRPr lang="en-US" dirty="0"/>
          </a:p>
          <a:p>
            <a:pPr lvl="1"/>
            <a:r>
              <a:rPr lang="en-US" dirty="0" smtClean="0"/>
              <a:t>Seq2: GACTTAC</a:t>
            </a: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3364468"/>
            <a:ext cx="2171700" cy="12585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1219200" y="4638307"/>
            <a:ext cx="1905000" cy="369332"/>
          </a:xfrm>
          <a:prstGeom prst="rect">
            <a:avLst/>
          </a:prstGeom>
          <a:noFill/>
        </p:spPr>
        <p:txBody>
          <a:bodyPr wrap="square" rtlCol="0">
            <a:spAutoFit/>
          </a:bodyPr>
          <a:lstStyle/>
          <a:p>
            <a:r>
              <a:rPr lang="en-US" dirty="0" smtClean="0"/>
              <a:t>Global alignment</a:t>
            </a:r>
            <a:endParaRPr lang="en-US" dirty="0"/>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10429" y="3364468"/>
            <a:ext cx="2018971" cy="10972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p:cNvSpPr txBox="1"/>
          <p:nvPr/>
        </p:nvSpPr>
        <p:spPr>
          <a:xfrm>
            <a:off x="4800600" y="4659868"/>
            <a:ext cx="1905000" cy="369332"/>
          </a:xfrm>
          <a:prstGeom prst="rect">
            <a:avLst/>
          </a:prstGeom>
          <a:noFill/>
        </p:spPr>
        <p:txBody>
          <a:bodyPr wrap="square" rtlCol="0">
            <a:spAutoFit/>
          </a:bodyPr>
          <a:lstStyle/>
          <a:p>
            <a:r>
              <a:rPr lang="en-US" dirty="0" smtClean="0"/>
              <a:t>Local alignment</a:t>
            </a:r>
            <a:endParaRPr lang="en-US" dirty="0"/>
          </a:p>
        </p:txBody>
      </p:sp>
      <p:sp>
        <p:nvSpPr>
          <p:cNvPr id="5" name="TextBox 4"/>
          <p:cNvSpPr txBox="1"/>
          <p:nvPr/>
        </p:nvSpPr>
        <p:spPr>
          <a:xfrm>
            <a:off x="609600" y="5486400"/>
            <a:ext cx="8229600" cy="923330"/>
          </a:xfrm>
          <a:prstGeom prst="rect">
            <a:avLst/>
          </a:prstGeom>
          <a:noFill/>
        </p:spPr>
        <p:txBody>
          <a:bodyPr wrap="square" rtlCol="0">
            <a:spAutoFit/>
          </a:bodyPr>
          <a:lstStyle/>
          <a:p>
            <a:r>
              <a:rPr lang="en-US" dirty="0"/>
              <a:t>G</a:t>
            </a:r>
            <a:r>
              <a:rPr lang="en-US" dirty="0" smtClean="0"/>
              <a:t>lobal alignment tries to align the entirety of the sequences and is more tolerate of gaps, while local alignment tries to find the best local matches (subsequence matches) and has a higher punishment for alignment gaps.</a:t>
            </a:r>
            <a:endParaRPr lang="en-US" dirty="0"/>
          </a:p>
        </p:txBody>
      </p:sp>
    </p:spTree>
    <p:extLst>
      <p:ext uri="{BB962C8B-B14F-4D97-AF65-F5344CB8AC3E}">
        <p14:creationId xmlns:p14="http://schemas.microsoft.com/office/powerpoint/2010/main" val="27626969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Evaluating and inferring alignments</a:t>
            </a:r>
            <a:endParaRPr lang="en-US" dirty="0"/>
          </a:p>
        </p:txBody>
      </p:sp>
      <p:sp>
        <p:nvSpPr>
          <p:cNvPr id="3" name="Content Placeholder 2"/>
          <p:cNvSpPr>
            <a:spLocks noGrp="1"/>
          </p:cNvSpPr>
          <p:nvPr>
            <p:ph idx="1"/>
          </p:nvPr>
        </p:nvSpPr>
        <p:spPr/>
        <p:txBody>
          <a:bodyPr>
            <a:normAutofit/>
          </a:bodyPr>
          <a:lstStyle/>
          <a:p>
            <a:r>
              <a:rPr lang="en-US" dirty="0" smtClean="0"/>
              <a:t>Edit distance</a:t>
            </a:r>
          </a:p>
          <a:p>
            <a:pPr lvl="1"/>
            <a:r>
              <a:rPr lang="en-US" dirty="0" smtClean="0"/>
              <a:t>Number of changes needed for converting a sequence (Seq</a:t>
            </a:r>
            <a:r>
              <a:rPr lang="en-US" dirty="0"/>
              <a:t>1</a:t>
            </a:r>
            <a:r>
              <a:rPr lang="en-US" dirty="0" smtClean="0"/>
              <a:t>) into another (Seq2)</a:t>
            </a:r>
          </a:p>
          <a:p>
            <a:r>
              <a:rPr lang="en-US" dirty="0" smtClean="0"/>
              <a:t>Scoring function</a:t>
            </a:r>
          </a:p>
          <a:p>
            <a:pPr lvl="1"/>
            <a:r>
              <a:rPr lang="en-US" dirty="0" smtClean="0"/>
              <a:t>Similarity(alignment) = score(mismatch)+ score(gap)+score(match)</a:t>
            </a:r>
          </a:p>
          <a:p>
            <a:r>
              <a:rPr lang="en-US" dirty="0" smtClean="0"/>
              <a:t>Algorithm for inferring best alignment</a:t>
            </a:r>
          </a:p>
          <a:p>
            <a:pPr lvl="1"/>
            <a:r>
              <a:rPr lang="en-US" dirty="0" smtClean="0"/>
              <a:t>Dynamic programming</a:t>
            </a:r>
            <a:endParaRPr lang="en-US" dirty="0"/>
          </a:p>
        </p:txBody>
      </p:sp>
    </p:spTree>
    <p:extLst>
      <p:ext uri="{BB962C8B-B14F-4D97-AF65-F5344CB8AC3E}">
        <p14:creationId xmlns:p14="http://schemas.microsoft.com/office/powerpoint/2010/main" val="9308885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Dynamic programming</a:t>
            </a:r>
            <a:endParaRPr lang="en-US" dirty="0"/>
          </a:p>
        </p:txBody>
      </p:sp>
      <p:sp>
        <p:nvSpPr>
          <p:cNvPr id="3" name="Content Placeholder 2"/>
          <p:cNvSpPr>
            <a:spLocks noGrp="1"/>
          </p:cNvSpPr>
          <p:nvPr>
            <p:ph idx="1"/>
          </p:nvPr>
        </p:nvSpPr>
        <p:spPr/>
        <p:txBody>
          <a:bodyPr>
            <a:normAutofit lnSpcReduction="10000"/>
          </a:bodyPr>
          <a:lstStyle/>
          <a:p>
            <a:r>
              <a:rPr lang="en-US" dirty="0" smtClean="0"/>
              <a:t>Create a table indexed by (</a:t>
            </a:r>
            <a:r>
              <a:rPr lang="en-US" dirty="0" err="1"/>
              <a:t>i</a:t>
            </a:r>
            <a:r>
              <a:rPr lang="en-US" dirty="0" err="1" smtClean="0"/>
              <a:t>,j</a:t>
            </a:r>
            <a:r>
              <a:rPr lang="en-US" dirty="0" smtClean="0"/>
              <a:t>), the positions of Seq1 and Seq2</a:t>
            </a:r>
          </a:p>
          <a:p>
            <a:r>
              <a:rPr lang="en-US" dirty="0" smtClean="0"/>
              <a:t>Fill the table from the start until the end with the score</a:t>
            </a:r>
          </a:p>
          <a:p>
            <a:r>
              <a:rPr lang="en-US" dirty="0" smtClean="0"/>
              <a:t>The entire search space is guaranteed to be explored</a:t>
            </a:r>
          </a:p>
          <a:p>
            <a:r>
              <a:rPr lang="en-US" dirty="0" smtClean="0"/>
              <a:t>The alignment could be obtained by tracing back the best scores step by step in the score matrix </a:t>
            </a:r>
          </a:p>
          <a:p>
            <a:endParaRPr lang="en-US" dirty="0"/>
          </a:p>
        </p:txBody>
      </p:sp>
    </p:spTree>
    <p:extLst>
      <p:ext uri="{BB962C8B-B14F-4D97-AF65-F5344CB8AC3E}">
        <p14:creationId xmlns:p14="http://schemas.microsoft.com/office/powerpoint/2010/main" val="20207637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Global alignment</a:t>
            </a:r>
            <a:endParaRPr lang="en-US" dirty="0"/>
          </a:p>
        </p:txBody>
      </p:sp>
      <p:sp>
        <p:nvSpPr>
          <p:cNvPr id="3" name="Content Placeholder 2"/>
          <p:cNvSpPr>
            <a:spLocks noGrp="1"/>
          </p:cNvSpPr>
          <p:nvPr>
            <p:ph idx="1"/>
          </p:nvPr>
        </p:nvSpPr>
        <p:spPr/>
        <p:txBody>
          <a:bodyPr/>
          <a:lstStyle/>
          <a:p>
            <a:r>
              <a:rPr lang="en-US" dirty="0" smtClean="0"/>
              <a:t>Needleman-</a:t>
            </a:r>
            <a:r>
              <a:rPr lang="en-US" dirty="0" err="1" smtClean="0"/>
              <a:t>Wunsch</a:t>
            </a:r>
            <a:r>
              <a:rPr lang="en-US" dirty="0" smtClean="0"/>
              <a:t> algorithm</a:t>
            </a:r>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286000"/>
            <a:ext cx="8220075" cy="3524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040734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Global alignment</a:t>
            </a:r>
            <a:endParaRPr lang="en-US" dirty="0"/>
          </a:p>
        </p:txBody>
      </p:sp>
      <p:sp>
        <p:nvSpPr>
          <p:cNvPr id="3" name="Content Placeholder 2"/>
          <p:cNvSpPr>
            <a:spLocks noGrp="1"/>
          </p:cNvSpPr>
          <p:nvPr>
            <p:ph idx="1"/>
          </p:nvPr>
        </p:nvSpPr>
        <p:spPr/>
        <p:txBody>
          <a:bodyPr/>
          <a:lstStyle/>
          <a:p>
            <a:r>
              <a:rPr lang="en-US" dirty="0" smtClean="0"/>
              <a:t>Needleman-</a:t>
            </a:r>
            <a:r>
              <a:rPr lang="en-US" dirty="0" err="1" smtClean="0"/>
              <a:t>Wunsch</a:t>
            </a:r>
            <a:r>
              <a:rPr lang="en-US" dirty="0" smtClean="0"/>
              <a:t> algorithm</a:t>
            </a:r>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2362200"/>
            <a:ext cx="3209925" cy="4276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0200" y="3450907"/>
            <a:ext cx="2849322" cy="10801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943100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Local alignment</a:t>
            </a:r>
            <a:endParaRPr lang="en-US" dirty="0"/>
          </a:p>
        </p:txBody>
      </p:sp>
      <p:sp>
        <p:nvSpPr>
          <p:cNvPr id="4" name="Content Placeholder 3"/>
          <p:cNvSpPr>
            <a:spLocks noGrp="1"/>
          </p:cNvSpPr>
          <p:nvPr>
            <p:ph idx="1"/>
          </p:nvPr>
        </p:nvSpPr>
        <p:spPr/>
        <p:txBody>
          <a:bodyPr/>
          <a:lstStyle/>
          <a:p>
            <a:r>
              <a:rPr lang="en-US" dirty="0" smtClean="0"/>
              <a:t>Smith-Waterman algorithm</a:t>
            </a:r>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362200"/>
            <a:ext cx="8315325" cy="3248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307274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Local alignment</a:t>
            </a:r>
            <a:endParaRPr lang="en-US" dirty="0"/>
          </a:p>
        </p:txBody>
      </p:sp>
      <p:sp>
        <p:nvSpPr>
          <p:cNvPr id="4" name="Content Placeholder 3"/>
          <p:cNvSpPr>
            <a:spLocks noGrp="1"/>
          </p:cNvSpPr>
          <p:nvPr>
            <p:ph idx="1"/>
          </p:nvPr>
        </p:nvSpPr>
        <p:spPr/>
        <p:txBody>
          <a:bodyPr/>
          <a:lstStyle/>
          <a:p>
            <a:r>
              <a:rPr lang="en-US" dirty="0" smtClean="0"/>
              <a:t>Smith-Waterman algorithm</a:t>
            </a:r>
            <a:endParaRPr 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2362200"/>
            <a:ext cx="3248025" cy="4181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5400" y="3171824"/>
            <a:ext cx="2524126" cy="16622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529461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Website to explore global and local alignment</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You can use any two sequences and modify the scoring functions for match, mismatch and gap to see for yourself how alignment is performed.</a:t>
            </a:r>
          </a:p>
          <a:p>
            <a:endParaRPr lang="en-US" dirty="0"/>
          </a:p>
          <a:p>
            <a:r>
              <a:rPr lang="en-US" dirty="0" smtClean="0"/>
              <a:t>Needleman-</a:t>
            </a:r>
            <a:r>
              <a:rPr lang="en-US" dirty="0" err="1" smtClean="0"/>
              <a:t>Wunsch</a:t>
            </a:r>
            <a:endParaRPr lang="en-US" dirty="0" smtClean="0"/>
          </a:p>
          <a:p>
            <a:pPr lvl="1"/>
            <a:r>
              <a:rPr lang="en-US" dirty="0"/>
              <a:t>http://rna.informatik.uni-freiburg.de/Teaching/index.jsp?toolName=Needleman-Wunsch</a:t>
            </a:r>
          </a:p>
          <a:p>
            <a:r>
              <a:rPr lang="en-US" dirty="0" smtClean="0"/>
              <a:t>Smith-Waterman</a:t>
            </a:r>
          </a:p>
          <a:p>
            <a:pPr lvl="1"/>
            <a:r>
              <a:rPr lang="en-US" dirty="0"/>
              <a:t>http://rna.informatik.uni-freiburg.de/Teaching/index.jsp?toolName=Smith-Waterman</a:t>
            </a:r>
            <a:endParaRPr lang="en-US" dirty="0" smtClean="0"/>
          </a:p>
          <a:p>
            <a:pPr lvl="1"/>
            <a:endParaRPr lang="en-US" dirty="0"/>
          </a:p>
        </p:txBody>
      </p:sp>
    </p:spTree>
    <p:extLst>
      <p:ext uri="{BB962C8B-B14F-4D97-AF65-F5344CB8AC3E}">
        <p14:creationId xmlns:p14="http://schemas.microsoft.com/office/powerpoint/2010/main" val="801535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Some applications of pairwise alignment </a:t>
            </a:r>
            <a:endParaRPr lang="en-US" dirty="0"/>
          </a:p>
        </p:txBody>
      </p:sp>
      <p:sp>
        <p:nvSpPr>
          <p:cNvPr id="3" name="Content Placeholder 2"/>
          <p:cNvSpPr>
            <a:spLocks noGrp="1"/>
          </p:cNvSpPr>
          <p:nvPr>
            <p:ph idx="1"/>
          </p:nvPr>
        </p:nvSpPr>
        <p:spPr/>
        <p:txBody>
          <a:bodyPr>
            <a:normAutofit/>
          </a:bodyPr>
          <a:lstStyle/>
          <a:p>
            <a:r>
              <a:rPr lang="en-US" sz="2800" dirty="0" smtClean="0"/>
              <a:t>Check whether two sequences are homologous</a:t>
            </a:r>
          </a:p>
          <a:p>
            <a:endParaRPr lang="en-US" sz="2800" dirty="0"/>
          </a:p>
          <a:p>
            <a:r>
              <a:rPr lang="en-US" sz="2800" dirty="0" smtClean="0"/>
              <a:t>Identify the conserved(shared) region/motif/domain</a:t>
            </a:r>
          </a:p>
          <a:p>
            <a:endParaRPr lang="en-US" sz="2800" dirty="0"/>
          </a:p>
          <a:p>
            <a:r>
              <a:rPr lang="en-US" sz="2800" dirty="0" smtClean="0"/>
              <a:t>Characterize the differences of the two sequences (mutations, insertion or deletions)</a:t>
            </a:r>
            <a:endParaRPr lang="en-US" sz="2800" dirty="0"/>
          </a:p>
        </p:txBody>
      </p:sp>
    </p:spTree>
    <p:extLst>
      <p:ext uri="{BB962C8B-B14F-4D97-AF65-F5344CB8AC3E}">
        <p14:creationId xmlns:p14="http://schemas.microsoft.com/office/powerpoint/2010/main" val="9817207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Websites for pairwise alignment</a:t>
            </a:r>
            <a:endParaRPr lang="en-US" dirty="0"/>
          </a:p>
        </p:txBody>
      </p:sp>
      <p:sp>
        <p:nvSpPr>
          <p:cNvPr id="3" name="Content Placeholder 2"/>
          <p:cNvSpPr>
            <a:spLocks noGrp="1"/>
          </p:cNvSpPr>
          <p:nvPr>
            <p:ph idx="1"/>
          </p:nvPr>
        </p:nvSpPr>
        <p:spPr/>
        <p:txBody>
          <a:bodyPr/>
          <a:lstStyle/>
          <a:p>
            <a:endParaRPr lang="en-US" dirty="0" smtClean="0"/>
          </a:p>
          <a:p>
            <a:r>
              <a:rPr lang="en-US" dirty="0">
                <a:hlinkClick r:id="rId2"/>
              </a:rPr>
              <a:t>http://</a:t>
            </a:r>
            <a:r>
              <a:rPr lang="en-US" dirty="0" smtClean="0">
                <a:hlinkClick r:id="rId2"/>
              </a:rPr>
              <a:t>www.sacs.ucsf.edu/Resources/sequenceweb.html</a:t>
            </a:r>
            <a:endParaRPr lang="en-US" dirty="0" smtClean="0"/>
          </a:p>
          <a:p>
            <a:endParaRPr lang="en-US" dirty="0"/>
          </a:p>
          <a:p>
            <a:r>
              <a:rPr lang="en-US" dirty="0">
                <a:hlinkClick r:id="rId3"/>
              </a:rPr>
              <a:t>https://www.ebi.ac.uk/Tools/psa</a:t>
            </a:r>
            <a:r>
              <a:rPr lang="en-US" dirty="0" smtClean="0">
                <a:hlinkClick r:id="rId3"/>
              </a:rPr>
              <a:t>/</a:t>
            </a:r>
            <a:endParaRPr lang="en-US" dirty="0" smtClean="0"/>
          </a:p>
          <a:p>
            <a:endParaRPr lang="en-US" dirty="0"/>
          </a:p>
          <a:p>
            <a:pPr marL="0" indent="0">
              <a:buNone/>
            </a:pPr>
            <a:endParaRPr lang="en-US" dirty="0"/>
          </a:p>
        </p:txBody>
      </p:sp>
    </p:spTree>
    <p:extLst>
      <p:ext uri="{BB962C8B-B14F-4D97-AF65-F5344CB8AC3E}">
        <p14:creationId xmlns:p14="http://schemas.microsoft.com/office/powerpoint/2010/main" val="15256851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Multiple sequence alignment (MSA)</a:t>
            </a:r>
            <a:endParaRPr lang="en-US" dirty="0"/>
          </a:p>
        </p:txBody>
      </p:sp>
      <p:sp>
        <p:nvSpPr>
          <p:cNvPr id="3" name="Content Placeholder 2"/>
          <p:cNvSpPr>
            <a:spLocks noGrp="1"/>
          </p:cNvSpPr>
          <p:nvPr>
            <p:ph idx="1"/>
          </p:nvPr>
        </p:nvSpPr>
        <p:spPr/>
        <p:txBody>
          <a:bodyPr/>
          <a:lstStyle/>
          <a:p>
            <a:r>
              <a:rPr lang="en-US" dirty="0" smtClean="0"/>
              <a:t>Alignments of more than two sequences</a:t>
            </a:r>
            <a:endParaRPr lang="en-US" dirty="0"/>
          </a:p>
        </p:txBody>
      </p:sp>
      <p:pic>
        <p:nvPicPr>
          <p:cNvPr id="6146" name="Picture 2" descr="https://upload.wikimedia.org/wikipedia/commons/thumb/7/79/RPLP0_90_ClustalW_aln.gif/1024px-RPLP0_90_ClustalW_aln.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2130475"/>
            <a:ext cx="7315200" cy="412908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3124200" y="6336268"/>
            <a:ext cx="6019800" cy="369332"/>
          </a:xfrm>
          <a:prstGeom prst="rect">
            <a:avLst/>
          </a:prstGeom>
        </p:spPr>
        <p:txBody>
          <a:bodyPr wrap="square">
            <a:spAutoFit/>
          </a:bodyPr>
          <a:lstStyle/>
          <a:p>
            <a:r>
              <a:rPr lang="en-US" dirty="0"/>
              <a:t>https://en.wikipedia.org/wiki/Multiple_sequence_alignment</a:t>
            </a:r>
          </a:p>
        </p:txBody>
      </p:sp>
    </p:spTree>
    <p:extLst>
      <p:ext uri="{BB962C8B-B14F-4D97-AF65-F5344CB8AC3E}">
        <p14:creationId xmlns:p14="http://schemas.microsoft.com/office/powerpoint/2010/main" val="853199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Some applications of MSA</a:t>
            </a:r>
            <a:endParaRPr lang="en-US" dirty="0"/>
          </a:p>
        </p:txBody>
      </p:sp>
      <p:sp>
        <p:nvSpPr>
          <p:cNvPr id="3" name="Content Placeholder 2"/>
          <p:cNvSpPr>
            <a:spLocks noGrp="1"/>
          </p:cNvSpPr>
          <p:nvPr>
            <p:ph idx="1"/>
          </p:nvPr>
        </p:nvSpPr>
        <p:spPr/>
        <p:txBody>
          <a:bodyPr>
            <a:noAutofit/>
          </a:bodyPr>
          <a:lstStyle/>
          <a:p>
            <a:r>
              <a:rPr lang="en-US" sz="2800" dirty="0" smtClean="0"/>
              <a:t>MSA of DNA sequences of the same gene from multiple species:</a:t>
            </a:r>
          </a:p>
          <a:p>
            <a:pPr lvl="1"/>
            <a:r>
              <a:rPr lang="en-US" dirty="0" smtClean="0"/>
              <a:t>Identify conserved regions (important coding and noncoding elements)</a:t>
            </a:r>
          </a:p>
          <a:p>
            <a:r>
              <a:rPr lang="en-US" sz="2800" dirty="0" smtClean="0"/>
              <a:t>MSA of protein sequences of the same family:</a:t>
            </a:r>
          </a:p>
          <a:p>
            <a:pPr lvl="1"/>
            <a:r>
              <a:rPr lang="en-US" dirty="0" smtClean="0"/>
              <a:t>Locate important functional features such as catalytic domains</a:t>
            </a:r>
          </a:p>
          <a:p>
            <a:r>
              <a:rPr lang="en-US" sz="2800" dirty="0" smtClean="0"/>
              <a:t>MSA of RNA sequences of the same gene from multiple species:</a:t>
            </a:r>
          </a:p>
          <a:p>
            <a:pPr lvl="1"/>
            <a:r>
              <a:rPr lang="en-US" dirty="0" smtClean="0"/>
              <a:t>Find conserved regions (potentially important for RNA secondary structure formations)</a:t>
            </a:r>
          </a:p>
          <a:p>
            <a:pPr lvl="1"/>
            <a:endParaRPr lang="en-US" dirty="0"/>
          </a:p>
        </p:txBody>
      </p:sp>
    </p:spTree>
    <p:extLst>
      <p:ext uri="{BB962C8B-B14F-4D97-AF65-F5344CB8AC3E}">
        <p14:creationId xmlns:p14="http://schemas.microsoft.com/office/powerpoint/2010/main" val="21717631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Websites for alignment tools</a:t>
            </a:r>
            <a:endParaRPr lang="en-US" dirty="0"/>
          </a:p>
        </p:txBody>
      </p:sp>
      <p:sp>
        <p:nvSpPr>
          <p:cNvPr id="3" name="Content Placeholder 2"/>
          <p:cNvSpPr>
            <a:spLocks noGrp="1"/>
          </p:cNvSpPr>
          <p:nvPr>
            <p:ph idx="1"/>
          </p:nvPr>
        </p:nvSpPr>
        <p:spPr/>
        <p:txBody>
          <a:bodyPr/>
          <a:lstStyle/>
          <a:p>
            <a:endParaRPr lang="en-US" dirty="0" smtClean="0"/>
          </a:p>
          <a:p>
            <a:r>
              <a:rPr lang="en-US" dirty="0">
                <a:hlinkClick r:id="rId2"/>
              </a:rPr>
              <a:t>http://</a:t>
            </a:r>
            <a:r>
              <a:rPr lang="en-US" dirty="0" smtClean="0">
                <a:hlinkClick r:id="rId2"/>
              </a:rPr>
              <a:t>www.sacs.ucsf.edu/Resources/sequenceweb.html</a:t>
            </a:r>
            <a:endParaRPr lang="en-US" dirty="0" smtClean="0"/>
          </a:p>
          <a:p>
            <a:endParaRPr lang="en-US" dirty="0"/>
          </a:p>
          <a:p>
            <a:pPr marL="0" indent="0">
              <a:buNone/>
            </a:pPr>
            <a:endParaRPr lang="en-US" dirty="0"/>
          </a:p>
          <a:p>
            <a:r>
              <a:rPr lang="en-US" dirty="0">
                <a:hlinkClick r:id="rId3"/>
              </a:rPr>
              <a:t>https://www.ebi.ac.uk/Tools/msa</a:t>
            </a:r>
            <a:r>
              <a:rPr lang="en-US" dirty="0" smtClean="0">
                <a:hlinkClick r:id="rId3"/>
              </a:rPr>
              <a:t>/</a:t>
            </a:r>
            <a:endParaRPr lang="en-US" dirty="0" smtClean="0"/>
          </a:p>
          <a:p>
            <a:endParaRPr lang="en-US" dirty="0"/>
          </a:p>
        </p:txBody>
      </p:sp>
    </p:spTree>
    <p:extLst>
      <p:ext uri="{BB962C8B-B14F-4D97-AF65-F5344CB8AC3E}">
        <p14:creationId xmlns:p14="http://schemas.microsoft.com/office/powerpoint/2010/main" val="32399233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MSA toy example</a:t>
            </a:r>
            <a:endParaRPr lang="en-US" dirty="0"/>
          </a:p>
        </p:txBody>
      </p:sp>
      <p:sp>
        <p:nvSpPr>
          <p:cNvPr id="3" name="Content Placeholder 2"/>
          <p:cNvSpPr>
            <a:spLocks noGrp="1"/>
          </p:cNvSpPr>
          <p:nvPr>
            <p:ph idx="1"/>
          </p:nvPr>
        </p:nvSpPr>
        <p:spPr/>
        <p:txBody>
          <a:bodyPr>
            <a:normAutofit lnSpcReduction="10000"/>
          </a:bodyPr>
          <a:lstStyle/>
          <a:p>
            <a:r>
              <a:rPr lang="en-US" sz="2400" dirty="0" smtClean="0"/>
              <a:t>Use MUSCLE in the EBI website:</a:t>
            </a:r>
          </a:p>
          <a:p>
            <a:pPr lvl="1"/>
            <a:r>
              <a:rPr lang="en-US" sz="2000" dirty="0">
                <a:hlinkClick r:id="rId2"/>
              </a:rPr>
              <a:t>https://www.ebi.ac.uk/Tools/msa/muscle</a:t>
            </a:r>
            <a:r>
              <a:rPr lang="en-US" sz="2000" dirty="0" smtClean="0">
                <a:hlinkClick r:id="rId2"/>
              </a:rPr>
              <a:t>/</a:t>
            </a:r>
            <a:endParaRPr lang="en-US" sz="2000" dirty="0"/>
          </a:p>
          <a:p>
            <a:r>
              <a:rPr lang="en-US" sz="2400" dirty="0" smtClean="0"/>
              <a:t>Create an input </a:t>
            </a:r>
            <a:r>
              <a:rPr lang="en-US" sz="2400" dirty="0" err="1" smtClean="0"/>
              <a:t>fasta</a:t>
            </a:r>
            <a:r>
              <a:rPr lang="en-US" sz="2400" dirty="0" smtClean="0"/>
              <a:t> file</a:t>
            </a:r>
          </a:p>
          <a:p>
            <a:pPr lvl="1"/>
            <a:r>
              <a:rPr lang="en-US" sz="2400" dirty="0" err="1" smtClean="0"/>
              <a:t>Fasta</a:t>
            </a:r>
            <a:r>
              <a:rPr lang="en-US" sz="2400" dirty="0"/>
              <a:t> </a:t>
            </a:r>
            <a:r>
              <a:rPr lang="en-US" sz="2400" dirty="0" err="1" smtClean="0"/>
              <a:t>format:</a:t>
            </a:r>
            <a:r>
              <a:rPr lang="en-US" sz="2400" dirty="0" err="1" smtClean="0">
                <a:hlinkClick r:id="rId3"/>
              </a:rPr>
              <a:t>https</a:t>
            </a:r>
            <a:r>
              <a:rPr lang="en-US" sz="2400" dirty="0">
                <a:hlinkClick r:id="rId3"/>
              </a:rPr>
              <a:t>://</a:t>
            </a:r>
            <a:r>
              <a:rPr lang="en-US" sz="2400" dirty="0" smtClean="0">
                <a:hlinkClick r:id="rId3"/>
              </a:rPr>
              <a:t>en.wikipedia.org/wiki/</a:t>
            </a:r>
            <a:r>
              <a:rPr lang="en-US" sz="2400" dirty="0" err="1" smtClean="0">
                <a:hlinkClick r:id="rId3"/>
              </a:rPr>
              <a:t>FASTA_format</a:t>
            </a:r>
            <a:endParaRPr lang="en-US" sz="2400" dirty="0" smtClean="0"/>
          </a:p>
          <a:p>
            <a:pPr lvl="1"/>
            <a:r>
              <a:rPr lang="en-US" sz="2400" dirty="0" smtClean="0"/>
              <a:t>Content of the example input file (in </a:t>
            </a:r>
            <a:r>
              <a:rPr lang="en-US" sz="2400" dirty="0" err="1" smtClean="0"/>
              <a:t>fasta</a:t>
            </a:r>
            <a:r>
              <a:rPr lang="en-US" sz="2400" dirty="0" smtClean="0"/>
              <a:t> format):</a:t>
            </a:r>
          </a:p>
          <a:p>
            <a:pPr marL="914400" lvl="2" indent="0">
              <a:buNone/>
            </a:pPr>
            <a:r>
              <a:rPr lang="en-US" sz="2000" dirty="0" smtClean="0"/>
              <a:t>&gt;seq1</a:t>
            </a:r>
          </a:p>
          <a:p>
            <a:pPr marL="914400" lvl="2" indent="0">
              <a:buNone/>
            </a:pPr>
            <a:r>
              <a:rPr lang="en-US" sz="2000" dirty="0" smtClean="0"/>
              <a:t>ATGCCGTCGTAC</a:t>
            </a:r>
          </a:p>
          <a:p>
            <a:pPr marL="914400" lvl="2" indent="0">
              <a:buNone/>
            </a:pPr>
            <a:r>
              <a:rPr lang="en-US" sz="2000" dirty="0" smtClean="0"/>
              <a:t>&gt;seq2</a:t>
            </a:r>
          </a:p>
          <a:p>
            <a:pPr marL="914400" lvl="2" indent="0">
              <a:buNone/>
            </a:pPr>
            <a:r>
              <a:rPr lang="en-US" sz="2000" dirty="0" smtClean="0"/>
              <a:t>ATGCCGAAGTTC</a:t>
            </a:r>
          </a:p>
          <a:p>
            <a:pPr marL="914400" lvl="2" indent="0">
              <a:buNone/>
            </a:pPr>
            <a:r>
              <a:rPr lang="en-US" sz="2000" dirty="0" smtClean="0"/>
              <a:t>&gt;seq3</a:t>
            </a:r>
          </a:p>
          <a:p>
            <a:pPr marL="914400" lvl="2" indent="0">
              <a:buNone/>
            </a:pPr>
            <a:r>
              <a:rPr lang="en-US" sz="2000" dirty="0" smtClean="0"/>
              <a:t>ATCCCGTATAC</a:t>
            </a:r>
          </a:p>
          <a:p>
            <a:r>
              <a:rPr lang="en-US" sz="2400" dirty="0" smtClean="0"/>
              <a:t>Output from MUSCLE:</a:t>
            </a:r>
          </a:p>
          <a:p>
            <a:pPr marL="914400" lvl="2" indent="0">
              <a:buNone/>
            </a:pPr>
            <a:endParaRPr lang="en-US" sz="2000" dirty="0" smtClean="0"/>
          </a:p>
          <a:p>
            <a:pPr marL="914400" lvl="2" indent="0">
              <a:buNone/>
            </a:pPr>
            <a:endParaRPr lang="en-US" sz="2000" dirty="0" smtClean="0"/>
          </a:p>
          <a:p>
            <a:pPr lvl="1"/>
            <a:endParaRPr lang="en-US" dirty="0"/>
          </a:p>
          <a:p>
            <a:pPr lvl="1"/>
            <a:endParaRPr lang="en-US" dirty="0"/>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7600" y="5566229"/>
            <a:ext cx="3810000" cy="12155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815967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MSA example</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Find the TP53 protein sequences for human, mouse, rat and pig in the </a:t>
            </a:r>
            <a:r>
              <a:rPr lang="en-US" dirty="0" err="1" smtClean="0"/>
              <a:t>uniprot</a:t>
            </a:r>
            <a:r>
              <a:rPr lang="en-US" dirty="0"/>
              <a:t> database (https://</a:t>
            </a:r>
            <a:r>
              <a:rPr lang="en-US" dirty="0" smtClean="0"/>
              <a:t>www.uniprot.org)</a:t>
            </a:r>
          </a:p>
          <a:p>
            <a:r>
              <a:rPr lang="en-US" dirty="0" smtClean="0"/>
              <a:t>For example, the </a:t>
            </a:r>
            <a:r>
              <a:rPr lang="en-US" dirty="0" err="1" smtClean="0"/>
              <a:t>unitprot</a:t>
            </a:r>
            <a:r>
              <a:rPr lang="en-US" dirty="0" smtClean="0"/>
              <a:t> entry id for human TP53 is P04637. </a:t>
            </a:r>
          </a:p>
          <a:p>
            <a:pPr lvl="1"/>
            <a:r>
              <a:rPr lang="en-US" dirty="0" smtClean="0"/>
              <a:t>You can obtain its sequence in </a:t>
            </a:r>
            <a:r>
              <a:rPr lang="en-US" dirty="0" err="1" smtClean="0"/>
              <a:t>fasta</a:t>
            </a:r>
            <a:r>
              <a:rPr lang="en-US" dirty="0" smtClean="0"/>
              <a:t> format by pasting this </a:t>
            </a:r>
            <a:r>
              <a:rPr lang="en-US" dirty="0" err="1" smtClean="0"/>
              <a:t>url</a:t>
            </a:r>
            <a:r>
              <a:rPr lang="en-US" dirty="0" smtClean="0"/>
              <a:t> into the browser:</a:t>
            </a:r>
          </a:p>
          <a:p>
            <a:pPr lvl="2"/>
            <a:r>
              <a:rPr lang="en-US" dirty="0">
                <a:hlinkClick r:id="rId2"/>
              </a:rPr>
              <a:t>https://</a:t>
            </a:r>
            <a:r>
              <a:rPr lang="en-US" dirty="0" smtClean="0">
                <a:hlinkClick r:id="rId2"/>
              </a:rPr>
              <a:t>www.uniprot.org/uniprot/P04637.fasta</a:t>
            </a:r>
            <a:endParaRPr lang="en-US" dirty="0" smtClean="0"/>
          </a:p>
          <a:p>
            <a:pPr lvl="1"/>
            <a:r>
              <a:rPr lang="en-US" dirty="0" smtClean="0"/>
              <a:t>You can replace P04637 with another id to obtain the protein sequence</a:t>
            </a:r>
          </a:p>
          <a:p>
            <a:r>
              <a:rPr lang="en-US" dirty="0" smtClean="0"/>
              <a:t>Use one of the MSA tools from the previous page to perform a MSA of these 4 sequences. What conclusion can you make out of the results in terms of conserved regions/domains? If you need to predict the functions of these conserved regions, what would you do?</a:t>
            </a:r>
            <a:endParaRPr lang="en-US" dirty="0"/>
          </a:p>
        </p:txBody>
      </p:sp>
    </p:spTree>
    <p:extLst>
      <p:ext uri="{BB962C8B-B14F-4D97-AF65-F5344CB8AC3E}">
        <p14:creationId xmlns:p14="http://schemas.microsoft.com/office/powerpoint/2010/main" val="670194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Genomic alignment</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You can think of genomic alignment as performing many (a lot!) pairwise alignment: in this case, one sequence is the query, while the other is the genome or transcriptome depending on the data.</a:t>
            </a:r>
          </a:p>
          <a:p>
            <a:endParaRPr lang="en-US" dirty="0"/>
          </a:p>
          <a:p>
            <a:r>
              <a:rPr lang="en-US" dirty="0" smtClean="0"/>
              <a:t>This presents a computational challenge especially given the large numbers of reads in Next-Generation Sequencing(NGS) results. We will go into details of alignment tools in NGS in future lectures for </a:t>
            </a:r>
            <a:r>
              <a:rPr lang="en-US" dirty="0" err="1" smtClean="0"/>
              <a:t>DNASeq</a:t>
            </a:r>
            <a:r>
              <a:rPr lang="en-US" dirty="0" smtClean="0"/>
              <a:t> and </a:t>
            </a:r>
            <a:r>
              <a:rPr lang="en-US" dirty="0" err="1" smtClean="0"/>
              <a:t>RNASeq</a:t>
            </a:r>
            <a:r>
              <a:rPr lang="en-US" dirty="0" smtClean="0"/>
              <a:t>.</a:t>
            </a:r>
          </a:p>
          <a:p>
            <a:pPr marL="0" indent="0">
              <a:buNone/>
            </a:pPr>
            <a:endParaRPr lang="en-US" dirty="0" smtClean="0"/>
          </a:p>
          <a:p>
            <a:endParaRPr lang="en-US" dirty="0" smtClean="0"/>
          </a:p>
          <a:p>
            <a:endParaRPr lang="en-US" dirty="0" smtClean="0"/>
          </a:p>
        </p:txBody>
      </p:sp>
    </p:spTree>
    <p:extLst>
      <p:ext uri="{BB962C8B-B14F-4D97-AF65-F5344CB8AC3E}">
        <p14:creationId xmlns:p14="http://schemas.microsoft.com/office/powerpoint/2010/main" val="111148710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 of genomic alignment</a:t>
            </a:r>
            <a:endParaRPr lang="en-US" dirty="0"/>
          </a:p>
        </p:txBody>
      </p:sp>
      <p:sp>
        <p:nvSpPr>
          <p:cNvPr id="3" name="Content Placeholder 2"/>
          <p:cNvSpPr>
            <a:spLocks noGrp="1"/>
          </p:cNvSpPr>
          <p:nvPr>
            <p:ph idx="1"/>
          </p:nvPr>
        </p:nvSpPr>
        <p:spPr/>
        <p:txBody>
          <a:bodyPr>
            <a:normAutofit/>
          </a:bodyPr>
          <a:lstStyle/>
          <a:p>
            <a:r>
              <a:rPr lang="en-US" sz="2400" dirty="0" smtClean="0"/>
              <a:t>Take the first 60 amino acids of human TP53 and </a:t>
            </a:r>
            <a:r>
              <a:rPr lang="en-US" sz="2400" dirty="0"/>
              <a:t>then use BLAT </a:t>
            </a:r>
            <a:r>
              <a:rPr lang="en-US" sz="2400" dirty="0" smtClean="0"/>
              <a:t>to map it to the human genome;</a:t>
            </a:r>
          </a:p>
          <a:p>
            <a:pPr lvl="1"/>
            <a:r>
              <a:rPr lang="en-US" sz="2400" dirty="0" smtClean="0">
                <a:hlinkClick r:id="rId2"/>
              </a:rPr>
              <a:t>BLAT: </a:t>
            </a:r>
          </a:p>
          <a:p>
            <a:pPr lvl="2"/>
            <a:r>
              <a:rPr lang="en-US" dirty="0" smtClean="0">
                <a:hlinkClick r:id="rId2"/>
              </a:rPr>
              <a:t>https</a:t>
            </a:r>
            <a:r>
              <a:rPr lang="en-US" dirty="0">
                <a:hlinkClick r:id="rId2"/>
              </a:rPr>
              <a:t>://</a:t>
            </a:r>
            <a:r>
              <a:rPr lang="en-US" dirty="0" smtClean="0">
                <a:hlinkClick r:id="rId2"/>
              </a:rPr>
              <a:t>genome.ucsc.edu/cgi-bin/hgBlat?command=start</a:t>
            </a:r>
            <a:endParaRPr lang="en-US" dirty="0"/>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3733800"/>
            <a:ext cx="8393894" cy="2895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4185496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Features of genomic alignment</a:t>
            </a:r>
            <a:endParaRPr lang="en-US" dirty="0"/>
          </a:p>
        </p:txBody>
      </p:sp>
      <p:sp>
        <p:nvSpPr>
          <p:cNvPr id="3" name="Content Placeholder 2"/>
          <p:cNvSpPr>
            <a:spLocks noGrp="1"/>
          </p:cNvSpPr>
          <p:nvPr>
            <p:ph idx="1"/>
          </p:nvPr>
        </p:nvSpPr>
        <p:spPr>
          <a:xfrm>
            <a:off x="457200" y="1600200"/>
            <a:ext cx="8229600" cy="4876800"/>
          </a:xfrm>
        </p:spPr>
        <p:txBody>
          <a:bodyPr>
            <a:normAutofit fontScale="70000" lnSpcReduction="20000"/>
          </a:bodyPr>
          <a:lstStyle/>
          <a:p>
            <a:r>
              <a:rPr lang="en-US" dirty="0" smtClean="0"/>
              <a:t>Compared to a simple pairwise alignment of two sequences, genomic alignment has the following features:</a:t>
            </a:r>
          </a:p>
          <a:p>
            <a:pPr lvl="1"/>
            <a:r>
              <a:rPr lang="en-US" dirty="0" smtClean="0"/>
              <a:t>On a larger scale and therefore a greater computational challenge: </a:t>
            </a:r>
          </a:p>
          <a:p>
            <a:pPr lvl="2"/>
            <a:r>
              <a:rPr lang="en-US" dirty="0" smtClean="0"/>
              <a:t>Millions of reads (queries) and billion bps of  the genome (reference) </a:t>
            </a:r>
          </a:p>
          <a:p>
            <a:pPr lvl="1"/>
            <a:r>
              <a:rPr lang="en-US" dirty="0" smtClean="0"/>
              <a:t>Many biological complications in the genome:</a:t>
            </a:r>
          </a:p>
          <a:p>
            <a:pPr lvl="2"/>
            <a:r>
              <a:rPr lang="en-US" dirty="0" smtClean="0"/>
              <a:t>Eukaryotic genes have exons and introns, and genes have alternative splicing isoforms.</a:t>
            </a:r>
          </a:p>
          <a:p>
            <a:pPr lvl="2"/>
            <a:r>
              <a:rPr lang="en-US" dirty="0" smtClean="0"/>
              <a:t>There are many repeat regions in the genome.</a:t>
            </a:r>
          </a:p>
          <a:p>
            <a:pPr lvl="2"/>
            <a:r>
              <a:rPr lang="en-US" dirty="0" smtClean="0"/>
              <a:t>Individual Genomes can have many changes different from the reference genome (for example, a cancer patient’s genome is quite different from that of a healthy individual).</a:t>
            </a:r>
          </a:p>
          <a:p>
            <a:pPr lvl="1"/>
            <a:r>
              <a:rPr lang="en-US" dirty="0" smtClean="0"/>
              <a:t>Many technical artifacts during sample preparation and sequencing:</a:t>
            </a:r>
          </a:p>
          <a:p>
            <a:pPr lvl="2"/>
            <a:r>
              <a:rPr lang="en-US" dirty="0" smtClean="0"/>
              <a:t>Sequencing machines can make errors during sequencing.</a:t>
            </a:r>
          </a:p>
          <a:p>
            <a:pPr lvl="2"/>
            <a:r>
              <a:rPr lang="en-US" dirty="0" smtClean="0"/>
              <a:t>Laboratory processes (such as PCR) can introduce errors in the DNA products.</a:t>
            </a:r>
          </a:p>
          <a:p>
            <a:pPr lvl="1"/>
            <a:r>
              <a:rPr lang="en-US" dirty="0" smtClean="0"/>
              <a:t>Many scientific limitations in bioinformatics:</a:t>
            </a:r>
          </a:p>
          <a:p>
            <a:pPr lvl="2"/>
            <a:r>
              <a:rPr lang="en-US" dirty="0" smtClean="0"/>
              <a:t>The human reference genome still has gaps!</a:t>
            </a:r>
          </a:p>
          <a:p>
            <a:pPr lvl="2"/>
            <a:r>
              <a:rPr lang="en-US" dirty="0" smtClean="0"/>
              <a:t>Everyone’s genome is different, but we are using just one reference genome.</a:t>
            </a:r>
          </a:p>
        </p:txBody>
      </p:sp>
    </p:spTree>
    <p:extLst>
      <p:ext uri="{BB962C8B-B14F-4D97-AF65-F5344CB8AC3E}">
        <p14:creationId xmlns:p14="http://schemas.microsoft.com/office/powerpoint/2010/main" val="153700634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Resources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Explanations on dynamic programming and sequence alignments:</a:t>
            </a:r>
          </a:p>
          <a:p>
            <a:pPr lvl="1"/>
            <a:r>
              <a:rPr lang="en-US" dirty="0">
                <a:hlinkClick r:id="rId2"/>
              </a:rPr>
              <a:t>http://</a:t>
            </a:r>
            <a:r>
              <a:rPr lang="en-US" dirty="0" smtClean="0">
                <a:hlinkClick r:id="rId2"/>
              </a:rPr>
              <a:t>avatar.se/lectures/molbioinfo2001/dynprog/dynamic.html</a:t>
            </a:r>
            <a:endParaRPr lang="en-US" dirty="0" smtClean="0"/>
          </a:p>
          <a:p>
            <a:pPr lvl="1"/>
            <a:r>
              <a:rPr lang="en-US" dirty="0">
                <a:hlinkClick r:id="rId3"/>
              </a:rPr>
              <a:t>https://</a:t>
            </a:r>
            <a:r>
              <a:rPr lang="en-US" dirty="0" smtClean="0">
                <a:hlinkClick r:id="rId3"/>
              </a:rPr>
              <a:t>www.ibm.com/developerworks/library/j-seqalign/index.html</a:t>
            </a:r>
            <a:endParaRPr lang="en-US" dirty="0" smtClean="0"/>
          </a:p>
          <a:p>
            <a:pPr lvl="1"/>
            <a:endParaRPr lang="en-US" dirty="0"/>
          </a:p>
          <a:p>
            <a:r>
              <a:rPr lang="en-US" dirty="0" smtClean="0"/>
              <a:t>Short Journal article on dynamic programming in </a:t>
            </a:r>
            <a:r>
              <a:rPr lang="en-US" dirty="0" err="1" smtClean="0"/>
              <a:t>Plos</a:t>
            </a:r>
            <a:r>
              <a:rPr lang="en-US" dirty="0" smtClean="0"/>
              <a:t> Computational Biology</a:t>
            </a:r>
          </a:p>
          <a:p>
            <a:pPr lvl="1"/>
            <a:r>
              <a:rPr lang="en-US" dirty="0" smtClean="0"/>
              <a:t>Provided as pdf</a:t>
            </a:r>
          </a:p>
          <a:p>
            <a:pPr marL="457200" lvl="1" indent="0">
              <a:buNone/>
            </a:pPr>
            <a:endParaRPr lang="en-US" dirty="0"/>
          </a:p>
        </p:txBody>
      </p:sp>
    </p:spTree>
    <p:extLst>
      <p:ext uri="{BB962C8B-B14F-4D97-AF65-F5344CB8AC3E}">
        <p14:creationId xmlns:p14="http://schemas.microsoft.com/office/powerpoint/2010/main" val="399586181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Resources</a:t>
            </a:r>
            <a:endParaRPr lang="en-US" dirty="0"/>
          </a:p>
        </p:txBody>
      </p:sp>
      <p:sp>
        <p:nvSpPr>
          <p:cNvPr id="3" name="Content Placeholder 2"/>
          <p:cNvSpPr>
            <a:spLocks noGrp="1"/>
          </p:cNvSpPr>
          <p:nvPr>
            <p:ph idx="1"/>
          </p:nvPr>
        </p:nvSpPr>
        <p:spPr/>
        <p:txBody>
          <a:bodyPr/>
          <a:lstStyle/>
          <a:p>
            <a:r>
              <a:rPr lang="en-US" dirty="0" smtClean="0"/>
              <a:t>Book:</a:t>
            </a:r>
          </a:p>
          <a:p>
            <a:pPr lvl="1"/>
            <a:r>
              <a:rPr lang="en-US" dirty="0" smtClean="0"/>
              <a:t>Neil C. Jones and Pavel </a:t>
            </a:r>
            <a:r>
              <a:rPr lang="en-US" dirty="0" err="1" smtClean="0"/>
              <a:t>A.Pevzner</a:t>
            </a:r>
            <a:r>
              <a:rPr lang="en-US" dirty="0" smtClean="0"/>
              <a:t>. An introduction to bioinformatics algorithms:</a:t>
            </a:r>
          </a:p>
          <a:p>
            <a:pPr lvl="2"/>
            <a:r>
              <a:rPr lang="en-US" dirty="0">
                <a:hlinkClick r:id="rId2"/>
              </a:rPr>
              <a:t>http://bioinformaticsinstitute.ru/sites/default/files/an_introduction_to_bioinformatics_algorithms_-_</a:t>
            </a:r>
            <a:r>
              <a:rPr lang="en-US" dirty="0" smtClean="0">
                <a:hlinkClick r:id="rId2"/>
              </a:rPr>
              <a:t>jones_pevzner.pdf</a:t>
            </a:r>
            <a:endParaRPr lang="en-US" dirty="0" smtClean="0"/>
          </a:p>
          <a:p>
            <a:pPr lvl="2"/>
            <a:r>
              <a:rPr lang="en-US" dirty="0" smtClean="0"/>
              <a:t>Chapter6: dynamic programming</a:t>
            </a:r>
            <a:endParaRPr lang="en-US" dirty="0"/>
          </a:p>
        </p:txBody>
      </p:sp>
    </p:spTree>
    <p:extLst>
      <p:ext uri="{BB962C8B-B14F-4D97-AF65-F5344CB8AC3E}">
        <p14:creationId xmlns:p14="http://schemas.microsoft.com/office/powerpoint/2010/main" val="7182790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The global and local alignment algorithms are the major types of algorithms for pairwise alignment.</a:t>
            </a:r>
          </a:p>
          <a:p>
            <a:endParaRPr lang="en-US" dirty="0"/>
          </a:p>
          <a:p>
            <a:r>
              <a:rPr lang="en-US" dirty="0" smtClean="0"/>
              <a:t>There are many scientific applications of performing pairwise and multiple sequence alignments.</a:t>
            </a:r>
          </a:p>
          <a:p>
            <a:endParaRPr lang="en-US" dirty="0"/>
          </a:p>
          <a:p>
            <a:r>
              <a:rPr lang="en-US" dirty="0" smtClean="0"/>
              <a:t>Many websites and online tools are provided to get you familiarized with the concepts and relevant tools.  </a:t>
            </a:r>
          </a:p>
          <a:p>
            <a:endParaRPr lang="en-US" dirty="0"/>
          </a:p>
          <a:p>
            <a:r>
              <a:rPr lang="en-US" dirty="0" smtClean="0"/>
              <a:t>The features and difficulties of genomic alignment are mentioned. NGS will be introduced in week 5, and we will go into details on NGS related data analysis including genomic alignment.</a:t>
            </a:r>
            <a:endParaRPr lang="en-US" dirty="0"/>
          </a:p>
        </p:txBody>
      </p:sp>
    </p:spTree>
    <p:extLst>
      <p:ext uri="{BB962C8B-B14F-4D97-AF65-F5344CB8AC3E}">
        <p14:creationId xmlns:p14="http://schemas.microsoft.com/office/powerpoint/2010/main" val="264510317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279</TotalTime>
  <Words>1106</Words>
  <Application>Microsoft Office PowerPoint</Application>
  <PresentationFormat>On-screen Show (4:3)</PresentationFormat>
  <Paragraphs>152</Paragraphs>
  <Slides>26</Slides>
  <Notes>1</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Biological Sequence Analysis</vt:lpstr>
      <vt:lpstr>Outline</vt:lpstr>
      <vt:lpstr>Sequence alignment</vt:lpstr>
      <vt:lpstr>Similarity measure</vt:lpstr>
      <vt:lpstr>Global and local alignment</vt:lpstr>
      <vt:lpstr>Global and local alignment</vt:lpstr>
      <vt:lpstr>Evaluating and inferring alignments</vt:lpstr>
      <vt:lpstr>Dynamic programming</vt:lpstr>
      <vt:lpstr>Global alignment</vt:lpstr>
      <vt:lpstr>Global alignment</vt:lpstr>
      <vt:lpstr>Local alignment</vt:lpstr>
      <vt:lpstr>Local alignment</vt:lpstr>
      <vt:lpstr>Website to explore global and local alignment</vt:lpstr>
      <vt:lpstr>Some applications of pairwise alignment </vt:lpstr>
      <vt:lpstr>Websites for pairwise alignment</vt:lpstr>
      <vt:lpstr>Multiple sequence alignment (MSA)</vt:lpstr>
      <vt:lpstr>Some applications of MSA</vt:lpstr>
      <vt:lpstr>Websites for alignment tools</vt:lpstr>
      <vt:lpstr>MSA toy example</vt:lpstr>
      <vt:lpstr>MSA example</vt:lpstr>
      <vt:lpstr>Genomic alignment</vt:lpstr>
      <vt:lpstr>Examples of genomic alignment</vt:lpstr>
      <vt:lpstr>Features of genomic alignment</vt:lpstr>
      <vt:lpstr>Resources</vt:lpstr>
      <vt:lpstr>Resources</vt:lpstr>
      <vt:lpstr>Summary</vt:lpstr>
    </vt:vector>
  </TitlesOfParts>
  <Company>Eisai</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Biological Sequence Analysis</dc:title>
  <dc:creator>Windows User</dc:creator>
  <cp:lastModifiedBy>Windows User</cp:lastModifiedBy>
  <cp:revision>37</cp:revision>
  <dcterms:created xsi:type="dcterms:W3CDTF">2018-11-18T01:11:23Z</dcterms:created>
  <dcterms:modified xsi:type="dcterms:W3CDTF">2018-11-21T02:54:09Z</dcterms:modified>
</cp:coreProperties>
</file>