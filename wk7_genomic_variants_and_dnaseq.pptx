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72" r:id="rId4"/>
    <p:sldId id="266" r:id="rId5"/>
    <p:sldId id="273" r:id="rId6"/>
    <p:sldId id="267" r:id="rId7"/>
    <p:sldId id="278" r:id="rId8"/>
    <p:sldId id="268" r:id="rId9"/>
    <p:sldId id="269" r:id="rId10"/>
    <p:sldId id="270" r:id="rId11"/>
    <p:sldId id="279" r:id="rId12"/>
    <p:sldId id="271" r:id="rId13"/>
    <p:sldId id="280" r:id="rId14"/>
    <p:sldId id="281" r:id="rId15"/>
    <p:sldId id="259" r:id="rId16"/>
    <p:sldId id="261" r:id="rId17"/>
    <p:sldId id="262" r:id="rId18"/>
    <p:sldId id="258" r:id="rId19"/>
    <p:sldId id="282" r:id="rId20"/>
    <p:sldId id="276" r:id="rId21"/>
    <p:sldId id="264" r:id="rId22"/>
    <p:sldId id="26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900"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362A9ED-8CF9-40A0-85D0-22BDFF25F8A8}" type="datetimeFigureOut">
              <a:rPr lang="en-US" smtClean="0"/>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2221281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62A9ED-8CF9-40A0-85D0-22BDFF25F8A8}" type="datetimeFigureOut">
              <a:rPr lang="en-US" smtClean="0"/>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611721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362A9ED-8CF9-40A0-85D0-22BDFF25F8A8}" type="datetimeFigureOut">
              <a:rPr lang="en-US" smtClean="0"/>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351533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362A9ED-8CF9-40A0-85D0-22BDFF25F8A8}" type="datetimeFigureOut">
              <a:rPr lang="en-US" smtClean="0"/>
              <a:t>11/27/2018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2657259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362A9ED-8CF9-40A0-85D0-22BDFF25F8A8}" type="datetimeFigureOut">
              <a:rPr lang="en-US" smtClean="0"/>
              <a:t>11/27/2018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2577950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362A9ED-8CF9-40A0-85D0-22BDFF25F8A8}" type="datetimeFigureOut">
              <a:rPr lang="en-US" smtClean="0"/>
              <a:t>11/27/2018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392690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62A9ED-8CF9-40A0-85D0-22BDFF25F8A8}" type="datetimeFigureOut">
              <a:rPr lang="en-US" smtClean="0"/>
              <a:t>11/27/2018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2090302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62A9ED-8CF9-40A0-85D0-22BDFF25F8A8}" type="datetimeFigureOut">
              <a:rPr lang="en-US" smtClean="0"/>
              <a:t>11/27/2018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3264727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62A9ED-8CF9-40A0-85D0-22BDFF25F8A8}" type="datetimeFigureOut">
              <a:rPr lang="en-US" smtClean="0"/>
              <a:t>11/27/2018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4008723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62A9ED-8CF9-40A0-85D0-22BDFF25F8A8}" type="datetimeFigureOut">
              <a:rPr lang="en-US" smtClean="0"/>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299383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62A9ED-8CF9-40A0-85D0-22BDFF25F8A8}" type="datetimeFigureOut">
              <a:rPr lang="en-US" smtClean="0"/>
              <a:t>11/27/2018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67778-55D4-4FAB-A72C-6F51A245AE87}" type="slidenum">
              <a:rPr lang="en-US" smtClean="0"/>
              <a:t>‹#›</a:t>
            </a:fld>
            <a:endParaRPr lang="en-US"/>
          </a:p>
        </p:txBody>
      </p:sp>
    </p:spTree>
    <p:extLst>
      <p:ext uri="{BB962C8B-B14F-4D97-AF65-F5344CB8AC3E}">
        <p14:creationId xmlns:p14="http://schemas.microsoft.com/office/powerpoint/2010/main" val="918898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62A9ED-8CF9-40A0-85D0-22BDFF25F8A8}" type="datetimeFigureOut">
              <a:rPr lang="en-US" smtClean="0"/>
              <a:t>11/27/2018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D67778-55D4-4FAB-A72C-6F51A245AE87}" type="slidenum">
              <a:rPr lang="en-US" smtClean="0"/>
              <a:t>‹#›</a:t>
            </a:fld>
            <a:endParaRPr lang="en-US"/>
          </a:p>
        </p:txBody>
      </p:sp>
    </p:spTree>
    <p:extLst>
      <p:ext uri="{BB962C8B-B14F-4D97-AF65-F5344CB8AC3E}">
        <p14:creationId xmlns:p14="http://schemas.microsoft.com/office/powerpoint/2010/main" val="3899557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internationalgenome.org/about#1000G_PROJEC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Biological Sequence Analysis</a:t>
            </a:r>
            <a:endParaRPr lang="en-US" dirty="0"/>
          </a:p>
        </p:txBody>
      </p:sp>
      <p:sp>
        <p:nvSpPr>
          <p:cNvPr id="3" name="Subtitle 2"/>
          <p:cNvSpPr>
            <a:spLocks noGrp="1"/>
          </p:cNvSpPr>
          <p:nvPr>
            <p:ph type="subTitle" idx="1"/>
          </p:nvPr>
        </p:nvSpPr>
        <p:spPr/>
        <p:txBody>
          <a:bodyPr/>
          <a:lstStyle/>
          <a:p>
            <a:r>
              <a:rPr lang="en-US" dirty="0" smtClean="0"/>
              <a:t>Genomic variants and </a:t>
            </a:r>
            <a:r>
              <a:rPr lang="en-US" dirty="0" err="1" smtClean="0"/>
              <a:t>DNASeq</a:t>
            </a:r>
            <a:endParaRPr lang="en-US" dirty="0"/>
          </a:p>
        </p:txBody>
      </p:sp>
    </p:spTree>
    <p:extLst>
      <p:ext uri="{BB962C8B-B14F-4D97-AF65-F5344CB8AC3E}">
        <p14:creationId xmlns:p14="http://schemas.microsoft.com/office/powerpoint/2010/main" val="2614347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endParaRPr lang="en-US" dirty="0" smtClean="0"/>
          </a:p>
          <a:p>
            <a:r>
              <a:rPr lang="en-US" dirty="0"/>
              <a:t>Somatic vs germline mutations</a:t>
            </a:r>
          </a:p>
          <a:p>
            <a:endParaRPr lang="en-US" dirty="0" smtClean="0"/>
          </a:p>
          <a:p>
            <a:r>
              <a:rPr lang="en-US" dirty="0" smtClean="0"/>
              <a:t>Different types of mutations: SNVs, </a:t>
            </a:r>
            <a:r>
              <a:rPr lang="en-US" dirty="0" err="1" smtClean="0"/>
              <a:t>Indels</a:t>
            </a:r>
            <a:r>
              <a:rPr lang="en-US" dirty="0" smtClean="0"/>
              <a:t>, CNVs and SVs</a:t>
            </a:r>
          </a:p>
          <a:p>
            <a:pPr marL="0" indent="0">
              <a:buNone/>
            </a:pPr>
            <a:endParaRPr lang="en-US" dirty="0"/>
          </a:p>
          <a:p>
            <a:r>
              <a:rPr lang="en-US" dirty="0" smtClean="0"/>
              <a:t>Important international genomics projects</a:t>
            </a:r>
            <a:endParaRPr lang="en-US" dirty="0"/>
          </a:p>
          <a:p>
            <a:endParaRPr lang="en-US" dirty="0"/>
          </a:p>
          <a:p>
            <a:r>
              <a:rPr lang="en-US" dirty="0" smtClean="0"/>
              <a:t>DNA-</a:t>
            </a:r>
            <a:r>
              <a:rPr lang="en-US" dirty="0" err="1" smtClean="0"/>
              <a:t>Seq</a:t>
            </a:r>
            <a:r>
              <a:rPr lang="en-US" dirty="0" smtClean="0"/>
              <a:t> Mutation calling (for SNVs and </a:t>
            </a:r>
            <a:r>
              <a:rPr lang="en-US" dirty="0" err="1" smtClean="0"/>
              <a:t>Indels</a:t>
            </a:r>
            <a:r>
              <a:rPr lang="en-US" dirty="0" smtClean="0"/>
              <a:t>)</a:t>
            </a:r>
          </a:p>
          <a:p>
            <a:endParaRPr lang="en-US" dirty="0"/>
          </a:p>
          <a:p>
            <a:r>
              <a:rPr lang="en-US" dirty="0" smtClean="0"/>
              <a:t>DNA-</a:t>
            </a:r>
            <a:r>
              <a:rPr lang="en-US" dirty="0" err="1" smtClean="0"/>
              <a:t>Seq</a:t>
            </a:r>
            <a:r>
              <a:rPr lang="en-US" dirty="0" smtClean="0"/>
              <a:t> analysis for more complex variants: CNVs and SVs</a:t>
            </a:r>
            <a:endParaRPr lang="en-US" dirty="0"/>
          </a:p>
        </p:txBody>
      </p:sp>
    </p:spTree>
    <p:extLst>
      <p:ext uri="{BB962C8B-B14F-4D97-AF65-F5344CB8AC3E}">
        <p14:creationId xmlns:p14="http://schemas.microsoft.com/office/powerpoint/2010/main" val="146360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Somatic vs germline mutations</a:t>
            </a:r>
            <a:endParaRPr lang="en-US" dirty="0"/>
          </a:p>
        </p:txBody>
      </p:sp>
      <p:sp>
        <p:nvSpPr>
          <p:cNvPr id="3" name="Content Placeholder 2"/>
          <p:cNvSpPr>
            <a:spLocks noGrp="1"/>
          </p:cNvSpPr>
          <p:nvPr>
            <p:ph idx="1"/>
          </p:nvPr>
        </p:nvSpPr>
        <p:spPr>
          <a:xfrm>
            <a:off x="457200" y="1600201"/>
            <a:ext cx="8229600" cy="3809999"/>
          </a:xfrm>
        </p:spPr>
        <p:txBody>
          <a:bodyPr>
            <a:normAutofit fontScale="92500" lnSpcReduction="10000"/>
          </a:bodyPr>
          <a:lstStyle/>
          <a:p>
            <a:r>
              <a:rPr lang="en-US" sz="2400" dirty="0" smtClean="0"/>
              <a:t>Genes and chromosomes can mutated in either somatic or germline tissues, and these changes are called somatic mutations and germline mutations respectively.</a:t>
            </a:r>
          </a:p>
          <a:p>
            <a:r>
              <a:rPr lang="en-US" sz="2400" dirty="0" smtClean="0"/>
              <a:t>If a somatic mutation occurs in a single cell in developing somatic tissue, that cell is the progenitor of a population of identical mutant cells (of course, there could be additional mutation events in the progeny cells).</a:t>
            </a:r>
          </a:p>
          <a:p>
            <a:r>
              <a:rPr lang="en-US" sz="2400" dirty="0" smtClean="0"/>
              <a:t>A germline mutation occurs in the germline, special tissue that is set aside in the course of development to form sex cells. If a mutant sex cell participates in fertilization, then the mutation will be passed on to the next generation.</a:t>
            </a:r>
          </a:p>
        </p:txBody>
      </p:sp>
      <p:sp>
        <p:nvSpPr>
          <p:cNvPr id="4" name="Rectangle 3"/>
          <p:cNvSpPr/>
          <p:nvPr/>
        </p:nvSpPr>
        <p:spPr>
          <a:xfrm>
            <a:off x="4343400" y="6488668"/>
            <a:ext cx="5638800" cy="369332"/>
          </a:xfrm>
          <a:prstGeom prst="rect">
            <a:avLst/>
          </a:prstGeom>
        </p:spPr>
        <p:txBody>
          <a:bodyPr wrap="square">
            <a:spAutoFit/>
          </a:bodyPr>
          <a:lstStyle/>
          <a:p>
            <a:r>
              <a:rPr lang="en-US" dirty="0"/>
              <a:t>https://www.ncbi.nlm.nih.gov/books/NBK21894/</a:t>
            </a:r>
          </a:p>
        </p:txBody>
      </p:sp>
    </p:spTree>
    <p:extLst>
      <p:ext uri="{BB962C8B-B14F-4D97-AF65-F5344CB8AC3E}">
        <p14:creationId xmlns:p14="http://schemas.microsoft.com/office/powerpoint/2010/main" val="10027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Somatic vs germline mutations</a:t>
            </a:r>
            <a:endParaRPr lang="en-US" dirty="0"/>
          </a:p>
        </p:txBody>
      </p:sp>
      <p:sp>
        <p:nvSpPr>
          <p:cNvPr id="5" name="Content Placeholder 2"/>
          <p:cNvSpPr>
            <a:spLocks noGrp="1"/>
          </p:cNvSpPr>
          <p:nvPr>
            <p:ph idx="1"/>
          </p:nvPr>
        </p:nvSpPr>
        <p:spPr>
          <a:xfrm>
            <a:off x="457200" y="1600201"/>
            <a:ext cx="8229600" cy="2514599"/>
          </a:xfrm>
        </p:spPr>
        <p:txBody>
          <a:bodyPr>
            <a:normAutofit/>
          </a:bodyPr>
          <a:lstStyle/>
          <a:p>
            <a:r>
              <a:rPr lang="en-US" sz="2400" dirty="0" smtClean="0"/>
              <a:t>Somatic mutations are not transmitted to progeny, but germline mutations may be transmitted to some or all progeny.</a:t>
            </a:r>
            <a:endParaRPr lang="en-US" sz="2400" dirty="0"/>
          </a:p>
        </p:txBody>
      </p:sp>
      <p:sp>
        <p:nvSpPr>
          <p:cNvPr id="6" name="Rectangle 5"/>
          <p:cNvSpPr/>
          <p:nvPr/>
        </p:nvSpPr>
        <p:spPr>
          <a:xfrm>
            <a:off x="3505200" y="6458188"/>
            <a:ext cx="5638800" cy="369332"/>
          </a:xfrm>
          <a:prstGeom prst="rect">
            <a:avLst/>
          </a:prstGeom>
        </p:spPr>
        <p:txBody>
          <a:bodyPr wrap="square">
            <a:spAutoFit/>
          </a:bodyPr>
          <a:lstStyle/>
          <a:p>
            <a:r>
              <a:rPr lang="en-US" dirty="0"/>
              <a:t>https://www.ncbi.nlm.nih.gov/books/NBK21894/</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895600"/>
            <a:ext cx="5791200" cy="3568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8618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Somatic vs germline mutations</a:t>
            </a:r>
            <a:endParaRPr lang="en-US" dirty="0"/>
          </a:p>
        </p:txBody>
      </p:sp>
      <p:sp>
        <p:nvSpPr>
          <p:cNvPr id="3" name="Content Placeholder 2"/>
          <p:cNvSpPr>
            <a:spLocks noGrp="1"/>
          </p:cNvSpPr>
          <p:nvPr>
            <p:ph idx="1"/>
          </p:nvPr>
        </p:nvSpPr>
        <p:spPr/>
        <p:txBody>
          <a:bodyPr>
            <a:normAutofit/>
          </a:bodyPr>
          <a:lstStyle/>
          <a:p>
            <a:r>
              <a:rPr lang="en-US" sz="1800" b="1" dirty="0" smtClean="0"/>
              <a:t>Somatic mutations:</a:t>
            </a:r>
          </a:p>
          <a:p>
            <a:pPr lvl="1"/>
            <a:r>
              <a:rPr lang="en-US" sz="1800" dirty="0" smtClean="0"/>
              <a:t>The number of cells carrying the mutated gene depends on the stage of cell multiplication when the mutation occurs. If it occurs in a freshly dividing cell, more number of cells will receive the gene. If the mutation occurs in a </a:t>
            </a:r>
            <a:r>
              <a:rPr lang="en-US" sz="1800" dirty="0" err="1" smtClean="0"/>
              <a:t>postmitotic</a:t>
            </a:r>
            <a:r>
              <a:rPr lang="en-US" sz="1800" dirty="0" smtClean="0"/>
              <a:t> cell, then only a negligible number of cells will be affected.</a:t>
            </a:r>
          </a:p>
          <a:p>
            <a:pPr lvl="1"/>
            <a:r>
              <a:rPr lang="en-US" sz="1800" dirty="0" smtClean="0"/>
              <a:t>Somatic mutations occur in an individual and not in a population, since they are not passed down to the offspring. There could be individuals sharing the same somatic mutations, but these mutations all developed independently in each individual’s somatic cells. </a:t>
            </a:r>
            <a:endParaRPr lang="en-US" sz="1800" dirty="0"/>
          </a:p>
          <a:p>
            <a:r>
              <a:rPr lang="en-US" sz="1800" b="1" dirty="0" smtClean="0"/>
              <a:t>Germline mutations:</a:t>
            </a:r>
          </a:p>
          <a:p>
            <a:pPr lvl="1"/>
            <a:r>
              <a:rPr lang="en-US" sz="1800" dirty="0" smtClean="0"/>
              <a:t>The effects of germline mutations are present in all cells since the embryo stage. This number of cells affected in the offspring cannot increase, since the mutation occurs in all the cells from the embryo stage itself.</a:t>
            </a:r>
          </a:p>
          <a:p>
            <a:pPr lvl="1"/>
            <a:r>
              <a:rPr lang="en-US" sz="1800" dirty="0" smtClean="0"/>
              <a:t>Germline mutations occur in a particular population since they are likely to be passed down from generation to generation.</a:t>
            </a:r>
            <a:endParaRPr lang="en-US" sz="1800" dirty="0"/>
          </a:p>
        </p:txBody>
      </p:sp>
      <p:sp>
        <p:nvSpPr>
          <p:cNvPr id="4" name="Rectangle 3"/>
          <p:cNvSpPr/>
          <p:nvPr/>
        </p:nvSpPr>
        <p:spPr>
          <a:xfrm>
            <a:off x="1752600" y="6324600"/>
            <a:ext cx="7086600" cy="369332"/>
          </a:xfrm>
          <a:prstGeom prst="rect">
            <a:avLst/>
          </a:prstGeom>
        </p:spPr>
        <p:txBody>
          <a:bodyPr wrap="square">
            <a:spAutoFit/>
          </a:bodyPr>
          <a:lstStyle/>
          <a:p>
            <a:r>
              <a:rPr lang="en-US" dirty="0"/>
              <a:t>https://biologywise.com/germline-mutation-vs-somatic-mutation</a:t>
            </a:r>
          </a:p>
        </p:txBody>
      </p:sp>
    </p:spTree>
    <p:extLst>
      <p:ext uri="{BB962C8B-B14F-4D97-AF65-F5344CB8AC3E}">
        <p14:creationId xmlns:p14="http://schemas.microsoft.com/office/powerpoint/2010/main" val="1607766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types of mutations</a:t>
            </a:r>
            <a:endParaRPr lang="en-US" dirty="0"/>
          </a:p>
        </p:txBody>
      </p:sp>
      <p:sp>
        <p:nvSpPr>
          <p:cNvPr id="4" name="Content Placeholder 2"/>
          <p:cNvSpPr>
            <a:spLocks noGrp="1"/>
          </p:cNvSpPr>
          <p:nvPr>
            <p:ph idx="1"/>
          </p:nvPr>
        </p:nvSpPr>
        <p:spPr>
          <a:xfrm>
            <a:off x="457200" y="1600200"/>
            <a:ext cx="8229600" cy="4876800"/>
          </a:xfrm>
        </p:spPr>
        <p:txBody>
          <a:bodyPr>
            <a:normAutofit fontScale="70000" lnSpcReduction="20000"/>
          </a:bodyPr>
          <a:lstStyle/>
          <a:p>
            <a:r>
              <a:rPr lang="en-US" dirty="0" smtClean="0"/>
              <a:t>SNVs</a:t>
            </a:r>
          </a:p>
          <a:p>
            <a:pPr lvl="1"/>
            <a:r>
              <a:rPr lang="en-US" dirty="0" smtClean="0"/>
              <a:t>Stands for single nucleotide variation</a:t>
            </a:r>
          </a:p>
          <a:p>
            <a:pPr lvl="1"/>
            <a:r>
              <a:rPr lang="en-US" dirty="0" smtClean="0"/>
              <a:t>1bp in length, single nucleotide substitution</a:t>
            </a:r>
          </a:p>
          <a:p>
            <a:r>
              <a:rPr lang="en-US" dirty="0" err="1" smtClean="0"/>
              <a:t>Indels</a:t>
            </a:r>
            <a:endParaRPr lang="en-US" dirty="0" smtClean="0"/>
          </a:p>
          <a:p>
            <a:pPr lvl="1"/>
            <a:r>
              <a:rPr lang="en-US" dirty="0" smtClean="0"/>
              <a:t>Stands for insertion/deletions</a:t>
            </a:r>
          </a:p>
          <a:p>
            <a:pPr lvl="1"/>
            <a:r>
              <a:rPr lang="en-US" dirty="0" smtClean="0"/>
              <a:t>Usually refer to short insertion/deletions; long insertion and deletions are often included in SVs.</a:t>
            </a:r>
          </a:p>
          <a:p>
            <a:r>
              <a:rPr lang="en-US" dirty="0" smtClean="0"/>
              <a:t>SVs</a:t>
            </a:r>
          </a:p>
          <a:p>
            <a:pPr lvl="1"/>
            <a:r>
              <a:rPr lang="en-US" dirty="0" smtClean="0"/>
              <a:t>Stands for structural variations</a:t>
            </a:r>
          </a:p>
          <a:p>
            <a:pPr lvl="1"/>
            <a:r>
              <a:rPr lang="en-US" dirty="0" smtClean="0"/>
              <a:t>Include insertions, deletions, inversions and translocations</a:t>
            </a:r>
          </a:p>
          <a:p>
            <a:r>
              <a:rPr lang="en-US" dirty="0" smtClean="0"/>
              <a:t>CNVs</a:t>
            </a:r>
          </a:p>
          <a:p>
            <a:pPr lvl="1"/>
            <a:r>
              <a:rPr lang="en-US" dirty="0" smtClean="0"/>
              <a:t>Stands for copy number variations</a:t>
            </a:r>
          </a:p>
          <a:p>
            <a:pPr lvl="1"/>
            <a:r>
              <a:rPr lang="en-US" dirty="0" smtClean="0"/>
              <a:t>Copy number gain or copy number loss; CNVs are associated with SV events (for example, deletion can cause copy number loss of the deleted region).</a:t>
            </a:r>
            <a:endParaRPr lang="en-US" dirty="0"/>
          </a:p>
        </p:txBody>
      </p:sp>
    </p:spTree>
    <p:extLst>
      <p:ext uri="{BB962C8B-B14F-4D97-AF65-F5344CB8AC3E}">
        <p14:creationId xmlns:p14="http://schemas.microsoft.com/office/powerpoint/2010/main" val="3117356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Schematic illustration of the different </a:t>
            </a:r>
            <a:r>
              <a:rPr lang="en-US" dirty="0"/>
              <a:t>types of mutations</a:t>
            </a:r>
          </a:p>
        </p:txBody>
      </p:sp>
      <p:pic>
        <p:nvPicPr>
          <p:cNvPr id="3074" name="Picture 2" descr="Image result for SNV inde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00200"/>
            <a:ext cx="6071321" cy="46863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096000" y="6286501"/>
            <a:ext cx="2895600" cy="369332"/>
          </a:xfrm>
          <a:prstGeom prst="rect">
            <a:avLst/>
          </a:prstGeom>
          <a:noFill/>
        </p:spPr>
        <p:txBody>
          <a:bodyPr wrap="square" rtlCol="0">
            <a:spAutoFit/>
          </a:bodyPr>
          <a:lstStyle/>
          <a:p>
            <a:r>
              <a:rPr lang="en-US" dirty="0" smtClean="0"/>
              <a:t>Johnsen et al. Blood, 2013</a:t>
            </a:r>
            <a:endParaRPr lang="en-US" dirty="0"/>
          </a:p>
        </p:txBody>
      </p:sp>
    </p:spTree>
    <p:extLst>
      <p:ext uri="{BB962C8B-B14F-4D97-AF65-F5344CB8AC3E}">
        <p14:creationId xmlns:p14="http://schemas.microsoft.com/office/powerpoint/2010/main" val="1966094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fontScale="90000"/>
          </a:bodyPr>
          <a:lstStyle/>
          <a:p>
            <a:r>
              <a:rPr lang="en-US" dirty="0"/>
              <a:t>Important international genomics </a:t>
            </a:r>
            <a:r>
              <a:rPr lang="en-US" dirty="0" smtClean="0"/>
              <a:t>projects</a:t>
            </a:r>
            <a:endParaRPr lang="en-US" dirty="0"/>
          </a:p>
        </p:txBody>
      </p:sp>
      <p:sp>
        <p:nvSpPr>
          <p:cNvPr id="3" name="Content Placeholder 2"/>
          <p:cNvSpPr>
            <a:spLocks noGrp="1"/>
          </p:cNvSpPr>
          <p:nvPr>
            <p:ph idx="1"/>
          </p:nvPr>
        </p:nvSpPr>
        <p:spPr/>
        <p:txBody>
          <a:bodyPr>
            <a:normAutofit fontScale="92500"/>
          </a:bodyPr>
          <a:lstStyle/>
          <a:p>
            <a:r>
              <a:rPr lang="en-US" dirty="0" smtClean="0"/>
              <a:t>Over the years, several important international genomics projects have really advanced our understanding of human genomes and other genomes. </a:t>
            </a:r>
          </a:p>
          <a:p>
            <a:r>
              <a:rPr lang="en-US" dirty="0" smtClean="0"/>
              <a:t>The important milestones for the understanding of human genomes are listed below:</a:t>
            </a:r>
          </a:p>
          <a:p>
            <a:pPr lvl="1"/>
            <a:r>
              <a:rPr lang="en-US" dirty="0" smtClean="0"/>
              <a:t>Human genome project</a:t>
            </a:r>
          </a:p>
          <a:p>
            <a:pPr lvl="1"/>
            <a:r>
              <a:rPr lang="en-US" dirty="0" smtClean="0"/>
              <a:t>1000Genome Project</a:t>
            </a:r>
          </a:p>
          <a:p>
            <a:pPr lvl="1"/>
            <a:r>
              <a:rPr lang="en-US" dirty="0" smtClean="0"/>
              <a:t>TCGA project </a:t>
            </a:r>
            <a:endParaRPr lang="en-US" dirty="0"/>
          </a:p>
        </p:txBody>
      </p:sp>
    </p:spTree>
    <p:extLst>
      <p:ext uri="{BB962C8B-B14F-4D97-AF65-F5344CB8AC3E}">
        <p14:creationId xmlns:p14="http://schemas.microsoft.com/office/powerpoint/2010/main" val="2906940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Human genome project (HGP)</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International Human Genome Sequencing Consortium published the first draft of the human genome in the journal Nature in February 2001 with the sequence of the entire genome’s three billion based pairs some percent complete.</a:t>
            </a:r>
          </a:p>
          <a:p>
            <a:endParaRPr lang="en-US" dirty="0" smtClean="0"/>
          </a:p>
          <a:p>
            <a:r>
              <a:rPr lang="en-US" dirty="0" smtClean="0"/>
              <a:t>The HGP has revealed that there are probably about 20,500 human genes. The completed human sequence can now identify their locations. The ultimate product of the HGP has given the world a resource of detailed information about the structure, organization and function of the complete set of human genes.</a:t>
            </a:r>
          </a:p>
          <a:p>
            <a:endParaRPr lang="en-US" dirty="0"/>
          </a:p>
        </p:txBody>
      </p:sp>
      <p:sp>
        <p:nvSpPr>
          <p:cNvPr id="4" name="Rectangle 3"/>
          <p:cNvSpPr/>
          <p:nvPr/>
        </p:nvSpPr>
        <p:spPr>
          <a:xfrm>
            <a:off x="15240" y="6396335"/>
            <a:ext cx="9144000" cy="369332"/>
          </a:xfrm>
          <a:prstGeom prst="rect">
            <a:avLst/>
          </a:prstGeom>
        </p:spPr>
        <p:txBody>
          <a:bodyPr wrap="square">
            <a:spAutoFit/>
          </a:bodyPr>
          <a:lstStyle/>
          <a:p>
            <a:r>
              <a:rPr lang="en-US" dirty="0"/>
              <a:t>https://www.genome.gov/12011238/an-overview-of-the-human-genome-project/</a:t>
            </a:r>
          </a:p>
        </p:txBody>
      </p:sp>
    </p:spTree>
    <p:extLst>
      <p:ext uri="{BB962C8B-B14F-4D97-AF65-F5344CB8AC3E}">
        <p14:creationId xmlns:p14="http://schemas.microsoft.com/office/powerpoint/2010/main" val="1450130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1000 Genomes project</a:t>
            </a:r>
            <a:endParaRPr lang="en-US" dirty="0"/>
          </a:p>
        </p:txBody>
      </p:sp>
      <p:sp>
        <p:nvSpPr>
          <p:cNvPr id="3" name="Content Placeholder 2"/>
          <p:cNvSpPr>
            <a:spLocks noGrp="1"/>
          </p:cNvSpPr>
          <p:nvPr>
            <p:ph idx="1"/>
          </p:nvPr>
        </p:nvSpPr>
        <p:spPr/>
        <p:txBody>
          <a:bodyPr>
            <a:normAutofit fontScale="92500"/>
          </a:bodyPr>
          <a:lstStyle/>
          <a:p>
            <a:r>
              <a:rPr lang="en-US" dirty="0"/>
              <a:t>The </a:t>
            </a:r>
            <a:r>
              <a:rPr lang="en-US" dirty="0">
                <a:hlinkClick r:id="rId2"/>
              </a:rPr>
              <a:t>1000 Genomes Project</a:t>
            </a:r>
            <a:r>
              <a:rPr lang="en-US" dirty="0"/>
              <a:t> ran between 2008 and 2015, creating the largest public catalogue of human variation and genotype data</a:t>
            </a:r>
            <a:r>
              <a:rPr lang="en-US" dirty="0" smtClean="0"/>
              <a:t>. </a:t>
            </a:r>
          </a:p>
          <a:p>
            <a:r>
              <a:rPr lang="en-US" dirty="0" smtClean="0"/>
              <a:t>The </a:t>
            </a:r>
            <a:r>
              <a:rPr lang="en-US" dirty="0"/>
              <a:t>goal of the 1000 Genomes Project was to find most genetic variants with frequencies of at least 1% in the populations studied</a:t>
            </a:r>
            <a:r>
              <a:rPr lang="en-US" dirty="0" smtClean="0"/>
              <a:t>.</a:t>
            </a:r>
          </a:p>
          <a:p>
            <a:r>
              <a:rPr lang="en-US" dirty="0" smtClean="0"/>
              <a:t>This project revealed the complexity of human genome and provided a global reference for human germline genetic variations.</a:t>
            </a:r>
            <a:endParaRPr lang="en-US" dirty="0"/>
          </a:p>
        </p:txBody>
      </p:sp>
      <p:sp>
        <p:nvSpPr>
          <p:cNvPr id="4" name="Rectangle 3"/>
          <p:cNvSpPr/>
          <p:nvPr/>
        </p:nvSpPr>
        <p:spPr>
          <a:xfrm>
            <a:off x="4556760" y="6324600"/>
            <a:ext cx="4347216" cy="369332"/>
          </a:xfrm>
          <a:prstGeom prst="rect">
            <a:avLst/>
          </a:prstGeom>
        </p:spPr>
        <p:txBody>
          <a:bodyPr wrap="none">
            <a:spAutoFit/>
          </a:bodyPr>
          <a:lstStyle/>
          <a:p>
            <a:r>
              <a:rPr lang="en-US" dirty="0"/>
              <a:t>http://www.internationalgenome.org/about</a:t>
            </a:r>
          </a:p>
        </p:txBody>
      </p:sp>
    </p:spTree>
    <p:extLst>
      <p:ext uri="{BB962C8B-B14F-4D97-AF65-F5344CB8AC3E}">
        <p14:creationId xmlns:p14="http://schemas.microsoft.com/office/powerpoint/2010/main" val="2720116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1000 Genomes project</a:t>
            </a:r>
          </a:p>
        </p:txBody>
      </p:sp>
      <p:sp>
        <p:nvSpPr>
          <p:cNvPr id="4" name="TextBox 3"/>
          <p:cNvSpPr txBox="1"/>
          <p:nvPr/>
        </p:nvSpPr>
        <p:spPr>
          <a:xfrm>
            <a:off x="3657600" y="6539746"/>
            <a:ext cx="5486400" cy="369332"/>
          </a:xfrm>
          <a:prstGeom prst="rect">
            <a:avLst/>
          </a:prstGeom>
          <a:noFill/>
        </p:spPr>
        <p:txBody>
          <a:bodyPr wrap="square" rtlCol="0">
            <a:spAutoFit/>
          </a:bodyPr>
          <a:lstStyle/>
          <a:p>
            <a:r>
              <a:rPr lang="en-US" dirty="0" smtClean="0"/>
              <a:t>The 1000 Genomes Project Consortium. Nature, 2015.</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6800"/>
            <a:ext cx="8871505" cy="3514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0" y="4815900"/>
            <a:ext cx="9296400" cy="1754326"/>
          </a:xfrm>
          <a:prstGeom prst="rect">
            <a:avLst/>
          </a:prstGeom>
        </p:spPr>
        <p:txBody>
          <a:bodyPr wrap="square">
            <a:spAutoFit/>
          </a:bodyPr>
          <a:lstStyle/>
          <a:p>
            <a:r>
              <a:rPr lang="en-US" dirty="0"/>
              <a:t>Polymorphic variants within sampled populations. </a:t>
            </a:r>
            <a:endParaRPr lang="en-US" dirty="0" smtClean="0"/>
          </a:p>
          <a:p>
            <a:r>
              <a:rPr lang="en-US" dirty="0" smtClean="0"/>
              <a:t>The </a:t>
            </a:r>
            <a:r>
              <a:rPr lang="en-US" dirty="0"/>
              <a:t>area of each pie is proportional to the number of polymorphisms within a population. Pies are divided into four slices, representing variants private to a population (darker </a:t>
            </a:r>
            <a:r>
              <a:rPr lang="en-US" dirty="0" err="1"/>
              <a:t>colour</a:t>
            </a:r>
            <a:r>
              <a:rPr lang="en-US" dirty="0"/>
              <a:t> unique to population), private to a continental area (lighter </a:t>
            </a:r>
            <a:r>
              <a:rPr lang="en-US" dirty="0" err="1"/>
              <a:t>colour</a:t>
            </a:r>
            <a:r>
              <a:rPr lang="en-US" dirty="0"/>
              <a:t> shared across continental group), shared across continental areas (light grey), and shared across all continents (dark grey). Dashed lines indicate populations sampled outside of their ancestral continental region</a:t>
            </a:r>
          </a:p>
        </p:txBody>
      </p:sp>
    </p:spTree>
    <p:extLst>
      <p:ext uri="{BB962C8B-B14F-4D97-AF65-F5344CB8AC3E}">
        <p14:creationId xmlns:p14="http://schemas.microsoft.com/office/powerpoint/2010/main" val="17701918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fontScale="90000"/>
          </a:bodyPr>
          <a:lstStyle/>
          <a:p>
            <a:r>
              <a:rPr lang="en-US" dirty="0" smtClean="0"/>
              <a:t>The Cancer Genome Atlas (TCGA) project</a:t>
            </a:r>
            <a:endParaRPr lang="en-US" dirty="0"/>
          </a:p>
        </p:txBody>
      </p:sp>
      <p:sp>
        <p:nvSpPr>
          <p:cNvPr id="3" name="Content Placeholder 2"/>
          <p:cNvSpPr>
            <a:spLocks noGrp="1"/>
          </p:cNvSpPr>
          <p:nvPr>
            <p:ph idx="1"/>
          </p:nvPr>
        </p:nvSpPr>
        <p:spPr>
          <a:xfrm>
            <a:off x="457200" y="1143000"/>
            <a:ext cx="8229600" cy="4525963"/>
          </a:xfrm>
        </p:spPr>
        <p:txBody>
          <a:bodyPr>
            <a:noAutofit/>
          </a:bodyPr>
          <a:lstStyle/>
          <a:p>
            <a:r>
              <a:rPr lang="en-US" sz="2000" dirty="0"/>
              <a:t>There are at least 200 forms of cancer, and many more subtypes. </a:t>
            </a:r>
            <a:r>
              <a:rPr lang="en-US" sz="2000" dirty="0"/>
              <a:t>Each of these is caused by errors in </a:t>
            </a:r>
            <a:r>
              <a:rPr lang="en-US" sz="2000" dirty="0" smtClean="0"/>
              <a:t>DNA that </a:t>
            </a:r>
            <a:r>
              <a:rPr lang="en-US" sz="2000" dirty="0"/>
              <a:t>cause cells to grow uncontrolled. Identifying the changes in each cancer’s complete set of DNA – its </a:t>
            </a:r>
            <a:r>
              <a:rPr lang="en-US" sz="2000" dirty="0" smtClean="0"/>
              <a:t>genome – </a:t>
            </a:r>
            <a:r>
              <a:rPr lang="en-US" sz="2000" dirty="0"/>
              <a:t>and understanding how such changes interact to drive the disease will lay the foundation for improving cancer prevention, early detection and </a:t>
            </a:r>
            <a:r>
              <a:rPr lang="en-US" sz="2000" dirty="0" err="1"/>
              <a:t>treatmen</a:t>
            </a:r>
            <a:endParaRPr lang="en-US" sz="2000" dirty="0"/>
          </a:p>
          <a:p>
            <a:endParaRPr lang="en-US" sz="2000" dirty="0"/>
          </a:p>
          <a:p>
            <a:r>
              <a:rPr lang="en-US" sz="2000" dirty="0"/>
              <a:t>TCGA, </a:t>
            </a:r>
            <a:r>
              <a:rPr lang="en-US" sz="2000" dirty="0"/>
              <a:t>a collaboration between the National Cancer Institute (NCI) and National Human Genome Research Institute (NHGRI), has generated comprehensive, multi-dimensional maps of the key genomic changes in 33 types of </a:t>
            </a:r>
            <a:r>
              <a:rPr lang="en-US" sz="2000" dirty="0" smtClean="0"/>
              <a:t>cancers. </a:t>
            </a:r>
            <a:r>
              <a:rPr lang="en-US" sz="2000" dirty="0"/>
              <a:t>The TCGA dataset, 2.5 petabytes of data describing tumor tissue and matched normal tissues from more than 11,000 patients, is publically </a:t>
            </a:r>
            <a:r>
              <a:rPr lang="en-US" sz="2000" dirty="0"/>
              <a:t>available.</a:t>
            </a:r>
          </a:p>
          <a:p>
            <a:endParaRPr lang="en-US" sz="2000" dirty="0"/>
          </a:p>
          <a:p>
            <a:r>
              <a:rPr lang="en-US" sz="2000" dirty="0"/>
              <a:t>This project provides a very comprehensive understanding of the somatic and </a:t>
            </a:r>
            <a:r>
              <a:rPr lang="en-US" sz="2000" dirty="0" smtClean="0"/>
              <a:t>germline mutations in human cancers.</a:t>
            </a:r>
            <a:endParaRPr lang="en-US" sz="2000" dirty="0"/>
          </a:p>
        </p:txBody>
      </p:sp>
      <p:sp>
        <p:nvSpPr>
          <p:cNvPr id="4" name="Rectangle 3"/>
          <p:cNvSpPr/>
          <p:nvPr/>
        </p:nvSpPr>
        <p:spPr>
          <a:xfrm>
            <a:off x="3611880" y="6559064"/>
            <a:ext cx="5562600" cy="369332"/>
          </a:xfrm>
          <a:prstGeom prst="rect">
            <a:avLst/>
          </a:prstGeom>
        </p:spPr>
        <p:txBody>
          <a:bodyPr wrap="square">
            <a:spAutoFit/>
          </a:bodyPr>
          <a:lstStyle/>
          <a:p>
            <a:r>
              <a:rPr lang="en-US" dirty="0"/>
              <a:t>https://cancergenome.nih.gov/abouttcga/overview</a:t>
            </a:r>
          </a:p>
        </p:txBody>
      </p:sp>
    </p:spTree>
    <p:extLst>
      <p:ext uri="{BB962C8B-B14F-4D97-AF65-F5344CB8AC3E}">
        <p14:creationId xmlns:p14="http://schemas.microsoft.com/office/powerpoint/2010/main" val="1314620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Somatic and germline driver genes for human cancers identified in TCGA</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86840"/>
            <a:ext cx="9191625" cy="461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715000" y="6343412"/>
            <a:ext cx="3276600" cy="369332"/>
          </a:xfrm>
          <a:prstGeom prst="rect">
            <a:avLst/>
          </a:prstGeom>
          <a:noFill/>
        </p:spPr>
        <p:txBody>
          <a:bodyPr wrap="square" rtlCol="0">
            <a:spAutoFit/>
          </a:bodyPr>
          <a:lstStyle/>
          <a:p>
            <a:r>
              <a:rPr lang="en-US" dirty="0" smtClean="0"/>
              <a:t>Ding et al. Cell, 2018</a:t>
            </a:r>
            <a:endParaRPr lang="en-US" dirty="0"/>
          </a:p>
        </p:txBody>
      </p:sp>
    </p:spTree>
    <p:extLst>
      <p:ext uri="{BB962C8B-B14F-4D97-AF65-F5344CB8AC3E}">
        <p14:creationId xmlns:p14="http://schemas.microsoft.com/office/powerpoint/2010/main" val="1367821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 views of SNVs and </a:t>
            </a:r>
            <a:r>
              <a:rPr lang="en-US" dirty="0" err="1" smtClean="0"/>
              <a:t>Indels</a:t>
            </a:r>
            <a:r>
              <a:rPr lang="en-US" dirty="0" smtClean="0"/>
              <a:t> using IGV </a:t>
            </a:r>
            <a:endParaRPr lang="en-US" dirty="0"/>
          </a:p>
        </p:txBody>
      </p:sp>
      <p:pic>
        <p:nvPicPr>
          <p:cNvPr id="7170" name="Picture 2" descr="Image result for SNV indel calling bam view IG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193017"/>
            <a:ext cx="2619375" cy="3295651"/>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Image result for indel calling bam view IGV"/>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Rectangle 4"/>
          <p:cNvSpPr/>
          <p:nvPr/>
        </p:nvSpPr>
        <p:spPr>
          <a:xfrm>
            <a:off x="170814" y="6488668"/>
            <a:ext cx="7632066" cy="369332"/>
          </a:xfrm>
          <a:prstGeom prst="rect">
            <a:avLst/>
          </a:prstGeom>
        </p:spPr>
        <p:txBody>
          <a:bodyPr wrap="square">
            <a:spAutoFit/>
          </a:bodyPr>
          <a:lstStyle/>
          <a:p>
            <a:r>
              <a:rPr lang="en-US" dirty="0"/>
              <a:t>http://software.broadinstitute.org/software/igv/book/export/html/6</a:t>
            </a:r>
          </a:p>
        </p:txBody>
      </p:sp>
      <p:pic>
        <p:nvPicPr>
          <p:cNvPr id="7174" name="Picture 6" descr="Image result for indel  IGV"/>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2410" y="2286000"/>
            <a:ext cx="5752070" cy="277117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990600" y="2692657"/>
            <a:ext cx="1458912" cy="369332"/>
          </a:xfrm>
          <a:prstGeom prst="rect">
            <a:avLst/>
          </a:prstGeom>
          <a:noFill/>
        </p:spPr>
        <p:txBody>
          <a:bodyPr wrap="square" rtlCol="0">
            <a:spAutoFit/>
          </a:bodyPr>
          <a:lstStyle/>
          <a:p>
            <a:r>
              <a:rPr lang="en-US" dirty="0" smtClean="0"/>
              <a:t>SNV:</a:t>
            </a:r>
            <a:endParaRPr lang="en-US" dirty="0"/>
          </a:p>
        </p:txBody>
      </p:sp>
      <p:sp>
        <p:nvSpPr>
          <p:cNvPr id="9" name="TextBox 8"/>
          <p:cNvSpPr txBox="1"/>
          <p:nvPr/>
        </p:nvSpPr>
        <p:spPr>
          <a:xfrm>
            <a:off x="4343400" y="1913631"/>
            <a:ext cx="1458912" cy="369332"/>
          </a:xfrm>
          <a:prstGeom prst="rect">
            <a:avLst/>
          </a:prstGeom>
          <a:noFill/>
        </p:spPr>
        <p:txBody>
          <a:bodyPr wrap="square" rtlCol="0">
            <a:spAutoFit/>
          </a:bodyPr>
          <a:lstStyle/>
          <a:p>
            <a:r>
              <a:rPr lang="en-US" dirty="0" err="1" smtClean="0"/>
              <a:t>Indel</a:t>
            </a:r>
            <a:r>
              <a:rPr lang="en-US" dirty="0" smtClean="0"/>
              <a:t>:</a:t>
            </a:r>
            <a:endParaRPr lang="en-US" dirty="0"/>
          </a:p>
        </p:txBody>
      </p:sp>
      <p:sp>
        <p:nvSpPr>
          <p:cNvPr id="7" name="Rectangle 6"/>
          <p:cNvSpPr/>
          <p:nvPr/>
        </p:nvSpPr>
        <p:spPr>
          <a:xfrm>
            <a:off x="4343400" y="5181600"/>
            <a:ext cx="4251100" cy="369332"/>
          </a:xfrm>
          <a:prstGeom prst="rect">
            <a:avLst/>
          </a:prstGeom>
        </p:spPr>
        <p:txBody>
          <a:bodyPr wrap="none">
            <a:spAutoFit/>
          </a:bodyPr>
          <a:lstStyle/>
          <a:p>
            <a:r>
              <a:rPr lang="en-US" dirty="0"/>
              <a:t>https://github.com/lh3/samtools/issues/17</a:t>
            </a:r>
          </a:p>
        </p:txBody>
      </p:sp>
    </p:spTree>
    <p:extLst>
      <p:ext uri="{BB962C8B-B14F-4D97-AF65-F5344CB8AC3E}">
        <p14:creationId xmlns:p14="http://schemas.microsoft.com/office/powerpoint/2010/main" val="1327279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Short variants </a:t>
            </a:r>
            <a:r>
              <a:rPr lang="en-US" dirty="0" smtClean="0"/>
              <a:t>discovery in NGS using GATK (</a:t>
            </a:r>
            <a:r>
              <a:rPr lang="en-US" b="1" dirty="0" smtClean="0"/>
              <a:t>G</a:t>
            </a:r>
            <a:r>
              <a:rPr lang="en-US" dirty="0" smtClean="0"/>
              <a:t>enome </a:t>
            </a:r>
            <a:r>
              <a:rPr lang="en-US" b="1" dirty="0" smtClean="0"/>
              <a:t>A</a:t>
            </a:r>
            <a:r>
              <a:rPr lang="en-US" dirty="0" smtClean="0"/>
              <a:t>nalysis </a:t>
            </a:r>
            <a:r>
              <a:rPr lang="en-US" b="1" dirty="0" smtClean="0"/>
              <a:t>T</a:t>
            </a:r>
            <a:r>
              <a:rPr lang="en-US" dirty="0" smtClean="0"/>
              <a:t>ool</a:t>
            </a:r>
            <a:r>
              <a:rPr lang="en-US" b="1" dirty="0" smtClean="0"/>
              <a:t>k</a:t>
            </a:r>
            <a:r>
              <a:rPr lang="en-US" dirty="0" smtClean="0"/>
              <a:t>it)</a:t>
            </a:r>
            <a:endParaRPr lang="en-US" dirty="0"/>
          </a:p>
        </p:txBody>
      </p:sp>
      <p:pic>
        <p:nvPicPr>
          <p:cNvPr id="1026" name="Picture 2" descr="Pipeline overvie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676400"/>
            <a:ext cx="9029700" cy="139693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800600" y="6248400"/>
            <a:ext cx="4062138" cy="369332"/>
          </a:xfrm>
          <a:prstGeom prst="rect">
            <a:avLst/>
          </a:prstGeom>
        </p:spPr>
        <p:txBody>
          <a:bodyPr wrap="none">
            <a:spAutoFit/>
          </a:bodyPr>
          <a:lstStyle/>
          <a:p>
            <a:r>
              <a:rPr lang="en-US" dirty="0"/>
              <a:t>https://software.broadinstitute.org/gatk/</a:t>
            </a:r>
          </a:p>
        </p:txBody>
      </p:sp>
      <p:sp>
        <p:nvSpPr>
          <p:cNvPr id="3" name="TextBox 2"/>
          <p:cNvSpPr txBox="1"/>
          <p:nvPr/>
        </p:nvSpPr>
        <p:spPr>
          <a:xfrm>
            <a:off x="940731" y="3073339"/>
            <a:ext cx="7719738" cy="369332"/>
          </a:xfrm>
          <a:prstGeom prst="rect">
            <a:avLst/>
          </a:prstGeom>
          <a:noFill/>
        </p:spPr>
        <p:txBody>
          <a:bodyPr wrap="square" rtlCol="0">
            <a:spAutoFit/>
          </a:bodyPr>
          <a:lstStyle/>
          <a:p>
            <a:r>
              <a:rPr lang="en-US" dirty="0" smtClean="0"/>
              <a:t>GATK is probably the most popular mutation calling tool for SNVs and </a:t>
            </a:r>
            <a:r>
              <a:rPr lang="en-US" dirty="0" err="1" smtClean="0"/>
              <a:t>Indels</a:t>
            </a:r>
            <a:r>
              <a:rPr lang="en-US" dirty="0" smtClean="0"/>
              <a:t> </a:t>
            </a:r>
            <a:endParaRPr 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731" y="3569916"/>
            <a:ext cx="2386978" cy="28354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Left Arrow 6"/>
          <p:cNvSpPr/>
          <p:nvPr/>
        </p:nvSpPr>
        <p:spPr>
          <a:xfrm>
            <a:off x="3505200" y="4343400"/>
            <a:ext cx="762000" cy="64423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029200" y="4038600"/>
            <a:ext cx="24384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There are many documentations about the capabilities of GATK from Broad Institute’s website.</a:t>
            </a:r>
            <a:endParaRPr lang="en-US" dirty="0"/>
          </a:p>
        </p:txBody>
      </p:sp>
    </p:spTree>
    <p:extLst>
      <p:ext uri="{BB962C8B-B14F-4D97-AF65-F5344CB8AC3E}">
        <p14:creationId xmlns:p14="http://schemas.microsoft.com/office/powerpoint/2010/main" val="27872844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Germline short variant discovery (SNVs + </a:t>
            </a:r>
            <a:r>
              <a:rPr lang="en-US" dirty="0" err="1" smtClean="0"/>
              <a:t>Indels</a:t>
            </a:r>
            <a:r>
              <a:rPr lang="en-US" dirty="0" smtClean="0"/>
              <a:t>) using GATK </a:t>
            </a:r>
            <a:endParaRPr lang="en-US" dirty="0"/>
          </a:p>
        </p:txBody>
      </p:sp>
      <p:pic>
        <p:nvPicPr>
          <p:cNvPr id="4098" name="Picture 2" descr="https://us.v-cdn.net/5019796/uploads/editor/mz/tzm69d8e2sp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1676400"/>
            <a:ext cx="8877300" cy="40811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447800" y="6248400"/>
            <a:ext cx="7543800" cy="369332"/>
          </a:xfrm>
          <a:prstGeom prst="rect">
            <a:avLst/>
          </a:prstGeom>
        </p:spPr>
        <p:txBody>
          <a:bodyPr wrap="square">
            <a:spAutoFit/>
          </a:bodyPr>
          <a:lstStyle/>
          <a:p>
            <a:r>
              <a:rPr lang="en-US" dirty="0"/>
              <a:t>https://software.broadinstitute.org/gatk/best-practices/workflow?id=11145</a:t>
            </a:r>
          </a:p>
        </p:txBody>
      </p:sp>
    </p:spTree>
    <p:extLst>
      <p:ext uri="{BB962C8B-B14F-4D97-AF65-F5344CB8AC3E}">
        <p14:creationId xmlns:p14="http://schemas.microsoft.com/office/powerpoint/2010/main" val="1939054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Somatic </a:t>
            </a:r>
            <a:r>
              <a:rPr lang="en-US" dirty="0"/>
              <a:t>short variant discovery (SNVs + </a:t>
            </a:r>
            <a:r>
              <a:rPr lang="en-US" dirty="0" err="1"/>
              <a:t>Indels</a:t>
            </a:r>
            <a:r>
              <a:rPr lang="en-US" dirty="0"/>
              <a:t>) using GATK </a:t>
            </a:r>
            <a:endParaRPr lang="en-US" dirty="0"/>
          </a:p>
        </p:txBody>
      </p:sp>
      <p:pic>
        <p:nvPicPr>
          <p:cNvPr id="3074" name="Picture 2" descr="https://us.v-cdn.net/5019796/uploads/editor/nk/6t0uqznajjm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1676400"/>
            <a:ext cx="8486086" cy="399103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61288" y="6280666"/>
            <a:ext cx="8305799" cy="369332"/>
          </a:xfrm>
          <a:prstGeom prst="rect">
            <a:avLst/>
          </a:prstGeom>
        </p:spPr>
        <p:txBody>
          <a:bodyPr wrap="square">
            <a:spAutoFit/>
          </a:bodyPr>
          <a:lstStyle/>
          <a:p>
            <a:r>
              <a:rPr lang="en-US" dirty="0"/>
              <a:t>https://software.broadinstitute.org/gatk/best-practices/workflow?id=11146</a:t>
            </a:r>
          </a:p>
        </p:txBody>
      </p:sp>
      <p:sp>
        <p:nvSpPr>
          <p:cNvPr id="3" name="TextBox 2"/>
          <p:cNvSpPr txBox="1"/>
          <p:nvPr/>
        </p:nvSpPr>
        <p:spPr>
          <a:xfrm>
            <a:off x="3886200" y="5082061"/>
            <a:ext cx="2133600" cy="646331"/>
          </a:xfrm>
          <a:prstGeom prst="rect">
            <a:avLst/>
          </a:prstGeom>
          <a:noFill/>
        </p:spPr>
        <p:txBody>
          <a:bodyPr wrap="square" rtlCol="0">
            <a:spAutoFit/>
          </a:bodyPr>
          <a:lstStyle/>
          <a:p>
            <a:r>
              <a:rPr lang="en-US" b="1" dirty="0" smtClean="0"/>
              <a:t>T</a:t>
            </a:r>
            <a:r>
              <a:rPr lang="en-US" dirty="0" smtClean="0"/>
              <a:t>: tumor tissue</a:t>
            </a:r>
            <a:endParaRPr lang="en-US" b="1" dirty="0" smtClean="0"/>
          </a:p>
          <a:p>
            <a:r>
              <a:rPr lang="en-US" b="1" dirty="0" smtClean="0"/>
              <a:t>N</a:t>
            </a:r>
            <a:r>
              <a:rPr lang="en-US" dirty="0" smtClean="0"/>
              <a:t>: normal tissue</a:t>
            </a:r>
            <a:endParaRPr lang="en-US" dirty="0"/>
          </a:p>
        </p:txBody>
      </p:sp>
    </p:spTree>
    <p:extLst>
      <p:ext uri="{BB962C8B-B14F-4D97-AF65-F5344CB8AC3E}">
        <p14:creationId xmlns:p14="http://schemas.microsoft.com/office/powerpoint/2010/main" val="2751151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Other commonly used tools for SNVs and </a:t>
            </a:r>
            <a:r>
              <a:rPr lang="en-US" dirty="0" err="1" smtClean="0"/>
              <a:t>Indels</a:t>
            </a:r>
            <a:r>
              <a:rPr lang="en-US" dirty="0" smtClean="0"/>
              <a:t> calling</a:t>
            </a:r>
            <a:endParaRPr lang="en-US" dirty="0"/>
          </a:p>
        </p:txBody>
      </p:sp>
      <p:sp>
        <p:nvSpPr>
          <p:cNvPr id="3" name="Content Placeholder 2"/>
          <p:cNvSpPr>
            <a:spLocks noGrp="1"/>
          </p:cNvSpPr>
          <p:nvPr>
            <p:ph idx="1"/>
          </p:nvPr>
        </p:nvSpPr>
        <p:spPr/>
        <p:txBody>
          <a:bodyPr>
            <a:normAutofit lnSpcReduction="10000"/>
          </a:bodyPr>
          <a:lstStyle/>
          <a:p>
            <a:r>
              <a:rPr lang="en-US" dirty="0" smtClean="0"/>
              <a:t>There are many tools for SNVs and </a:t>
            </a:r>
            <a:r>
              <a:rPr lang="en-US" dirty="0" err="1" smtClean="0"/>
              <a:t>Indels</a:t>
            </a:r>
            <a:r>
              <a:rPr lang="en-US" dirty="0" smtClean="0"/>
              <a:t> calling. </a:t>
            </a:r>
          </a:p>
          <a:p>
            <a:r>
              <a:rPr lang="en-US" dirty="0" smtClean="0"/>
              <a:t>Besides </a:t>
            </a:r>
            <a:r>
              <a:rPr lang="en-US" dirty="0" err="1" smtClean="0"/>
              <a:t>MuTect</a:t>
            </a:r>
            <a:r>
              <a:rPr lang="en-US" dirty="0" smtClean="0"/>
              <a:t>/MuTect2(the GATK mutation caller),  here are a few that are also commonly used:</a:t>
            </a:r>
          </a:p>
          <a:p>
            <a:pPr lvl="1"/>
            <a:r>
              <a:rPr lang="en-US" dirty="0" err="1" smtClean="0"/>
              <a:t>Samtools</a:t>
            </a:r>
            <a:endParaRPr lang="en-US" dirty="0" smtClean="0"/>
          </a:p>
          <a:p>
            <a:pPr lvl="1"/>
            <a:r>
              <a:rPr lang="en-US" dirty="0" err="1" smtClean="0"/>
              <a:t>VarDict</a:t>
            </a:r>
            <a:endParaRPr lang="en-US" dirty="0" smtClean="0"/>
          </a:p>
          <a:p>
            <a:pPr lvl="1"/>
            <a:r>
              <a:rPr lang="en-US" dirty="0" err="1" smtClean="0"/>
              <a:t>FreeBayes</a:t>
            </a:r>
            <a:endParaRPr lang="en-US" dirty="0" smtClean="0"/>
          </a:p>
          <a:p>
            <a:pPr lvl="1"/>
            <a:r>
              <a:rPr lang="en-US" dirty="0" err="1" smtClean="0"/>
              <a:t>LoFreq</a:t>
            </a:r>
            <a:endParaRPr lang="en-US" dirty="0"/>
          </a:p>
        </p:txBody>
      </p:sp>
    </p:spTree>
    <p:extLst>
      <p:ext uri="{BB962C8B-B14F-4D97-AF65-F5344CB8AC3E}">
        <p14:creationId xmlns:p14="http://schemas.microsoft.com/office/powerpoint/2010/main" val="361981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SVs</a:t>
            </a:r>
            <a:endParaRPr lang="en-US" dirty="0"/>
          </a:p>
        </p:txBody>
      </p:sp>
      <p:sp>
        <p:nvSpPr>
          <p:cNvPr id="3" name="Content Placeholder 2"/>
          <p:cNvSpPr>
            <a:spLocks noGrp="1"/>
          </p:cNvSpPr>
          <p:nvPr>
            <p:ph idx="1"/>
          </p:nvPr>
        </p:nvSpPr>
        <p:spPr/>
        <p:txBody>
          <a:bodyPr/>
          <a:lstStyle/>
          <a:p>
            <a:endParaRPr lang="en-US"/>
          </a:p>
        </p:txBody>
      </p:sp>
      <p:sp>
        <p:nvSpPr>
          <p:cNvPr id="4" name="TextBox 3"/>
          <p:cNvSpPr txBox="1"/>
          <p:nvPr/>
        </p:nvSpPr>
        <p:spPr>
          <a:xfrm>
            <a:off x="3124200" y="6248400"/>
            <a:ext cx="5334000" cy="369332"/>
          </a:xfrm>
          <a:prstGeom prst="rect">
            <a:avLst/>
          </a:prstGeom>
          <a:noFill/>
        </p:spPr>
        <p:txBody>
          <a:bodyPr wrap="square" rtlCol="0">
            <a:spAutoFit/>
          </a:bodyPr>
          <a:lstStyle/>
          <a:p>
            <a:r>
              <a:rPr lang="en-US" dirty="0" err="1" smtClean="0"/>
              <a:t>Escaramis</a:t>
            </a:r>
            <a:r>
              <a:rPr lang="en-US" dirty="0" smtClean="0"/>
              <a:t> et al. Briefings in Functional Genomics, 2015</a:t>
            </a:r>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19200"/>
            <a:ext cx="6462712" cy="47911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5106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SVs calling methods</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3124200" y="6248400"/>
            <a:ext cx="5334000" cy="369332"/>
          </a:xfrm>
          <a:prstGeom prst="rect">
            <a:avLst/>
          </a:prstGeom>
          <a:noFill/>
        </p:spPr>
        <p:txBody>
          <a:bodyPr wrap="square" rtlCol="0">
            <a:spAutoFit/>
          </a:bodyPr>
          <a:lstStyle/>
          <a:p>
            <a:r>
              <a:rPr lang="en-US" dirty="0" err="1" smtClean="0"/>
              <a:t>Escaramis</a:t>
            </a:r>
            <a:r>
              <a:rPr lang="en-US" dirty="0" smtClean="0"/>
              <a:t> et al. Briefings in Functional Genomics, 2015</a:t>
            </a:r>
            <a:endParaRPr lang="en-US"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700837" cy="4646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341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en-US" dirty="0"/>
          </a:p>
        </p:txBody>
      </p:sp>
      <p:sp>
        <p:nvSpPr>
          <p:cNvPr id="3" name="Content Placeholder 2"/>
          <p:cNvSpPr>
            <a:spLocks noGrp="1"/>
          </p:cNvSpPr>
          <p:nvPr>
            <p:ph idx="1"/>
          </p:nvPr>
        </p:nvSpPr>
        <p:spPr/>
        <p:txBody>
          <a:bodyPr>
            <a:normAutofit fontScale="62500" lnSpcReduction="20000"/>
          </a:bodyPr>
          <a:lstStyle/>
          <a:p>
            <a:r>
              <a:rPr lang="en-US" dirty="0"/>
              <a:t>The pdf article entitled “Massively parallel sequencing: the new frontier of hematologic genomics” has good explanations of  different mutations.</a:t>
            </a:r>
          </a:p>
          <a:p>
            <a:pPr marL="0" indent="0">
              <a:buNone/>
            </a:pPr>
            <a:endParaRPr lang="en-US" dirty="0" smtClean="0"/>
          </a:p>
          <a:p>
            <a:r>
              <a:rPr lang="en-US" dirty="0" smtClean="0"/>
              <a:t>The </a:t>
            </a:r>
            <a:r>
              <a:rPr lang="en-US" dirty="0"/>
              <a:t>pdf article entitled “A global reference for human</a:t>
            </a:r>
            <a:r>
              <a:rPr lang="en-US" dirty="0" smtClean="0"/>
              <a:t>” is the publication by the 1000 genomes project, summarizing the germline variation of the human genomes across the globe.</a:t>
            </a:r>
            <a:endParaRPr lang="en-US" dirty="0"/>
          </a:p>
          <a:p>
            <a:endParaRPr lang="en-US" dirty="0" smtClean="0"/>
          </a:p>
          <a:p>
            <a:r>
              <a:rPr lang="en-US" dirty="0" smtClean="0"/>
              <a:t>The </a:t>
            </a:r>
            <a:r>
              <a:rPr lang="en-US" dirty="0"/>
              <a:t>pdf article entitled “Perspective on Oncogenic Processes</a:t>
            </a:r>
            <a:r>
              <a:rPr lang="en-US" dirty="0" smtClean="0"/>
              <a:t>” includes many of the insights obtained from the TCGA project on human cancers.</a:t>
            </a:r>
          </a:p>
          <a:p>
            <a:endParaRPr lang="en-US" dirty="0"/>
          </a:p>
          <a:p>
            <a:r>
              <a:rPr lang="en-US" dirty="0"/>
              <a:t>The pdf article entitled “A review of somatic single nucleotide variant calling algorithms for next-generation sequencing data” provides a good summary of the variant calling process and available methods.</a:t>
            </a:r>
          </a:p>
          <a:p>
            <a:endParaRPr lang="en-US" dirty="0" smtClean="0"/>
          </a:p>
          <a:p>
            <a:r>
              <a:rPr lang="en-US" dirty="0" smtClean="0"/>
              <a:t>The </a:t>
            </a:r>
            <a:r>
              <a:rPr lang="en-US" dirty="0"/>
              <a:t>pdf article entitled </a:t>
            </a:r>
            <a:r>
              <a:rPr lang="en-US" dirty="0" smtClean="0"/>
              <a:t>“A decade of structural variants” </a:t>
            </a:r>
            <a:r>
              <a:rPr lang="en-US" dirty="0"/>
              <a:t>provides a good summary of the </a:t>
            </a:r>
            <a:r>
              <a:rPr lang="en-US" dirty="0" smtClean="0"/>
              <a:t>SVs calling </a:t>
            </a:r>
            <a:r>
              <a:rPr lang="en-US" dirty="0"/>
              <a:t>methods.</a:t>
            </a:r>
          </a:p>
          <a:p>
            <a:endParaRPr lang="en-US" dirty="0"/>
          </a:p>
          <a:p>
            <a:endParaRPr lang="en-US" dirty="0" smtClean="0"/>
          </a:p>
          <a:p>
            <a:endParaRPr lang="en-US" dirty="0"/>
          </a:p>
        </p:txBody>
      </p:sp>
    </p:spTree>
    <p:extLst>
      <p:ext uri="{BB962C8B-B14F-4D97-AF65-F5344CB8AC3E}">
        <p14:creationId xmlns:p14="http://schemas.microsoft.com/office/powerpoint/2010/main" val="3065793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77500" lnSpcReduction="20000"/>
          </a:bodyPr>
          <a:lstStyle/>
          <a:p>
            <a:r>
              <a:rPr lang="en-US" dirty="0"/>
              <a:t>It is essential to understand the </a:t>
            </a:r>
            <a:r>
              <a:rPr lang="en-US" dirty="0" smtClean="0"/>
              <a:t>differences between somatic and germline mutations as well as the many different types of mutations including SNVs, </a:t>
            </a:r>
            <a:r>
              <a:rPr lang="en-US" dirty="0" err="1" smtClean="0"/>
              <a:t>Indels</a:t>
            </a:r>
            <a:r>
              <a:rPr lang="en-US" dirty="0" smtClean="0"/>
              <a:t>, CNVs and SVs.</a:t>
            </a:r>
          </a:p>
          <a:p>
            <a:endParaRPr lang="en-US" dirty="0"/>
          </a:p>
          <a:p>
            <a:r>
              <a:rPr lang="en-US" dirty="0" smtClean="0"/>
              <a:t>There are several public genome sequencing projects that really helped to advance our understanding of genomes, genes, germline variations and somatic mutations in human cancers.</a:t>
            </a:r>
          </a:p>
          <a:p>
            <a:endParaRPr lang="en-US" dirty="0"/>
          </a:p>
          <a:p>
            <a:r>
              <a:rPr lang="en-US" dirty="0" smtClean="0"/>
              <a:t>In DNA-</a:t>
            </a:r>
            <a:r>
              <a:rPr lang="en-US" dirty="0" err="1" smtClean="0"/>
              <a:t>Seq</a:t>
            </a:r>
            <a:r>
              <a:rPr lang="en-US" dirty="0" smtClean="0"/>
              <a:t> analysis, the most routine analysis is mutation calling for SNVs and </a:t>
            </a:r>
            <a:r>
              <a:rPr lang="en-US" dirty="0" err="1" smtClean="0"/>
              <a:t>Indels</a:t>
            </a:r>
            <a:r>
              <a:rPr lang="en-US" dirty="0" smtClean="0"/>
              <a:t>. Analysis of CNVs and SVs are also often needed.</a:t>
            </a:r>
            <a:endParaRPr lang="en-US" dirty="0"/>
          </a:p>
        </p:txBody>
      </p:sp>
    </p:spTree>
    <p:extLst>
      <p:ext uri="{BB962C8B-B14F-4D97-AF65-F5344CB8AC3E}">
        <p14:creationId xmlns:p14="http://schemas.microsoft.com/office/powerpoint/2010/main" val="1718406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1146</Words>
  <Application>Microsoft Office PowerPoint</Application>
  <PresentationFormat>On-screen Show (4:3)</PresentationFormat>
  <Paragraphs>116</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Biological Sequence Analysis</vt:lpstr>
      <vt:lpstr>Outline</vt:lpstr>
      <vt:lpstr>Somatic vs germline mutations</vt:lpstr>
      <vt:lpstr>Somatic vs germline mutations</vt:lpstr>
      <vt:lpstr>Somatic vs germline mutations</vt:lpstr>
      <vt:lpstr>Different types of mutations</vt:lpstr>
      <vt:lpstr>Schematic illustration of the different types of mutations</vt:lpstr>
      <vt:lpstr>Important international genomics projects</vt:lpstr>
      <vt:lpstr>Human genome project (HGP)</vt:lpstr>
      <vt:lpstr>1000 Genomes project</vt:lpstr>
      <vt:lpstr>1000 Genomes project</vt:lpstr>
      <vt:lpstr>The Cancer Genome Atlas (TCGA) project</vt:lpstr>
      <vt:lpstr>Somatic and germline driver genes for human cancers identified in TCGA</vt:lpstr>
      <vt:lpstr>Example views of SNVs and Indels using IGV </vt:lpstr>
      <vt:lpstr>Short variants discovery in NGS using GATK (Genome Analysis Toolkit)</vt:lpstr>
      <vt:lpstr>Germline short variant discovery (SNVs + Indels) using GATK </vt:lpstr>
      <vt:lpstr>Somatic short variant discovery (SNVs + Indels) using GATK </vt:lpstr>
      <vt:lpstr>Other commonly used tools for SNVs and Indels calling</vt:lpstr>
      <vt:lpstr>Types of SVs</vt:lpstr>
      <vt:lpstr>SVs calling methods</vt:lpstr>
      <vt:lpstr>Resources</vt:lpstr>
      <vt:lpstr>Summary</vt:lpstr>
    </vt:vector>
  </TitlesOfParts>
  <Company>Eisai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Sequence Analysis</dc:title>
  <dc:creator>Windows User</dc:creator>
  <cp:lastModifiedBy>Windows User</cp:lastModifiedBy>
  <cp:revision>27</cp:revision>
  <dcterms:created xsi:type="dcterms:W3CDTF">2018-11-18T01:14:54Z</dcterms:created>
  <dcterms:modified xsi:type="dcterms:W3CDTF">2018-11-28T03:55:25Z</dcterms:modified>
</cp:coreProperties>
</file>